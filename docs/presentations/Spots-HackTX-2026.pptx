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fc5ab5f7d374408" /><Relationship Type="http://schemas.openxmlformats.org/officeDocument/2006/relationships/extended-properties" Target="/docProps/app.xml" Id="R33a4688c7865404b" /><Relationship Type="http://schemas.openxmlformats.org/officeDocument/2006/relationships/officeDocument" Target="/ppt/presentation.xml" Id="Ree2c6e137eb44c2d" /></Relationships>
</file>

<file path=ppt/presentation.xml><?xml version="1.0" encoding="utf-8"?>
<p:presentation xmlns:p="http://schemas.openxmlformats.org/presentationml/2006/main">
  <p:sldMasterIdLst>
    <p:sldMasterId xmlns:r="http://schemas.openxmlformats.org/officeDocument/2006/relationships" id="2147483648" r:id="Rf113938b687e45c3"/>
  </p:sldMasterIdLst>
  <p:notesMasterIdLst>
    <p:notesMasterId xmlns:r="http://schemas.openxmlformats.org/officeDocument/2006/relationships" r:id="R3e96be9e807b48e3"/>
  </p:notesMasterIdLst>
  <p:sldIdLst>
    <p:sldId xmlns:r="http://schemas.openxmlformats.org/officeDocument/2006/relationships" id="256" r:id="R278e085cdd284241"/>
    <p:sldId xmlns:r="http://schemas.openxmlformats.org/officeDocument/2006/relationships" id="257" r:id="R4fe3262ef5db40a0"/>
    <p:sldId xmlns:r="http://schemas.openxmlformats.org/officeDocument/2006/relationships" id="258" r:id="Rde838a931495482a"/>
    <p:sldId xmlns:r="http://schemas.openxmlformats.org/officeDocument/2006/relationships" id="259" r:id="R95768fdf1e5b410d"/>
    <p:sldId xmlns:r="http://schemas.openxmlformats.org/officeDocument/2006/relationships" id="260" r:id="Rdd829869a1de4b63"/>
    <p:sldId xmlns:r="http://schemas.openxmlformats.org/officeDocument/2006/relationships" id="261" r:id="Rade775da56814ede"/>
    <p:sldId xmlns:r="http://schemas.openxmlformats.org/officeDocument/2006/relationships" id="262" r:id="Rc1e5b89b96af475a"/>
    <p:sldId xmlns:r="http://schemas.openxmlformats.org/officeDocument/2006/relationships" id="263" r:id="R0fbfd3b92edb4755"/>
    <p:sldId xmlns:r="http://schemas.openxmlformats.org/officeDocument/2006/relationships" id="264" r:id="R08d68e10b8b343e5"/>
    <p:sldId xmlns:r="http://schemas.openxmlformats.org/officeDocument/2006/relationships" id="265" r:id="Rcd1fb924b4974237"/>
    <p:sldId xmlns:r="http://schemas.openxmlformats.org/officeDocument/2006/relationships" id="266" r:id="R5d9dda15fc6b41b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0c9687a97644ef5" /><Relationship Type="http://schemas.openxmlformats.org/officeDocument/2006/relationships/slideMaster" Target="/ppt/slideMasters/slideMaster1.xml" Id="Rf113938b687e45c3" /><Relationship Type="http://schemas.openxmlformats.org/officeDocument/2006/relationships/notesMaster" Target="/ppt/notesMasters/notesMaster1.xml" Id="R3e96be9e807b48e3" /><Relationship Type="http://schemas.openxmlformats.org/officeDocument/2006/relationships/presProps" Target="/ppt/presProps.xml" Id="R90f76d289d36440e" /><Relationship Type="http://schemas.openxmlformats.org/officeDocument/2006/relationships/tableStyles" Target="/ppt/tableStyles.xml" Id="Rb8fb95528b954141" /><Relationship Type="http://schemas.openxmlformats.org/officeDocument/2006/relationships/slide" Target="/ppt/slides/slide1.xml" Id="R278e085cdd284241" /><Relationship Type="http://schemas.openxmlformats.org/officeDocument/2006/relationships/slide" Target="/ppt/slides/slide2.xml" Id="R4fe3262ef5db40a0" /><Relationship Type="http://schemas.openxmlformats.org/officeDocument/2006/relationships/slide" Target="/ppt/slides/slide3.xml" Id="Rde838a931495482a" /><Relationship Type="http://schemas.openxmlformats.org/officeDocument/2006/relationships/slide" Target="/ppt/slides/slide4.xml" Id="R95768fdf1e5b410d" /><Relationship Type="http://schemas.openxmlformats.org/officeDocument/2006/relationships/slide" Target="/ppt/slides/slide5.xml" Id="Rdd829869a1de4b63" /><Relationship Type="http://schemas.openxmlformats.org/officeDocument/2006/relationships/slide" Target="/ppt/slides/slide6.xml" Id="Rade775da56814ede" /><Relationship Type="http://schemas.openxmlformats.org/officeDocument/2006/relationships/slide" Target="/ppt/slides/slide7.xml" Id="Rc1e5b89b96af475a" /><Relationship Type="http://schemas.openxmlformats.org/officeDocument/2006/relationships/slide" Target="/ppt/slides/slide8.xml" Id="R0fbfd3b92edb4755" /><Relationship Type="http://schemas.openxmlformats.org/officeDocument/2006/relationships/slide" Target="/ppt/slides/slide9.xml" Id="R08d68e10b8b343e5" /><Relationship Type="http://schemas.openxmlformats.org/officeDocument/2006/relationships/slide" Target="/ppt/slides/slide10.xml" Id="Rcd1fb924b4974237" /><Relationship Type="http://schemas.openxmlformats.org/officeDocument/2006/relationships/slide" Target="/ppt/slides/slide11.xml" Id="R5d9dda15fc6b41b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c12d6c30c654e3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Optimistic VF"/>
        <a:ea typeface=""/>
        <a:cs typeface=""/>
      </a:majorFont>
      <a:minorFont>
        <a:latin typeface="Optimistic VF"/>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dbe017d34c94060" /><Relationship Type="http://schemas.openxmlformats.org/officeDocument/2006/relationships/notesMaster" Target="/ppt/notesMasters/notesMaster1.xml" Id="Rafc323e07ee140d0" /></Relationships>
</file>

<file path=ppt/notesSlides/_rels/notesSlide2.xml.rels>&#65279;<?xml version="1.0" encoding="utf-8"?><Relationships xmlns="http://schemas.openxmlformats.org/package/2006/relationships"><Relationship Type="http://schemas.openxmlformats.org/officeDocument/2006/relationships/slide" Target="/ppt/slides/slide2.xml" Id="R0024c0bc6afe41bd" /><Relationship Type="http://schemas.openxmlformats.org/officeDocument/2006/relationships/notesMaster" Target="/ppt/notesMasters/notesMaster1.xml" Id="R9459717ce60644ed" /></Relationships>
</file>

<file path=ppt/notesSlides/_rels/notesSlide3.xml.rels>&#65279;<?xml version="1.0" encoding="utf-8"?><Relationships xmlns="http://schemas.openxmlformats.org/package/2006/relationships"><Relationship Type="http://schemas.openxmlformats.org/officeDocument/2006/relationships/slide" Target="/ppt/slides/slide3.xml" Id="Rf63456f2646e43ad" /><Relationship Type="http://schemas.openxmlformats.org/officeDocument/2006/relationships/notesMaster" Target="/ppt/notesMasters/notesMaster1.xml" Id="R9a28433fc360419e" /></Relationships>
</file>

<file path=ppt/notesSlides/_rels/notesSlide4.xml.rels>&#65279;<?xml version="1.0" encoding="utf-8"?><Relationships xmlns="http://schemas.openxmlformats.org/package/2006/relationships"><Relationship Type="http://schemas.openxmlformats.org/officeDocument/2006/relationships/slide" Target="/ppt/slides/slide4.xml" Id="R8eeebc451c55460d" /><Relationship Type="http://schemas.openxmlformats.org/officeDocument/2006/relationships/notesMaster" Target="/ppt/notesMasters/notesMaster1.xml" Id="R5fa2f851d93a40eb" /></Relationships>
</file>

<file path=ppt/notesSlides/_rels/notesSlide5.xml.rels>&#65279;<?xml version="1.0" encoding="utf-8"?><Relationships xmlns="http://schemas.openxmlformats.org/package/2006/relationships"><Relationship Type="http://schemas.openxmlformats.org/officeDocument/2006/relationships/slide" Target="/ppt/slides/slide5.xml" Id="R917ec2a9b9fc4383" /><Relationship Type="http://schemas.openxmlformats.org/officeDocument/2006/relationships/notesMaster" Target="/ppt/notesMasters/notesMaster1.xml" Id="R6333ea45e7584157" /></Relationships>
</file>

<file path=ppt/notesSlides/_rels/notesSlide6.xml.rels>&#65279;<?xml version="1.0" encoding="utf-8"?><Relationships xmlns="http://schemas.openxmlformats.org/package/2006/relationships"><Relationship Type="http://schemas.openxmlformats.org/officeDocument/2006/relationships/slide" Target="/ppt/slides/slide6.xml" Id="R8467d123963a4b0b" /><Relationship Type="http://schemas.openxmlformats.org/officeDocument/2006/relationships/notesMaster" Target="/ppt/notesMasters/notesMaster1.xml" Id="R8d09321d83864f1d" /></Relationships>
</file>

<file path=ppt/notesSlides/_rels/notesSlide7.xml.rels>&#65279;<?xml version="1.0" encoding="utf-8"?><Relationships xmlns="http://schemas.openxmlformats.org/package/2006/relationships"><Relationship Type="http://schemas.openxmlformats.org/officeDocument/2006/relationships/slide" Target="/ppt/slides/slide7.xml" Id="Rbe2228c54e214c63" /><Relationship Type="http://schemas.openxmlformats.org/officeDocument/2006/relationships/notesMaster" Target="/ppt/notesMasters/notesMaster1.xml" Id="Rd4d97484b5834510" /></Relationships>
</file>

<file path=ppt/notesSlides/_rels/notesSlide8.xml.rels>&#65279;<?xml version="1.0" encoding="utf-8"?><Relationships xmlns="http://schemas.openxmlformats.org/package/2006/relationships"><Relationship Type="http://schemas.openxmlformats.org/officeDocument/2006/relationships/slide" Target="/ppt/slides/slide8.xml" Id="Re5970a788d4b48f2" /><Relationship Type="http://schemas.openxmlformats.org/officeDocument/2006/relationships/notesMaster" Target="/ppt/notesMasters/notesMaster1.xml" Id="Rf059197c306b4833" /></Relationships>
</file>

<file path=ppt/notesSlides/_rels/notesSlide9.xml.rels>&#65279;<?xml version="1.0" encoding="utf-8"?><Relationships xmlns="http://schemas.openxmlformats.org/package/2006/relationships"><Relationship Type="http://schemas.openxmlformats.org/officeDocument/2006/relationships/slide" Target="/ppt/slides/slide9.xml" Id="Ra303ef2655454c17" /><Relationship Type="http://schemas.openxmlformats.org/officeDocument/2006/relationships/notesMaster" Target="/ppt/notesMasters/notesMaster1.xml" Id="Rdbd060b3765e45f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a15814f39dd4bdf" /><Relationship Type="http://schemas.openxmlformats.org/officeDocument/2006/relationships/notesMaster" Target="/ppt/notesMasters/notesMaster1.xml" Id="R6e7aa160b0b4478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2f198526ff94cda" /><Relationship Type="http://schemas.openxmlformats.org/officeDocument/2006/relationships/notesMaster" Target="/ppt/notesMasters/notesMaster1.xml" Id="R534138668b4646e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Typography: Optimistic VF from Meta homepage font source https://static.xx.fbcdn.net/rsrc.php/yQ/r/-pkMfchyeAZ.woff2. Photography is credited in the relevant slide notes. Interface mockups are illustrative; the reference artwork is a repository test fixture.</a:t>
            </a:r>
          </a:p>
          <a:p xmlns:a="http://schemas.openxmlformats.org/drawingml/2006/main">
            <a:r>
              <a:t>0:00–0:10. “Introducing Spots. Look through your glasses to discover notes people left around you, reply by voice and get to know them.” Product vision: discover stories in shared places, respond through AI-powered voice conversations, and connect with the people behind them. Current prototype uses ordinary camera-equipped glasses and a phone. The Instagram-style mock only shows the intended glasses UI. No native Display integration is claimed. Cover photo: Sanjin Strukic / PIXSELL via tportal. Source: https://www.tportal.hr/biznis/clanak/pokrecete-biznis-provjerili-smo-koliko-novca-ove-godine-mozete-dobiti-od-drzave-foto-20230217 . Original: https://www.tportal.hr/media/thumbnail/w1000/1923212.jpeg . This authentic photo shows an ordinary glasses wearer reading a noticeboard. It is contextual photography, not Spots hardware or a live demonstration. Image is unchanged apart from slide cropping.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Typography: Optimistic VF from Meta homepage font source https://static.xx.fbcdn.net/rsrc.php/yQ/r/-pkMfchyeAZ.woff2. Photography is credited in the relevant slide notes. Interface mockups are illustrative; the reference artwork is a repository test fixture.</a:t>
            </a:r>
          </a:p>
          <a:p xmlns:a="http://schemas.openxmlformats.org/drawingml/2006/main">
            <a:r>
              <a:t>0:10–0:30. “Meta asked us to bring people closer together with AI. People who share interests often visit the same places without ever meeting. Spots gives them a way to start talking through the stories they leave there.” The challenge is open ended; the concert scenario is our product hypothesis, not a problem definition imposed by Meta. Brief source: /Users/srikarkolipaka/Downloads/Meta Track HackTX.pdf, page 1. Official rules, page 3, require meaningful AI and judge Human Connection 30%, AI Centrality 25%, Originality 20%, Execution &amp; Demo Quality 25%. Source: /Users/srikarkolipaka/Downloads/[External] HackTX 2026 — Meta-Sponsored Track Round 1 Official Rules.pdf. Do not present the Meta–Gallup study as proof of this particular unmet need.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Typography: Optimistic VF from Meta homepage font source https://static.xx.fbcdn.net/rsrc.php/yQ/r/-pkMfchyeAZ.woff2. Photography is credited in the relevant slide notes. Interface mockups are illustrative; the reference artwork is a repository test fixture.</a:t>
            </a:r>
          </a:p>
          <a:p xmlns:a="http://schemas.openxmlformats.org/drawingml/2006/main">
            <a:r>
              <a:t>0:30–0:50. “Maya attaches an invitation to this concert poster. Our Instagram-style mock stands in for what someone would see through the glasses when they look at the enrolled poster. A voice reply becomes editable text before it is shared.” The Instagram-style interface is only a visualization for the demo because the team cannot show the UI in the glasses. It is not a product discovery channel or planned native Instagram integration. The mock and camera experience should resolve the same object_id and note_id. No real Instagram accounts or DMs are connected. Speech transcription is the current AI role; object matching is classical vision. Standard Ray-Ban Meta is displayless. Meta Ray-Ban Display is a separate device. Source: https://developers.meta.com/wearables/faq/</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Typography: Optimistic VF from Meta homepage font source https://static.xx.fbcdn.net/rsrc.php/yQ/r/-pkMfchyeAZ.woff2. Photography is credited in the relevant slide notes. Interface mockups are illustrative; the reference artwork is a repository test fixture.</a:t>
            </a:r>
          </a:p>
          <a:p xmlns:a="http://schemas.openxmlformats.org/drawingml/2006/main">
            <a:r>
              <a:t>0:50–1:05. “Spots brings together people who share an interest, even if they differ in age, race, gender or background. We plan to use psychographics: shared interests and habits, including what people choose to share about what they look at, search for and the places they visit. Each person chooses whether to connect.” These are audience and product principles, not a claim that a working recommender has been implemented or evaluated for bias. Proposed signals include opted-in interests, viewing patterns, searches and places visited. Search and location access are future concepts requiring explicit permission and an available integration. The current prototype does not access Instagram search history or continuously track gaze or location. The concert poster is a demo example, not a demographic restriction. The intended device audience is Meta Ray-Ban Display users; current hardware is a camera prototype. Instagram is a mock. We do not claim that transcription alone proves a reduction in loneliness or a lasting relationship.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Typography: Optimistic VF from Meta homepage font source https://static.xx.fbcdn.net/rsrc.php/yQ/r/-pkMfchyeAZ.woff2. Photography is credited in the relevant slide notes. Interface mockups are illustrative; the reference artwork is a repository test fixture.</a:t>
            </a:r>
          </a:p>
          <a:p xmlns:a="http://schemas.openxmlformats.org/drawingml/2006/main">
            <a:r>
              <a:t>1:05–2:05. Explain the intended glasses interaction first: look at the poster, say “post note,” speak a message, hear the transcript, and confirm or cancel by voice. Native Meta integration and voice review/confirmation are product goals, not verified current capabilities. Then switch to the actual prototype. Enroll the poster once before judging and seed an explicitly team-created invitation. The judge wears the prototype and speaks. A teammate can operate the phone stand-in, show or read the actual transcript, obtain the judge’s approval, and tap Post note. Label the manual step as a simulation of the intended glasses controls. Show the actual saved reply in another browser to demonstrate rediscovery. Allocate 10 seconds to orient, 10 to speak, 15 to transcribe/review, 10 to confirm, 10 to second-client proof, and five buffer. Configure camera/mic permissions and the transcription provider before the timer. Use only commands supported by the current app. Keep a typed fallback. Do not reset the backend between panels. The official Meta artist lifestyle photograph is credited to Meta, via https://www.androidcentral.com/wearables/meta-ray-ban-display-glasses . It shows a person wearing Display and a Neural Band, not someone looking at a poster. Original image: https://cdn.mos.cms.futurecdn.net/oVnsftwc9t73XF7NHVtDK3.jpg . This is not a screenshot of Spots or proof of a native integration.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Typography: Optimistic VF from Meta homepage font source https://static.xx.fbcdn.net/rsrc.php/yQ/r/-pkMfchyeAZ.woff2. Photography is credited in the relevant slide notes. Interface mockups are illustrative; the reference artwork is a repository test fixture.</a:t>
            </a:r>
          </a:p>
          <a:p xmlns:a="http://schemas.openxmlformats.org/drawingml/2006/main">
            <a:r>
              <a:t>2:05–2:25. “SIFT or ORB matches the enrolled poster image. Its stable ID retrieves the conversation through FastAPI and SQLite, and React displays the notes. Speech AI creates the editable reply, which is saved only after confirmation.” OpenCV supplies camera video. Browser MediaRecorder captures microphone audio; a configured adapter transcribes speech. SIFT/ORB is classical computer vision, not a learned Meta embedding or YOLO classifier. This is reference recognition, not a shared 3D anchor or a way to identify a unique physical copy. Identical posters require added context. The artwork is the actual reference fixture from the reviewed repository, not a live camera capture. Source: https://github.com/arnavvalvekar/meta-glasses-notes/tree/72c3d3e7ccd1d74f610d008a89951f4de0f379a9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Typography: Optimistic VF from Meta homepage font source https://static.xx.fbcdn.net/rsrc.php/yQ/r/-pkMfchyeAZ.woff2. Photography is credited in the relevant slide notes. Interface mockups are illustrative; the reference artwork is a repository test fixture.</a:t>
            </a:r>
          </a:p>
          <a:p xmlns:a="http://schemas.openxmlformats.org/drawingml/2006/main">
            <a:r>
              <a:t>2:25–2:40. “Next, we want to help people connect over shared interests and places, if they choose to. We also want to bring this onto Meta Ray-Ban Display.” The Sam screen is a native editable mockup with a simulated profile. No live interest recommender or real Instagram data access is claimed. Coarse location is opt in, and profiles must participate; do not infer strangers’ identities or interests from faces or every glance. These future AI recommendations are distinct from current transcription.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Typography: Optimistic VF from Meta homepage font source https://static.xx.fbcdn.net/rsrc.php/yQ/r/-pkMfchyeAZ.woff2. Photography is credited in the relevant slide notes. Interface mockups are illustrative; the reference artwork is a repository test fixture.</a:t>
            </a:r>
          </a:p>
          <a:p xmlns:a="http://schemas.openxmlformats.org/drawingml/2006/main">
            <a:r>
              <a:t>2:40–2:55. Recap the product’s broader features: discover a story, leave a voice note, reply through the glasses, leave a note for someone else to find, and eventually opt into introductions based on shared interests and places. Finish with: “The people we have the most in common with might already be going to the same places we do.” The poster is one example, not the product boundary. Native display interactions, AI conversational features beyond transcription, and recommendations are part of the vision; the prototype uses reference matching, transcription adapters, and stored conversations. Keep one backend so later viewers can rediscover actual saved notes.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Typography: Optimistic VF from Meta homepage font source https://static.xx.fbcdn.net/rsrc.php/yQ/r/-pkMfchyeAZ.woff2. Photography is credited in the relevant slide notes. Interface mockups are illustrative; the reference artwork is a repository test fixture.</a:t>
            </a:r>
          </a:p>
          <a:p xmlns:a="http://schemas.openxmlformats.org/drawingml/2006/main">
            <a:r>
              <a:t>Hidden research appendix. Meta–Gallup 2023 uses weighted estimates from ages 15+ in 142 countries/areas, interviewed June 2022–February 2023. Exact values: 72% very/fairly connected and 24% very/fairly lonely. Separate estimates do not quantify overlap; the report independently states that some people had connections but still felt lonely. Not UT-specific or current-year data. Source, printed page 2: https://www.gallup.com/file/analytics/513347/Gallup-Meta-Global%20State%20of%20Social%20Connections%20Report-2023.pdf . Epley &amp; Schroeder 2014 commuter intervention found better experiences in the conversation condition; forecast and intervention findings include separate samples. Source: https://faculty.haas.berkeley.edu/jschroeder/Publications/Epley%26Schroeder2014.pdf . Additional supporting research in presenter guide: https://academic.oup.com/jcmc/article/21/4/265/4161784 ; https://journals.sagepub.com/doi/pdf/10.1177/0146167214529799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Typography: Optimistic VF from Meta homepage font source https://static.xx.fbcdn.net/rsrc.php/yQ/r/-pkMfchyeAZ.woff2. Photography is credited in the relevant slide notes. Interface mockups are illustrative; the reference artwork is a repository test fixture.</a:t>
            </a:r>
          </a:p>
          <a:p xmlns:a="http://schemas.openxmlformats.org/drawingml/2006/main">
            <a:r>
              <a:t>Hidden proposed evaluation, no impact results. Measure replies separately from mutual plans and voluntary reconnection. The first comparison isolates the added value of returning to an object’s conversation instead of merely viewing an invitation in a feed. Recheck the team’s actual app state before claiming any feature beyond the reviewed implementation: https://github.com/arnavvalvekar/meta-glasses-notes/tree/72c3d3e7ccd1d74f610d008a89951f4de0f379a9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Typography: Optimistic VF from Meta homepage font source https://static.xx.fbcdn.net/rsrc.php/yQ/r/-pkMfchyeAZ.woff2. Photography is credited in the relevant slide notes. Interface mockups are illustrative; the reference artwork is a repository test fixture.</a:t>
            </a:r>
          </a:p>
          <a:p xmlns:a="http://schemas.openxmlformats.org/drawingml/2006/main">
            <a:r>
              <a:t>Hidden appendix for two-minute Q&amp;A. Standard Ray-Ban Meta is displayless; Meta Ray-Ban Display is a different product. Shared persistence requires one backend and stable IDs. A phone tap currently confirms a prototype draft. The intended product uses spoken review and confirmation through the glasses; those controls must be implemented before claiming them as working. Protection from notes targeting people is a product requirement, not a verified enforcement feature: allow only registered inanimate targets, prohibit person/face anchors, confirm the target image and text, provide reporting/removal. AI centrality is currently limited to transcription; planned interest recommendations must not be presented as built. Sources: https://developers.meta.com/wearables/faq/ ; https://github.com/arnavvalvekar/meta-glasses-notes/tree/72c3d3e7ccd1d74f610d008a89951f4de0f379a9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8fc9872b8504c64"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76c7d9659e69416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79a8b7a7b2d147e0"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e82c26a00821427c"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c7010baf82ab4473"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8899f1f0b5c1440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8F1F425-D867-48B1-A308-50F2D53937D5}"/>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2BB7D6A5-3747-40CF-8D20-13EB9EA6FA3E}"/>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A0BADDC1-42F5-4241-BBD1-BCE4C75DAD77}"/>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6D61ECE-30F0-41E6-96D3-90881B5DA39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62A0D379-A200-4EE4-B6AF-3BAD545DC008}"/>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E0E3E117-F018-4FA9-8D7A-2F7AA18823F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D411A04-F976-4C07-8537-BCAA0822261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B7DC8B2C-F35E-4332-9ED1-8E569042AC64}"/>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389CC24-2BC0-4939-B502-30840AE0443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D044CD4-5672-4EDE-8E64-BBCC6BBDBDC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ece06981a584033" /><Relationship Type="http://schemas.openxmlformats.org/officeDocument/2006/relationships/slideLayout" Target="/ppt/slideLayouts/slideLayout1.xml" Id="R4c21a8045b3341a1" /><Relationship Type="http://schemas.openxmlformats.org/officeDocument/2006/relationships/slideLayout" Target="/ppt/slideLayouts/slideLayout2.xml" Id="R4a77172c96ef4ad1" /><Relationship Type="http://schemas.openxmlformats.org/officeDocument/2006/relationships/slideLayout" Target="/ppt/slideLayouts/slideLayout3.xml" Id="R3761b5957fa04484" /><Relationship Type="http://schemas.openxmlformats.org/officeDocument/2006/relationships/slideLayout" Target="/ppt/slideLayouts/slideLayout4.xml" Id="Re57d1d0ff9c14cfa" /><Relationship Type="http://schemas.openxmlformats.org/officeDocument/2006/relationships/slideLayout" Target="/ppt/slideLayouts/slideLayout5.xml" Id="R455f739f440f4a19" /><Relationship Type="http://schemas.openxmlformats.org/officeDocument/2006/relationships/slideLayout" Target="/ppt/slideLayouts/slideLayout6.xml" Id="R58053cef8e934de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c21a8045b3341a1"/>
    <p:sldLayoutId xmlns:r="http://schemas.openxmlformats.org/officeDocument/2006/relationships" id="2147483650" r:id="R4a77172c96ef4ad1"/>
    <p:sldLayoutId xmlns:r="http://schemas.openxmlformats.org/officeDocument/2006/relationships" id="2147483651" r:id="R3761b5957fa04484"/>
    <p:sldLayoutId xmlns:r="http://schemas.openxmlformats.org/officeDocument/2006/relationships" id="2147483652" r:id="Re57d1d0ff9c14cfa"/>
    <p:sldLayoutId xmlns:r="http://schemas.openxmlformats.org/officeDocument/2006/relationships" id="2147483653" r:id="R455f739f440f4a19"/>
    <p:sldLayoutId xmlns:r="http://schemas.openxmlformats.org/officeDocument/2006/relationships" id="2147483654" r:id="R58053cef8e934de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Optimistic VF"/>
        <a:ea typeface=""/>
        <a:cs typeface=""/>
      </a:majorFont>
      <a:minorFont>
        <a:latin typeface="Optimistic VF"/>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ad986cc162f54e03" /><Relationship Type="http://schemas.openxmlformats.org/officeDocument/2006/relationships/image" Target="/ppt/media/image.jpeg" Id="R22c7b1a1e4004534" /><Relationship Type="http://schemas.openxmlformats.org/officeDocument/2006/relationships/notesSlide" Target="/ppt/notesSlides/notesSlide1.xml" Id="R42b46e397c9e43ad"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479ffd5edf8d4607" /><Relationship Type="http://schemas.openxmlformats.org/officeDocument/2006/relationships/notesSlide" Target="/ppt/notesSlides/notesSlide2.xml" Id="R956d1482da864ead"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47d8925138c14d52" /><Relationship Type="http://schemas.openxmlformats.org/officeDocument/2006/relationships/image" Target="/ppt/media/image.png" Id="Rdaac3a4364f240bd" /><Relationship Type="http://schemas.openxmlformats.org/officeDocument/2006/relationships/notesSlide" Target="/ppt/notesSlides/notesSlide3.xml" Id="R6759512aecd3401c"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fc2427806ff04ea1" /><Relationship Type="http://schemas.openxmlformats.org/officeDocument/2006/relationships/notesSlide" Target="/ppt/notesSlides/notesSlide4.xml" Id="R1b408e83a8c0499b"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33c415c5bd9b4467" /><Relationship Type="http://schemas.openxmlformats.org/officeDocument/2006/relationships/image" Target="/ppt/media/image2.jpeg" Id="Rb5098fa7965d4ec9" /><Relationship Type="http://schemas.openxmlformats.org/officeDocument/2006/relationships/notesSlide" Target="/ppt/notesSlides/notesSlide5.xml" Id="Rad0b4aa8a2814f5a"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6700c3cb55c040e9" /><Relationship Type="http://schemas.openxmlformats.org/officeDocument/2006/relationships/image" Target="/ppt/media/image2.png" Id="R705654098ef64732" /><Relationship Type="http://schemas.openxmlformats.org/officeDocument/2006/relationships/notesSlide" Target="/ppt/notesSlides/notesSlide6.xml" Id="R1240f80329594ac4"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14c702c27b2e4c39" /><Relationship Type="http://schemas.openxmlformats.org/officeDocument/2006/relationships/notesSlide" Target="/ppt/notesSlides/notesSlide7.xml" Id="Re48cc20348b54a82"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662ad5caa908428f" /><Relationship Type="http://schemas.openxmlformats.org/officeDocument/2006/relationships/notesSlide" Target="/ppt/notesSlides/notesSlide8.xml" Id="Rc09ace90980545c8"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cdbd5bf0028f4dad" /><Relationship Type="http://schemas.openxmlformats.org/officeDocument/2006/relationships/notesSlide" Target="/ppt/notesSlides/notesSlide9.xml" Id="R2c26d4707e6e432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c033069e49f140d6" /><Relationship Type="http://schemas.openxmlformats.org/officeDocument/2006/relationships/notesSlide" Target="/ppt/notesSlides/notesSlide10.xml" Id="R5efcd9c1564a463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81e42b9d21164104" /><Relationship Type="http://schemas.openxmlformats.org/officeDocument/2006/relationships/notesSlide" Target="/ppt/notesSlides/notesSlide11.xml" Id="Rfeb3bcb97af24cf6"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A79E4035-871E-4F60-8EA4-81245597843E}"/>
              </a:ext>
            </a:extLst>
          </p:cNvPr>
          <p:cNvPicPr>
            <a:picLocks xmlns:a="http://schemas.openxmlformats.org/drawingml/2006/main" noChangeAspect="1"/>
          </p:cNvPicPr>
          <p:nvPr/>
        </p:nvPicPr>
        <p:blipFill>
          <a:blip xmlns:r="http://schemas.openxmlformats.org/officeDocument/2006/relationships" xmlns:a="http://schemas.openxmlformats.org/drawingml/2006/main" r:embed="R22c7b1a1e4004534"/>
          <a:srcRect xmlns:a="http://schemas.openxmlformats.org/drawingml/2006/main" l="49000" t="0" r="0" b="0"/>
          <a:stretch xmlns:a="http://schemas.openxmlformats.org/drawingml/2006/main"/>
        </p:blipFill>
        <p:spPr>
          <a:xfrm xmlns:a="http://schemas.openxmlformats.org/drawingml/2006/main">
            <a:off x="7000875" y="0"/>
            <a:ext cx="5191125" cy="68580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DCA228A8-2A7E-44C8-97EC-3302D865FA47}"/>
              </a:ext>
            </a:extLst>
          </p:cNvPr>
          <p:cNvSpPr>
            <a:spLocks xmlns:a="http://schemas.openxmlformats.org/drawingml/2006/main" noGrp="1"/>
          </p:cNvSpPr>
          <p:nvPr/>
        </p:nvSpPr>
        <p:spPr>
          <a:xfrm xmlns:a="http://schemas.openxmlformats.org/drawingml/2006/main">
            <a:off x="609600" y="285750"/>
            <a:ext cx="619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0866FF"/>
                </a:solidFill>
                <a:latin typeface="Optimistic VF Medium"/>
                <a:ea typeface="Optimistic VF Medium"/>
                <a:cs typeface="Optimistic VF Medium"/>
              </a:defRPr>
            </a:defPPr>
            <a:lvl1pPr>
              <a:defRPr sz="1200" b="0">
                <a:solidFill>
                  <a:srgbClr val="0866FF"/>
                </a:solidFill>
                <a:latin typeface="Optimistic VF Medium"/>
                <a:ea typeface="Optimistic VF Medium"/>
                <a:cs typeface="Optimistic VF Medium"/>
              </a:defRPr>
            </a:lvl1pPr>
            <a:lvl2pPr>
              <a:defRPr sz="1200" b="0">
                <a:solidFill>
                  <a:srgbClr val="0866FF"/>
                </a:solidFill>
                <a:latin typeface="Optimistic VF Medium"/>
                <a:ea typeface="Optimistic VF Medium"/>
                <a:cs typeface="Optimistic VF Medium"/>
              </a:defRPr>
            </a:lvl2pPr>
            <a:lvl3pPr>
              <a:defRPr sz="1200" b="0">
                <a:solidFill>
                  <a:srgbClr val="0866FF"/>
                </a:solidFill>
                <a:latin typeface="Optimistic VF Medium"/>
                <a:ea typeface="Optimistic VF Medium"/>
                <a:cs typeface="Optimistic VF Medium"/>
              </a:defRPr>
            </a:lvl3pPr>
            <a:lvl4pPr>
              <a:defRPr sz="1200" b="0">
                <a:solidFill>
                  <a:srgbClr val="0866FF"/>
                </a:solidFill>
                <a:latin typeface="Optimistic VF Medium"/>
                <a:ea typeface="Optimistic VF Medium"/>
                <a:cs typeface="Optimistic VF Medium"/>
              </a:defRPr>
            </a:lvl4pPr>
            <a:lvl5pPr>
              <a:defRPr sz="1200" b="0">
                <a:solidFill>
                  <a:srgbClr val="0866FF"/>
                </a:solidFill>
                <a:latin typeface="Optimistic VF Medium"/>
                <a:ea typeface="Optimistic VF Medium"/>
                <a:cs typeface="Optimistic VF Medium"/>
              </a:defRPr>
            </a:lvl5pPr>
            <a:lvl6pPr>
              <a:defRPr sz="1200" b="0">
                <a:solidFill>
                  <a:srgbClr val="0866FF"/>
                </a:solidFill>
                <a:latin typeface="Optimistic VF Medium"/>
                <a:ea typeface="Optimistic VF Medium"/>
                <a:cs typeface="Optimistic VF Medium"/>
              </a:defRPr>
            </a:lvl6pPr>
            <a:lvl7pPr>
              <a:defRPr sz="1200" b="0">
                <a:solidFill>
                  <a:srgbClr val="0866FF"/>
                </a:solidFill>
                <a:latin typeface="Optimistic VF Medium"/>
                <a:ea typeface="Optimistic VF Medium"/>
                <a:cs typeface="Optimistic VF Medium"/>
              </a:defRPr>
            </a:lvl7pPr>
            <a:lvl8pPr>
              <a:defRPr sz="1200" b="0">
                <a:solidFill>
                  <a:srgbClr val="0866FF"/>
                </a:solidFill>
                <a:latin typeface="Optimistic VF Medium"/>
                <a:ea typeface="Optimistic VF Medium"/>
                <a:cs typeface="Optimistic VF Medium"/>
              </a:defRPr>
            </a:lvl8pPr>
            <a:lvl9pPr>
              <a:defRPr sz="1200" b="0">
                <a:solidFill>
                  <a:srgbClr val="0866FF"/>
                </a:solidFill>
                <a:latin typeface="Optimistic VF Medium"/>
                <a:ea typeface="Optimistic VF Medium"/>
                <a:cs typeface="Optimistic VF Medium"/>
              </a:defRPr>
            </a:lvl9pPr>
          </a:lstStyle>
          <a:p xmlns:a="http://schemas.openxmlformats.org/drawingml/2006/main">
            <a:pPr>
              <a:defRPr sz="1200" b="0">
                <a:solidFill>
                  <a:srgbClr val="0866FF"/>
                </a:solidFill>
                <a:latin typeface="Optimistic VF Medium"/>
                <a:ea typeface="Optimistic VF Medium"/>
                <a:cs typeface="Optimistic VF Medium"/>
              </a:defRPr>
            </a:pPr>
            <a:r>
              <a:rPr sz="1200" b="0">
                <a:solidFill>
                  <a:srgbClr val="0866FF"/>
                </a:solidFill>
                <a:latin typeface="Optimistic VF Medium"/>
                <a:ea typeface="Optimistic VF Medium"/>
                <a:cs typeface="Optimistic VF Medium"/>
              </a:rPr>
              <a:t>HACKTX 2026 · META TRACK</a:t>
            </a:r>
          </a:p>
        </p:txBody>
      </p:sp>
      <p:sp>
        <p:nvSpPr>
          <p:cNvPr id="4" name="">
            <a:extLst xmlns:a="http://schemas.openxmlformats.org/drawingml/2006/main">
              <a:ext uri="{FF2B5EF4-FFF2-40B4-BE49-F238E27FC236}">
                <a16:creationId xmlns:a16="http://schemas.microsoft.com/office/drawing/2014/main" id="{4BF7D0C5-8444-4216-A829-91E6A9D1E0A4}"/>
              </a:ext>
            </a:extLst>
          </p:cNvPr>
          <p:cNvSpPr>
            <a:spLocks xmlns:a="http://schemas.openxmlformats.org/drawingml/2006/main" noGrp="1"/>
          </p:cNvSpPr>
          <p:nvPr/>
        </p:nvSpPr>
        <p:spPr>
          <a:xfrm xmlns:a="http://schemas.openxmlformats.org/drawingml/2006/main">
            <a:off x="581025" y="781050"/>
            <a:ext cx="6381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4050" b="0">
                <a:solidFill>
                  <a:srgbClr val="142D38"/>
                </a:solidFill>
                <a:latin typeface="Optimistic VF Medium"/>
                <a:ea typeface="Optimistic VF Medium"/>
                <a:cs typeface="Optimistic VF Medium"/>
              </a:defRPr>
            </a:defPPr>
            <a:lvl1pPr>
              <a:defRPr sz="4050" b="0">
                <a:solidFill>
                  <a:srgbClr val="142D38"/>
                </a:solidFill>
                <a:latin typeface="Optimistic VF Medium"/>
                <a:ea typeface="Optimistic VF Medium"/>
                <a:cs typeface="Optimistic VF Medium"/>
              </a:defRPr>
            </a:lvl1pPr>
            <a:lvl2pPr>
              <a:defRPr sz="4050" b="0">
                <a:solidFill>
                  <a:srgbClr val="142D38"/>
                </a:solidFill>
                <a:latin typeface="Optimistic VF Medium"/>
                <a:ea typeface="Optimistic VF Medium"/>
                <a:cs typeface="Optimistic VF Medium"/>
              </a:defRPr>
            </a:lvl2pPr>
            <a:lvl3pPr>
              <a:defRPr sz="4050" b="0">
                <a:solidFill>
                  <a:srgbClr val="142D38"/>
                </a:solidFill>
                <a:latin typeface="Optimistic VF Medium"/>
                <a:ea typeface="Optimistic VF Medium"/>
                <a:cs typeface="Optimistic VF Medium"/>
              </a:defRPr>
            </a:lvl3pPr>
            <a:lvl4pPr>
              <a:defRPr sz="4050" b="0">
                <a:solidFill>
                  <a:srgbClr val="142D38"/>
                </a:solidFill>
                <a:latin typeface="Optimistic VF Medium"/>
                <a:ea typeface="Optimistic VF Medium"/>
                <a:cs typeface="Optimistic VF Medium"/>
              </a:defRPr>
            </a:lvl4pPr>
            <a:lvl5pPr>
              <a:defRPr sz="4050" b="0">
                <a:solidFill>
                  <a:srgbClr val="142D38"/>
                </a:solidFill>
                <a:latin typeface="Optimistic VF Medium"/>
                <a:ea typeface="Optimistic VF Medium"/>
                <a:cs typeface="Optimistic VF Medium"/>
              </a:defRPr>
            </a:lvl5pPr>
            <a:lvl6pPr>
              <a:defRPr sz="4050" b="0">
                <a:solidFill>
                  <a:srgbClr val="142D38"/>
                </a:solidFill>
                <a:latin typeface="Optimistic VF Medium"/>
                <a:ea typeface="Optimistic VF Medium"/>
                <a:cs typeface="Optimistic VF Medium"/>
              </a:defRPr>
            </a:lvl6pPr>
            <a:lvl7pPr>
              <a:defRPr sz="4050" b="0">
                <a:solidFill>
                  <a:srgbClr val="142D38"/>
                </a:solidFill>
                <a:latin typeface="Optimistic VF Medium"/>
                <a:ea typeface="Optimistic VF Medium"/>
                <a:cs typeface="Optimistic VF Medium"/>
              </a:defRPr>
            </a:lvl7pPr>
            <a:lvl8pPr>
              <a:defRPr sz="4050" b="0">
                <a:solidFill>
                  <a:srgbClr val="142D38"/>
                </a:solidFill>
                <a:latin typeface="Optimistic VF Medium"/>
                <a:ea typeface="Optimistic VF Medium"/>
                <a:cs typeface="Optimistic VF Medium"/>
              </a:defRPr>
            </a:lvl8pPr>
            <a:lvl9pPr>
              <a:defRPr sz="4050" b="0">
                <a:solidFill>
                  <a:srgbClr val="142D38"/>
                </a:solidFill>
                <a:latin typeface="Optimistic VF Medium"/>
                <a:ea typeface="Optimistic VF Medium"/>
                <a:cs typeface="Optimistic VF Medium"/>
              </a:defRPr>
            </a:lvl9pPr>
          </a:lstStyle>
          <a:p xmlns:a="http://schemas.openxmlformats.org/drawingml/2006/main">
            <a:pPr>
              <a:defRPr sz="4050" b="0">
                <a:solidFill>
                  <a:srgbClr val="142D38"/>
                </a:solidFill>
                <a:latin typeface="Optimistic VF Medium"/>
                <a:ea typeface="Optimistic VF Medium"/>
                <a:cs typeface="Optimistic VF Medium"/>
              </a:defRPr>
            </a:pPr>
            <a:r>
              <a:rPr sz="4050" b="0">
                <a:solidFill>
                  <a:srgbClr val="142D38"/>
                </a:solidFill>
                <a:latin typeface="Optimistic VF Medium"/>
                <a:ea typeface="Optimistic VF Medium"/>
                <a:cs typeface="Optimistic VF Medium"/>
              </a:rPr>
              <a:t>Introducing Spots</a:t>
            </a:r>
          </a:p>
        </p:txBody>
      </p:sp>
      <p:sp>
        <p:nvSpPr>
          <p:cNvPr id="5" name="">
            <a:extLst xmlns:a="http://schemas.openxmlformats.org/drawingml/2006/main">
              <a:ext uri="{FF2B5EF4-FFF2-40B4-BE49-F238E27FC236}">
                <a16:creationId xmlns:a16="http://schemas.microsoft.com/office/drawing/2014/main" id="{8B275C1B-29C3-45E3-AD21-BF89D5D0EE0F}"/>
              </a:ext>
            </a:extLst>
          </p:cNvPr>
          <p:cNvSpPr>
            <a:spLocks xmlns:a="http://schemas.openxmlformats.org/drawingml/2006/main" noGrp="1"/>
          </p:cNvSpPr>
          <p:nvPr/>
        </p:nvSpPr>
        <p:spPr>
          <a:xfrm xmlns:a="http://schemas.openxmlformats.org/drawingml/2006/main">
            <a:off x="619125" y="1704975"/>
            <a:ext cx="58293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4C6571"/>
                </a:solidFill>
                <a:latin typeface="Optimistic VF"/>
                <a:ea typeface="Optimistic VF"/>
                <a:cs typeface="Optimistic VF"/>
              </a:defRPr>
            </a:defPPr>
            <a:lvl1pPr>
              <a:defRPr sz="1950" b="0">
                <a:solidFill>
                  <a:srgbClr val="4C6571"/>
                </a:solidFill>
                <a:latin typeface="Optimistic VF"/>
                <a:ea typeface="Optimistic VF"/>
                <a:cs typeface="Optimistic VF"/>
              </a:defRPr>
            </a:lvl1pPr>
            <a:lvl2pPr>
              <a:defRPr sz="1950" b="0">
                <a:solidFill>
                  <a:srgbClr val="4C6571"/>
                </a:solidFill>
                <a:latin typeface="Optimistic VF"/>
                <a:ea typeface="Optimistic VF"/>
                <a:cs typeface="Optimistic VF"/>
              </a:defRPr>
            </a:lvl2pPr>
            <a:lvl3pPr>
              <a:defRPr sz="1950" b="0">
                <a:solidFill>
                  <a:srgbClr val="4C6571"/>
                </a:solidFill>
                <a:latin typeface="Optimistic VF"/>
                <a:ea typeface="Optimistic VF"/>
                <a:cs typeface="Optimistic VF"/>
              </a:defRPr>
            </a:lvl3pPr>
            <a:lvl4pPr>
              <a:defRPr sz="1950" b="0">
                <a:solidFill>
                  <a:srgbClr val="4C6571"/>
                </a:solidFill>
                <a:latin typeface="Optimistic VF"/>
                <a:ea typeface="Optimistic VF"/>
                <a:cs typeface="Optimistic VF"/>
              </a:defRPr>
            </a:lvl4pPr>
            <a:lvl5pPr>
              <a:defRPr sz="1950" b="0">
                <a:solidFill>
                  <a:srgbClr val="4C6571"/>
                </a:solidFill>
                <a:latin typeface="Optimistic VF"/>
                <a:ea typeface="Optimistic VF"/>
                <a:cs typeface="Optimistic VF"/>
              </a:defRPr>
            </a:lvl5pPr>
            <a:lvl6pPr>
              <a:defRPr sz="1950" b="0">
                <a:solidFill>
                  <a:srgbClr val="4C6571"/>
                </a:solidFill>
                <a:latin typeface="Optimistic VF"/>
                <a:ea typeface="Optimistic VF"/>
                <a:cs typeface="Optimistic VF"/>
              </a:defRPr>
            </a:lvl6pPr>
            <a:lvl7pPr>
              <a:defRPr sz="1950" b="0">
                <a:solidFill>
                  <a:srgbClr val="4C6571"/>
                </a:solidFill>
                <a:latin typeface="Optimistic VF"/>
                <a:ea typeface="Optimistic VF"/>
                <a:cs typeface="Optimistic VF"/>
              </a:defRPr>
            </a:lvl7pPr>
            <a:lvl8pPr>
              <a:defRPr sz="1950" b="0">
                <a:solidFill>
                  <a:srgbClr val="4C6571"/>
                </a:solidFill>
                <a:latin typeface="Optimistic VF"/>
                <a:ea typeface="Optimistic VF"/>
                <a:cs typeface="Optimistic VF"/>
              </a:defRPr>
            </a:lvl8pPr>
            <a:lvl9pPr>
              <a:defRPr sz="1950" b="0">
                <a:solidFill>
                  <a:srgbClr val="4C6571"/>
                </a:solidFill>
                <a:latin typeface="Optimistic VF"/>
                <a:ea typeface="Optimistic VF"/>
                <a:cs typeface="Optimistic VF"/>
              </a:defRPr>
            </a:lvl9pPr>
          </a:lstStyle>
          <a:p xmlns:a="http://schemas.openxmlformats.org/drawingml/2006/main">
            <a:pPr>
              <a:defRPr sz="1950" b="0">
                <a:solidFill>
                  <a:srgbClr val="4C6571"/>
                </a:solidFill>
                <a:latin typeface="Optimistic VF"/>
                <a:ea typeface="Optimistic VF"/>
                <a:cs typeface="Optimistic VF"/>
              </a:defRPr>
            </a:pPr>
            <a:r>
              <a:rPr sz="1950" b="0">
                <a:solidFill>
                  <a:srgbClr val="4C6571"/>
                </a:solidFill>
                <a:latin typeface="Optimistic VF"/>
                <a:ea typeface="Optimistic VF"/>
                <a:cs typeface="Optimistic VF"/>
              </a:rPr>
              <a:t>A social AR experience we’re building toward Meta Ray-Ban Display.</a:t>
            </a:r>
          </a:p>
        </p:txBody>
      </p:sp>
      <p:sp>
        <p:nvSpPr>
          <p:cNvPr id="6" name="">
            <a:extLst xmlns:a="http://schemas.openxmlformats.org/drawingml/2006/main">
              <a:ext uri="{FF2B5EF4-FFF2-40B4-BE49-F238E27FC236}">
                <a16:creationId xmlns:a16="http://schemas.microsoft.com/office/drawing/2014/main" id="{866EA526-F994-4A37-81D5-7246751BEB48}"/>
              </a:ext>
            </a:extLst>
          </p:cNvPr>
          <p:cNvSpPr>
            <a:spLocks xmlns:a="http://schemas.openxmlformats.org/drawingml/2006/main" noGrp="1"/>
          </p:cNvSpPr>
          <p:nvPr/>
        </p:nvSpPr>
        <p:spPr>
          <a:xfrm xmlns:a="http://schemas.openxmlformats.org/drawingml/2006/main">
            <a:off x="571500" y="2857500"/>
            <a:ext cx="61912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4575" b="0">
                <a:solidFill>
                  <a:srgbClr val="0866FF"/>
                </a:solidFill>
                <a:latin typeface="Optimistic VF Medium"/>
                <a:ea typeface="Optimistic VF Medium"/>
                <a:cs typeface="Optimistic VF Medium"/>
              </a:defRPr>
            </a:defPPr>
            <a:lvl1pPr>
              <a:defRPr sz="4575" b="0">
                <a:solidFill>
                  <a:srgbClr val="0866FF"/>
                </a:solidFill>
                <a:latin typeface="Optimistic VF Medium"/>
                <a:ea typeface="Optimistic VF Medium"/>
                <a:cs typeface="Optimistic VF Medium"/>
              </a:defRPr>
            </a:lvl1pPr>
            <a:lvl2pPr>
              <a:defRPr sz="4575" b="0">
                <a:solidFill>
                  <a:srgbClr val="0866FF"/>
                </a:solidFill>
                <a:latin typeface="Optimistic VF Medium"/>
                <a:ea typeface="Optimistic VF Medium"/>
                <a:cs typeface="Optimistic VF Medium"/>
              </a:defRPr>
            </a:lvl2pPr>
            <a:lvl3pPr>
              <a:defRPr sz="4575" b="0">
                <a:solidFill>
                  <a:srgbClr val="0866FF"/>
                </a:solidFill>
                <a:latin typeface="Optimistic VF Medium"/>
                <a:ea typeface="Optimistic VF Medium"/>
                <a:cs typeface="Optimistic VF Medium"/>
              </a:defRPr>
            </a:lvl3pPr>
            <a:lvl4pPr>
              <a:defRPr sz="4575" b="0">
                <a:solidFill>
                  <a:srgbClr val="0866FF"/>
                </a:solidFill>
                <a:latin typeface="Optimistic VF Medium"/>
                <a:ea typeface="Optimistic VF Medium"/>
                <a:cs typeface="Optimistic VF Medium"/>
              </a:defRPr>
            </a:lvl4pPr>
            <a:lvl5pPr>
              <a:defRPr sz="4575" b="0">
                <a:solidFill>
                  <a:srgbClr val="0866FF"/>
                </a:solidFill>
                <a:latin typeface="Optimistic VF Medium"/>
                <a:ea typeface="Optimistic VF Medium"/>
                <a:cs typeface="Optimistic VF Medium"/>
              </a:defRPr>
            </a:lvl5pPr>
            <a:lvl6pPr>
              <a:defRPr sz="4575" b="0">
                <a:solidFill>
                  <a:srgbClr val="0866FF"/>
                </a:solidFill>
                <a:latin typeface="Optimistic VF Medium"/>
                <a:ea typeface="Optimistic VF Medium"/>
                <a:cs typeface="Optimistic VF Medium"/>
              </a:defRPr>
            </a:lvl6pPr>
            <a:lvl7pPr>
              <a:defRPr sz="4575" b="0">
                <a:solidFill>
                  <a:srgbClr val="0866FF"/>
                </a:solidFill>
                <a:latin typeface="Optimistic VF Medium"/>
                <a:ea typeface="Optimistic VF Medium"/>
                <a:cs typeface="Optimistic VF Medium"/>
              </a:defRPr>
            </a:lvl7pPr>
            <a:lvl8pPr>
              <a:defRPr sz="4575" b="0">
                <a:solidFill>
                  <a:srgbClr val="0866FF"/>
                </a:solidFill>
                <a:latin typeface="Optimistic VF Medium"/>
                <a:ea typeface="Optimistic VF Medium"/>
                <a:cs typeface="Optimistic VF Medium"/>
              </a:defRPr>
            </a:lvl8pPr>
            <a:lvl9pPr>
              <a:defRPr sz="4575" b="0">
                <a:solidFill>
                  <a:srgbClr val="0866FF"/>
                </a:solidFill>
                <a:latin typeface="Optimistic VF Medium"/>
                <a:ea typeface="Optimistic VF Medium"/>
                <a:cs typeface="Optimistic VF Medium"/>
              </a:defRPr>
            </a:lvl9pPr>
          </a:lstStyle>
          <a:p xmlns:a="http://schemas.openxmlformats.org/drawingml/2006/main">
            <a:pPr>
              <a:defRPr sz="4575" b="0">
                <a:solidFill>
                  <a:srgbClr val="0866FF"/>
                </a:solidFill>
                <a:latin typeface="Optimistic VF Medium"/>
                <a:ea typeface="Optimistic VF Medium"/>
                <a:cs typeface="Optimistic VF Medium"/>
              </a:defRPr>
            </a:pPr>
            <a:r>
              <a:rPr sz="4575" b="0">
                <a:solidFill>
                  <a:srgbClr val="0866FF"/>
                </a:solidFill>
                <a:latin typeface="Optimistic VF Medium"/>
                <a:ea typeface="Optimistic VF Medium"/>
                <a:cs typeface="Optimistic VF Medium"/>
              </a:rPr>
              <a:t>Every place</a:t>
            </a:r>
          </a:p>
          <a:p xmlns:a="http://schemas.openxmlformats.org/drawingml/2006/main">
            <a:pPr>
              <a:defRPr sz="4575" b="0">
                <a:solidFill>
                  <a:srgbClr val="0866FF"/>
                </a:solidFill>
                <a:latin typeface="Optimistic VF Medium"/>
                <a:ea typeface="Optimistic VF Medium"/>
                <a:cs typeface="Optimistic VF Medium"/>
              </a:defRPr>
            </a:pPr>
            <a:r>
              <a:rPr sz="4575" b="0">
                <a:solidFill>
                  <a:srgbClr val="0866FF"/>
                </a:solidFill>
                <a:latin typeface="Optimistic VF Medium"/>
                <a:ea typeface="Optimistic VF Medium"/>
                <a:cs typeface="Optimistic VF Medium"/>
              </a:rPr>
              <a:t>has stories</a:t>
            </a:r>
          </a:p>
        </p:txBody>
      </p:sp>
      <p:sp>
        <p:nvSpPr>
          <p:cNvPr id="7" name="">
            <a:extLst xmlns:a="http://schemas.openxmlformats.org/drawingml/2006/main">
              <a:ext uri="{FF2B5EF4-FFF2-40B4-BE49-F238E27FC236}">
                <a16:creationId xmlns:a16="http://schemas.microsoft.com/office/drawing/2014/main" id="{3406C3FE-C130-4217-94DD-D4C720D38C39}"/>
              </a:ext>
            </a:extLst>
          </p:cNvPr>
          <p:cNvSpPr>
            <a:spLocks xmlns:a="http://schemas.openxmlformats.org/drawingml/2006/main" noGrp="1"/>
          </p:cNvSpPr>
          <p:nvPr/>
        </p:nvSpPr>
        <p:spPr>
          <a:xfrm xmlns:a="http://schemas.openxmlformats.org/drawingml/2006/main">
            <a:off x="619125" y="4505325"/>
            <a:ext cx="58293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142D38"/>
                </a:solidFill>
                <a:latin typeface="Optimistic VF"/>
                <a:ea typeface="Optimistic VF"/>
                <a:cs typeface="Optimistic VF"/>
              </a:defRPr>
            </a:defPPr>
            <a:lvl1pPr>
              <a:defRPr sz="2025" b="0">
                <a:solidFill>
                  <a:srgbClr val="142D38"/>
                </a:solidFill>
                <a:latin typeface="Optimistic VF"/>
                <a:ea typeface="Optimistic VF"/>
                <a:cs typeface="Optimistic VF"/>
              </a:defRPr>
            </a:lvl1pPr>
            <a:lvl2pPr>
              <a:defRPr sz="2025" b="0">
                <a:solidFill>
                  <a:srgbClr val="142D38"/>
                </a:solidFill>
                <a:latin typeface="Optimistic VF"/>
                <a:ea typeface="Optimistic VF"/>
                <a:cs typeface="Optimistic VF"/>
              </a:defRPr>
            </a:lvl2pPr>
            <a:lvl3pPr>
              <a:defRPr sz="2025" b="0">
                <a:solidFill>
                  <a:srgbClr val="142D38"/>
                </a:solidFill>
                <a:latin typeface="Optimistic VF"/>
                <a:ea typeface="Optimistic VF"/>
                <a:cs typeface="Optimistic VF"/>
              </a:defRPr>
            </a:lvl3pPr>
            <a:lvl4pPr>
              <a:defRPr sz="2025" b="0">
                <a:solidFill>
                  <a:srgbClr val="142D38"/>
                </a:solidFill>
                <a:latin typeface="Optimistic VF"/>
                <a:ea typeface="Optimistic VF"/>
                <a:cs typeface="Optimistic VF"/>
              </a:defRPr>
            </a:lvl4pPr>
            <a:lvl5pPr>
              <a:defRPr sz="2025" b="0">
                <a:solidFill>
                  <a:srgbClr val="142D38"/>
                </a:solidFill>
                <a:latin typeface="Optimistic VF"/>
                <a:ea typeface="Optimistic VF"/>
                <a:cs typeface="Optimistic VF"/>
              </a:defRPr>
            </a:lvl5pPr>
            <a:lvl6pPr>
              <a:defRPr sz="2025" b="0">
                <a:solidFill>
                  <a:srgbClr val="142D38"/>
                </a:solidFill>
                <a:latin typeface="Optimistic VF"/>
                <a:ea typeface="Optimistic VF"/>
                <a:cs typeface="Optimistic VF"/>
              </a:defRPr>
            </a:lvl6pPr>
            <a:lvl7pPr>
              <a:defRPr sz="2025" b="0">
                <a:solidFill>
                  <a:srgbClr val="142D38"/>
                </a:solidFill>
                <a:latin typeface="Optimistic VF"/>
                <a:ea typeface="Optimistic VF"/>
                <a:cs typeface="Optimistic VF"/>
              </a:defRPr>
            </a:lvl7pPr>
            <a:lvl8pPr>
              <a:defRPr sz="2025" b="0">
                <a:solidFill>
                  <a:srgbClr val="142D38"/>
                </a:solidFill>
                <a:latin typeface="Optimistic VF"/>
                <a:ea typeface="Optimistic VF"/>
                <a:cs typeface="Optimistic VF"/>
              </a:defRPr>
            </a:lvl8pPr>
            <a:lvl9pPr>
              <a:defRPr sz="2025" b="0">
                <a:solidFill>
                  <a:srgbClr val="142D38"/>
                </a:solidFill>
                <a:latin typeface="Optimistic VF"/>
                <a:ea typeface="Optimistic VF"/>
                <a:cs typeface="Optimistic VF"/>
              </a:defRPr>
            </a:lvl9pPr>
          </a:lstStyle>
          <a:p xmlns:a="http://schemas.openxmlformats.org/drawingml/2006/main">
            <a:pPr>
              <a:defRPr sz="2025" b="0">
                <a:solidFill>
                  <a:srgbClr val="142D38"/>
                </a:solidFill>
                <a:latin typeface="Optimistic VF"/>
                <a:ea typeface="Optimistic VF"/>
                <a:cs typeface="Optimistic VF"/>
              </a:defRPr>
            </a:pPr>
            <a:r>
              <a:rPr sz="2025" b="0">
                <a:solidFill>
                  <a:srgbClr val="142D38"/>
                </a:solidFill>
                <a:latin typeface="Optimistic VF"/>
                <a:ea typeface="Optimistic VF"/>
                <a:cs typeface="Optimistic VF"/>
              </a:rPr>
              <a:t>Look through your glasses to find notes people left around you. Reply by voice and get to know the people behind them.</a:t>
            </a:r>
          </a:p>
        </p:txBody>
      </p:sp>
      <p:sp>
        <p:nvSpPr>
          <p:cNvPr id="8" name="">
            <a:extLst xmlns:a="http://schemas.openxmlformats.org/drawingml/2006/main">
              <a:ext uri="{FF2B5EF4-FFF2-40B4-BE49-F238E27FC236}">
                <a16:creationId xmlns:a16="http://schemas.microsoft.com/office/drawing/2014/main" id="{CEC621F8-9A1D-4F08-8330-CC2DC889EEE8}"/>
              </a:ext>
            </a:extLst>
          </p:cNvPr>
          <p:cNvSpPr>
            <a:spLocks xmlns:a="http://schemas.openxmlformats.org/drawingml/2006/main" noGrp="1"/>
          </p:cNvSpPr>
          <p:nvPr/>
        </p:nvSpPr>
        <p:spPr>
          <a:xfrm xmlns:a="http://schemas.openxmlformats.org/drawingml/2006/main">
            <a:off x="619125" y="5838825"/>
            <a:ext cx="58293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4C6571"/>
                </a:solidFill>
                <a:latin typeface="Optimistic VF"/>
                <a:ea typeface="Optimistic VF"/>
                <a:cs typeface="Optimistic VF"/>
              </a:defRPr>
            </a:defPPr>
            <a:lvl1pPr>
              <a:defRPr sz="1875" b="0">
                <a:solidFill>
                  <a:srgbClr val="4C6571"/>
                </a:solidFill>
                <a:latin typeface="Optimistic VF"/>
                <a:ea typeface="Optimistic VF"/>
                <a:cs typeface="Optimistic VF"/>
              </a:defRPr>
            </a:lvl1pPr>
            <a:lvl2pPr>
              <a:defRPr sz="1875" b="0">
                <a:solidFill>
                  <a:srgbClr val="4C6571"/>
                </a:solidFill>
                <a:latin typeface="Optimistic VF"/>
                <a:ea typeface="Optimistic VF"/>
                <a:cs typeface="Optimistic VF"/>
              </a:defRPr>
            </a:lvl2pPr>
            <a:lvl3pPr>
              <a:defRPr sz="1875" b="0">
                <a:solidFill>
                  <a:srgbClr val="4C6571"/>
                </a:solidFill>
                <a:latin typeface="Optimistic VF"/>
                <a:ea typeface="Optimistic VF"/>
                <a:cs typeface="Optimistic VF"/>
              </a:defRPr>
            </a:lvl3pPr>
            <a:lvl4pPr>
              <a:defRPr sz="1875" b="0">
                <a:solidFill>
                  <a:srgbClr val="4C6571"/>
                </a:solidFill>
                <a:latin typeface="Optimistic VF"/>
                <a:ea typeface="Optimistic VF"/>
                <a:cs typeface="Optimistic VF"/>
              </a:defRPr>
            </a:lvl4pPr>
            <a:lvl5pPr>
              <a:defRPr sz="1875" b="0">
                <a:solidFill>
                  <a:srgbClr val="4C6571"/>
                </a:solidFill>
                <a:latin typeface="Optimistic VF"/>
                <a:ea typeface="Optimistic VF"/>
                <a:cs typeface="Optimistic VF"/>
              </a:defRPr>
            </a:lvl5pPr>
            <a:lvl6pPr>
              <a:defRPr sz="1875" b="0">
                <a:solidFill>
                  <a:srgbClr val="4C6571"/>
                </a:solidFill>
                <a:latin typeface="Optimistic VF"/>
                <a:ea typeface="Optimistic VF"/>
                <a:cs typeface="Optimistic VF"/>
              </a:defRPr>
            </a:lvl6pPr>
            <a:lvl7pPr>
              <a:defRPr sz="1875" b="0">
                <a:solidFill>
                  <a:srgbClr val="4C6571"/>
                </a:solidFill>
                <a:latin typeface="Optimistic VF"/>
                <a:ea typeface="Optimistic VF"/>
                <a:cs typeface="Optimistic VF"/>
              </a:defRPr>
            </a:lvl7pPr>
            <a:lvl8pPr>
              <a:defRPr sz="1875" b="0">
                <a:solidFill>
                  <a:srgbClr val="4C6571"/>
                </a:solidFill>
                <a:latin typeface="Optimistic VF"/>
                <a:ea typeface="Optimistic VF"/>
                <a:cs typeface="Optimistic VF"/>
              </a:defRPr>
            </a:lvl8pPr>
            <a:lvl9pPr>
              <a:defRPr sz="1875" b="0">
                <a:solidFill>
                  <a:srgbClr val="4C6571"/>
                </a:solidFill>
                <a:latin typeface="Optimistic VF"/>
                <a:ea typeface="Optimistic VF"/>
                <a:cs typeface="Optimistic VF"/>
              </a:defRPr>
            </a:lvl9pPr>
          </a:lstStyle>
          <a:p xmlns:a="http://schemas.openxmlformats.org/drawingml/2006/main">
            <a:pPr>
              <a:defRPr sz="1875" b="0">
                <a:solidFill>
                  <a:srgbClr val="4C6571"/>
                </a:solidFill>
                <a:latin typeface="Optimistic VF"/>
                <a:ea typeface="Optimistic VF"/>
                <a:cs typeface="Optimistic VF"/>
              </a:defRPr>
            </a:pPr>
            <a:r>
              <a:rPr sz="1875" b="0">
                <a:solidFill>
                  <a:srgbClr val="4C6571"/>
                </a:solidFill>
                <a:latin typeface="Optimistic VF"/>
                <a:ea typeface="Optimistic VF"/>
                <a:cs typeface="Optimistic VF"/>
              </a:rPr>
              <a:t>You might already visit the same places. Spots gives you a reason to say hello.</a:t>
            </a:r>
          </a:p>
        </p:txBody>
      </p:sp>
    </p:spTree>
    <p:extLst>
      <p:ext uri="{BB962C8B-B14F-4D97-AF65-F5344CB8AC3E}">
        <p14:creationId xmlns:p14="http://schemas.microsoft.com/office/powerpoint/2010/main" val="394829788"/>
      </p:ext>
    </p:extLst>
  </p:cSld>
</p:sld>
</file>

<file path=ppt/slides/slide2.xml><?xml version="1.0" encoding="utf-8"?>
<p:sld xmlns:p="http://schemas.openxmlformats.org/presentationml/2006/main">
  <p:cSld>
    <p:bg>
      <p:bgPr>
        <a:solidFill xmlns:a="http://schemas.openxmlformats.org/drawingml/2006/main">
          <a:srgbClr val="0866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55E121FB-E556-445D-9D3D-24A469059955}"/>
              </a:ext>
            </a:extLst>
          </p:cNvPr>
          <p:cNvSpPr>
            <a:spLocks xmlns:a="http://schemas.openxmlformats.org/drawingml/2006/main" noGrp="1"/>
          </p:cNvSpPr>
          <p:nvPr/>
        </p:nvSpPr>
        <p:spPr>
          <a:xfrm xmlns:a="http://schemas.openxmlformats.org/drawingml/2006/main">
            <a:off x="638175" y="457200"/>
            <a:ext cx="10858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D5E5FF"/>
                </a:solidFill>
                <a:latin typeface="Optimistic VF Medium"/>
                <a:ea typeface="Optimistic VF Medium"/>
                <a:cs typeface="Optimistic VF Medium"/>
              </a:defRPr>
            </a:defPPr>
            <a:lvl1pPr>
              <a:defRPr sz="1350" b="0">
                <a:solidFill>
                  <a:srgbClr val="D5E5FF"/>
                </a:solidFill>
                <a:latin typeface="Optimistic VF Medium"/>
                <a:ea typeface="Optimistic VF Medium"/>
                <a:cs typeface="Optimistic VF Medium"/>
              </a:defRPr>
            </a:lvl1pPr>
            <a:lvl2pPr>
              <a:defRPr sz="1350" b="0">
                <a:solidFill>
                  <a:srgbClr val="D5E5FF"/>
                </a:solidFill>
                <a:latin typeface="Optimistic VF Medium"/>
                <a:ea typeface="Optimistic VF Medium"/>
                <a:cs typeface="Optimistic VF Medium"/>
              </a:defRPr>
            </a:lvl2pPr>
            <a:lvl3pPr>
              <a:defRPr sz="1350" b="0">
                <a:solidFill>
                  <a:srgbClr val="D5E5FF"/>
                </a:solidFill>
                <a:latin typeface="Optimistic VF Medium"/>
                <a:ea typeface="Optimistic VF Medium"/>
                <a:cs typeface="Optimistic VF Medium"/>
              </a:defRPr>
            </a:lvl3pPr>
            <a:lvl4pPr>
              <a:defRPr sz="1350" b="0">
                <a:solidFill>
                  <a:srgbClr val="D5E5FF"/>
                </a:solidFill>
                <a:latin typeface="Optimistic VF Medium"/>
                <a:ea typeface="Optimistic VF Medium"/>
                <a:cs typeface="Optimistic VF Medium"/>
              </a:defRPr>
            </a:lvl4pPr>
            <a:lvl5pPr>
              <a:defRPr sz="1350" b="0">
                <a:solidFill>
                  <a:srgbClr val="D5E5FF"/>
                </a:solidFill>
                <a:latin typeface="Optimistic VF Medium"/>
                <a:ea typeface="Optimistic VF Medium"/>
                <a:cs typeface="Optimistic VF Medium"/>
              </a:defRPr>
            </a:lvl5pPr>
            <a:lvl6pPr>
              <a:defRPr sz="1350" b="0">
                <a:solidFill>
                  <a:srgbClr val="D5E5FF"/>
                </a:solidFill>
                <a:latin typeface="Optimistic VF Medium"/>
                <a:ea typeface="Optimistic VF Medium"/>
                <a:cs typeface="Optimistic VF Medium"/>
              </a:defRPr>
            </a:lvl6pPr>
            <a:lvl7pPr>
              <a:defRPr sz="1350" b="0">
                <a:solidFill>
                  <a:srgbClr val="D5E5FF"/>
                </a:solidFill>
                <a:latin typeface="Optimistic VF Medium"/>
                <a:ea typeface="Optimistic VF Medium"/>
                <a:cs typeface="Optimistic VF Medium"/>
              </a:defRPr>
            </a:lvl7pPr>
            <a:lvl8pPr>
              <a:defRPr sz="1350" b="0">
                <a:solidFill>
                  <a:srgbClr val="D5E5FF"/>
                </a:solidFill>
                <a:latin typeface="Optimistic VF Medium"/>
                <a:ea typeface="Optimistic VF Medium"/>
                <a:cs typeface="Optimistic VF Medium"/>
              </a:defRPr>
            </a:lvl8pPr>
            <a:lvl9pPr>
              <a:defRPr sz="1350" b="0">
                <a:solidFill>
                  <a:srgbClr val="D5E5FF"/>
                </a:solidFill>
                <a:latin typeface="Optimistic VF Medium"/>
                <a:ea typeface="Optimistic VF Medium"/>
                <a:cs typeface="Optimistic VF Medium"/>
              </a:defRPr>
            </a:lvl9pPr>
          </a:lstStyle>
          <a:p xmlns:a="http://schemas.openxmlformats.org/drawingml/2006/main">
            <a:pPr>
              <a:defRPr sz="1350" b="0">
                <a:solidFill>
                  <a:srgbClr val="D5E5FF"/>
                </a:solidFill>
                <a:latin typeface="Optimistic VF Medium"/>
                <a:ea typeface="Optimistic VF Medium"/>
                <a:cs typeface="Optimistic VF Medium"/>
              </a:defRPr>
            </a:pPr>
            <a:r>
              <a:rPr sz="1350" b="0">
                <a:solidFill>
                  <a:srgbClr val="D5E5FF"/>
                </a:solidFill>
                <a:latin typeface="Optimistic VF Medium"/>
                <a:ea typeface="Optimistic VF Medium"/>
                <a:cs typeface="Optimistic VF Medium"/>
              </a:rPr>
              <a:t>META’S CHALLENGE</a:t>
            </a:r>
          </a:p>
        </p:txBody>
      </p:sp>
      <p:sp>
        <p:nvSpPr>
          <p:cNvPr id="3" name="">
            <a:extLst xmlns:a="http://schemas.openxmlformats.org/drawingml/2006/main">
              <a:ext uri="{FF2B5EF4-FFF2-40B4-BE49-F238E27FC236}">
                <a16:creationId xmlns:a16="http://schemas.microsoft.com/office/drawing/2014/main" id="{56B5743D-CDC2-418C-9C60-981063003A79}"/>
              </a:ext>
            </a:extLst>
          </p:cNvPr>
          <p:cNvSpPr>
            <a:spLocks xmlns:a="http://schemas.openxmlformats.org/drawingml/2006/main" noGrp="1"/>
          </p:cNvSpPr>
          <p:nvPr/>
        </p:nvSpPr>
        <p:spPr>
          <a:xfrm xmlns:a="http://schemas.openxmlformats.org/drawingml/2006/main">
            <a:off x="609600" y="95250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75" b="1">
                <a:solidFill>
                  <a:srgbClr val="FFFFFF"/>
                </a:solidFill>
                <a:latin typeface="Optimistic VF"/>
                <a:ea typeface="Optimistic VF"/>
                <a:cs typeface="Optimistic VF"/>
              </a:defRPr>
            </a:defPPr>
            <a:lvl1pPr>
              <a:defRPr sz="3675" b="1">
                <a:solidFill>
                  <a:srgbClr val="FFFFFF"/>
                </a:solidFill>
                <a:latin typeface="Optimistic VF"/>
                <a:ea typeface="Optimistic VF"/>
                <a:cs typeface="Optimistic VF"/>
              </a:defRPr>
            </a:lvl1pPr>
            <a:lvl2pPr>
              <a:defRPr sz="3675" b="1">
                <a:solidFill>
                  <a:srgbClr val="FFFFFF"/>
                </a:solidFill>
                <a:latin typeface="Optimistic VF"/>
                <a:ea typeface="Optimistic VF"/>
                <a:cs typeface="Optimistic VF"/>
              </a:defRPr>
            </a:lvl2pPr>
            <a:lvl3pPr>
              <a:defRPr sz="3675" b="1">
                <a:solidFill>
                  <a:srgbClr val="FFFFFF"/>
                </a:solidFill>
                <a:latin typeface="Optimistic VF"/>
                <a:ea typeface="Optimistic VF"/>
                <a:cs typeface="Optimistic VF"/>
              </a:defRPr>
            </a:lvl3pPr>
            <a:lvl4pPr>
              <a:defRPr sz="3675" b="1">
                <a:solidFill>
                  <a:srgbClr val="FFFFFF"/>
                </a:solidFill>
                <a:latin typeface="Optimistic VF"/>
                <a:ea typeface="Optimistic VF"/>
                <a:cs typeface="Optimistic VF"/>
              </a:defRPr>
            </a:lvl4pPr>
            <a:lvl5pPr>
              <a:defRPr sz="3675" b="1">
                <a:solidFill>
                  <a:srgbClr val="FFFFFF"/>
                </a:solidFill>
                <a:latin typeface="Optimistic VF"/>
                <a:ea typeface="Optimistic VF"/>
                <a:cs typeface="Optimistic VF"/>
              </a:defRPr>
            </a:lvl5pPr>
            <a:lvl6pPr>
              <a:defRPr sz="3675" b="1">
                <a:solidFill>
                  <a:srgbClr val="FFFFFF"/>
                </a:solidFill>
                <a:latin typeface="Optimistic VF"/>
                <a:ea typeface="Optimistic VF"/>
                <a:cs typeface="Optimistic VF"/>
              </a:defRPr>
            </a:lvl6pPr>
            <a:lvl7pPr>
              <a:defRPr sz="3675" b="1">
                <a:solidFill>
                  <a:srgbClr val="FFFFFF"/>
                </a:solidFill>
                <a:latin typeface="Optimistic VF"/>
                <a:ea typeface="Optimistic VF"/>
                <a:cs typeface="Optimistic VF"/>
              </a:defRPr>
            </a:lvl7pPr>
            <a:lvl8pPr>
              <a:defRPr sz="3675" b="1">
                <a:solidFill>
                  <a:srgbClr val="FFFFFF"/>
                </a:solidFill>
                <a:latin typeface="Optimistic VF"/>
                <a:ea typeface="Optimistic VF"/>
                <a:cs typeface="Optimistic VF"/>
              </a:defRPr>
            </a:lvl8pPr>
            <a:lvl9pPr>
              <a:defRPr sz="3675" b="1">
                <a:solidFill>
                  <a:srgbClr val="FFFFFF"/>
                </a:solidFill>
                <a:latin typeface="Optimistic VF"/>
                <a:ea typeface="Optimistic VF"/>
                <a:cs typeface="Optimistic VF"/>
              </a:defRPr>
            </a:lvl9pPr>
          </a:lstStyle>
          <a:p xmlns:a="http://schemas.openxmlformats.org/drawingml/2006/main">
            <a:pPr>
              <a:defRPr sz="3675" b="1">
                <a:solidFill>
                  <a:srgbClr val="FFFFFF"/>
                </a:solidFill>
                <a:latin typeface="Optimistic VF"/>
                <a:ea typeface="Optimistic VF"/>
                <a:cs typeface="Optimistic VF"/>
              </a:defRPr>
            </a:pPr>
            <a:r>
              <a:rPr sz="3675" b="1">
                <a:solidFill>
                  <a:srgbClr val="FFFFFF"/>
                </a:solidFill>
                <a:latin typeface="Optimistic VF"/>
                <a:ea typeface="Optimistic VF"/>
                <a:cs typeface="Optimistic VF"/>
              </a:rPr>
              <a:t>Bring people closer together with AI</a:t>
            </a:r>
          </a:p>
        </p:txBody>
      </p:sp>
      <p:sp>
        <p:nvSpPr>
          <p:cNvPr id="4" name="">
            <a:extLst xmlns:a="http://schemas.openxmlformats.org/drawingml/2006/main">
              <a:ext uri="{FF2B5EF4-FFF2-40B4-BE49-F238E27FC236}">
                <a16:creationId xmlns:a16="http://schemas.microsoft.com/office/drawing/2014/main" id="{FA2F76C2-9E06-4600-A45C-D4C827052725}"/>
              </a:ext>
            </a:extLst>
          </p:cNvPr>
          <p:cNvSpPr>
            <a:spLocks xmlns:a="http://schemas.openxmlformats.org/drawingml/2006/main" noGrp="1"/>
          </p:cNvSpPr>
          <p:nvPr/>
        </p:nvSpPr>
        <p:spPr>
          <a:xfrm xmlns:a="http://schemas.openxmlformats.org/drawingml/2006/main">
            <a:off x="647700" y="2057400"/>
            <a:ext cx="10810875"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FFFFFF"/>
                </a:solidFill>
                <a:latin typeface="Optimistic VF"/>
                <a:ea typeface="Optimistic VF"/>
                <a:cs typeface="Optimistic VF"/>
              </a:defRPr>
            </a:defPPr>
            <a:lvl1pPr>
              <a:defRPr sz="2250" b="0">
                <a:solidFill>
                  <a:srgbClr val="FFFFFF"/>
                </a:solidFill>
                <a:latin typeface="Optimistic VF"/>
                <a:ea typeface="Optimistic VF"/>
                <a:cs typeface="Optimistic VF"/>
              </a:defRPr>
            </a:lvl1pPr>
            <a:lvl2pPr>
              <a:defRPr sz="2250" b="0">
                <a:solidFill>
                  <a:srgbClr val="FFFFFF"/>
                </a:solidFill>
                <a:latin typeface="Optimistic VF"/>
                <a:ea typeface="Optimistic VF"/>
                <a:cs typeface="Optimistic VF"/>
              </a:defRPr>
            </a:lvl2pPr>
            <a:lvl3pPr>
              <a:defRPr sz="2250" b="0">
                <a:solidFill>
                  <a:srgbClr val="FFFFFF"/>
                </a:solidFill>
                <a:latin typeface="Optimistic VF"/>
                <a:ea typeface="Optimistic VF"/>
                <a:cs typeface="Optimistic VF"/>
              </a:defRPr>
            </a:lvl3pPr>
            <a:lvl4pPr>
              <a:defRPr sz="2250" b="0">
                <a:solidFill>
                  <a:srgbClr val="FFFFFF"/>
                </a:solidFill>
                <a:latin typeface="Optimistic VF"/>
                <a:ea typeface="Optimistic VF"/>
                <a:cs typeface="Optimistic VF"/>
              </a:defRPr>
            </a:lvl4pPr>
            <a:lvl5pPr>
              <a:defRPr sz="2250" b="0">
                <a:solidFill>
                  <a:srgbClr val="FFFFFF"/>
                </a:solidFill>
                <a:latin typeface="Optimistic VF"/>
                <a:ea typeface="Optimistic VF"/>
                <a:cs typeface="Optimistic VF"/>
              </a:defRPr>
            </a:lvl5pPr>
            <a:lvl6pPr>
              <a:defRPr sz="2250" b="0">
                <a:solidFill>
                  <a:srgbClr val="FFFFFF"/>
                </a:solidFill>
                <a:latin typeface="Optimistic VF"/>
                <a:ea typeface="Optimistic VF"/>
                <a:cs typeface="Optimistic VF"/>
              </a:defRPr>
            </a:lvl6pPr>
            <a:lvl7pPr>
              <a:defRPr sz="2250" b="0">
                <a:solidFill>
                  <a:srgbClr val="FFFFFF"/>
                </a:solidFill>
                <a:latin typeface="Optimistic VF"/>
                <a:ea typeface="Optimistic VF"/>
                <a:cs typeface="Optimistic VF"/>
              </a:defRPr>
            </a:lvl7pPr>
            <a:lvl8pPr>
              <a:defRPr sz="2250" b="0">
                <a:solidFill>
                  <a:srgbClr val="FFFFFF"/>
                </a:solidFill>
                <a:latin typeface="Optimistic VF"/>
                <a:ea typeface="Optimistic VF"/>
                <a:cs typeface="Optimistic VF"/>
              </a:defRPr>
            </a:lvl8pPr>
            <a:lvl9pPr>
              <a:defRPr sz="2250" b="0">
                <a:solidFill>
                  <a:srgbClr val="FFFFFF"/>
                </a:solidFill>
                <a:latin typeface="Optimistic VF"/>
                <a:ea typeface="Optimistic VF"/>
                <a:cs typeface="Optimistic VF"/>
              </a:defRPr>
            </a:lvl9pPr>
          </a:lstStyle>
          <a:p xmlns:a="http://schemas.openxmlformats.org/drawingml/2006/main">
            <a:pPr>
              <a:defRPr sz="2250" b="0">
                <a:solidFill>
                  <a:srgbClr val="FFFFFF"/>
                </a:solidFill>
                <a:latin typeface="Optimistic VF"/>
                <a:ea typeface="Optimistic VF"/>
                <a:cs typeface="Optimistic VF"/>
              </a:defRPr>
            </a:pPr>
            <a:r>
              <a:rPr sz="2250" b="0">
                <a:solidFill>
                  <a:srgbClr val="FFFFFF"/>
                </a:solidFill>
                <a:latin typeface="Optimistic VF"/>
                <a:ea typeface="Optimistic VF"/>
                <a:cs typeface="Optimistic VF"/>
              </a:rPr>
              <a:t>“Build the AI-powered social product you wish existed, or one that helps strengthen connections you care about in new ways.”</a:t>
            </a:r>
          </a:p>
        </p:txBody>
      </p:sp>
      <p:sp>
        <p:nvSpPr>
          <p:cNvPr id="5" name="">
            <a:extLst xmlns:a="http://schemas.openxmlformats.org/drawingml/2006/main">
              <a:ext uri="{FF2B5EF4-FFF2-40B4-BE49-F238E27FC236}">
                <a16:creationId xmlns:a16="http://schemas.microsoft.com/office/drawing/2014/main" id="{3EC5A689-20B4-4797-8E01-0B673361AC53}"/>
              </a:ext>
            </a:extLst>
          </p:cNvPr>
          <p:cNvSpPr>
            <a:spLocks xmlns:a="http://schemas.openxmlformats.org/drawingml/2006/main" noGrp="1"/>
          </p:cNvSpPr>
          <p:nvPr/>
        </p:nvSpPr>
        <p:spPr>
          <a:xfrm xmlns:a="http://schemas.openxmlformats.org/drawingml/2006/main">
            <a:off x="647700" y="3714750"/>
            <a:ext cx="10858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D5E5FF"/>
                </a:solidFill>
                <a:latin typeface="Optimistic VF Medium"/>
                <a:ea typeface="Optimistic VF Medium"/>
                <a:cs typeface="Optimistic VF Medium"/>
              </a:defRPr>
            </a:defPPr>
            <a:lvl1pPr>
              <a:defRPr sz="1350" b="0">
                <a:solidFill>
                  <a:srgbClr val="D5E5FF"/>
                </a:solidFill>
                <a:latin typeface="Optimistic VF Medium"/>
                <a:ea typeface="Optimistic VF Medium"/>
                <a:cs typeface="Optimistic VF Medium"/>
              </a:defRPr>
            </a:lvl1pPr>
            <a:lvl2pPr>
              <a:defRPr sz="1350" b="0">
                <a:solidFill>
                  <a:srgbClr val="D5E5FF"/>
                </a:solidFill>
                <a:latin typeface="Optimistic VF Medium"/>
                <a:ea typeface="Optimistic VF Medium"/>
                <a:cs typeface="Optimistic VF Medium"/>
              </a:defRPr>
            </a:lvl2pPr>
            <a:lvl3pPr>
              <a:defRPr sz="1350" b="0">
                <a:solidFill>
                  <a:srgbClr val="D5E5FF"/>
                </a:solidFill>
                <a:latin typeface="Optimistic VF Medium"/>
                <a:ea typeface="Optimistic VF Medium"/>
                <a:cs typeface="Optimistic VF Medium"/>
              </a:defRPr>
            </a:lvl3pPr>
            <a:lvl4pPr>
              <a:defRPr sz="1350" b="0">
                <a:solidFill>
                  <a:srgbClr val="D5E5FF"/>
                </a:solidFill>
                <a:latin typeface="Optimistic VF Medium"/>
                <a:ea typeface="Optimistic VF Medium"/>
                <a:cs typeface="Optimistic VF Medium"/>
              </a:defRPr>
            </a:lvl4pPr>
            <a:lvl5pPr>
              <a:defRPr sz="1350" b="0">
                <a:solidFill>
                  <a:srgbClr val="D5E5FF"/>
                </a:solidFill>
                <a:latin typeface="Optimistic VF Medium"/>
                <a:ea typeface="Optimistic VF Medium"/>
                <a:cs typeface="Optimistic VF Medium"/>
              </a:defRPr>
            </a:lvl5pPr>
            <a:lvl6pPr>
              <a:defRPr sz="1350" b="0">
                <a:solidFill>
                  <a:srgbClr val="D5E5FF"/>
                </a:solidFill>
                <a:latin typeface="Optimistic VF Medium"/>
                <a:ea typeface="Optimistic VF Medium"/>
                <a:cs typeface="Optimistic VF Medium"/>
              </a:defRPr>
            </a:lvl6pPr>
            <a:lvl7pPr>
              <a:defRPr sz="1350" b="0">
                <a:solidFill>
                  <a:srgbClr val="D5E5FF"/>
                </a:solidFill>
                <a:latin typeface="Optimistic VF Medium"/>
                <a:ea typeface="Optimistic VF Medium"/>
                <a:cs typeface="Optimistic VF Medium"/>
              </a:defRPr>
            </a:lvl7pPr>
            <a:lvl8pPr>
              <a:defRPr sz="1350" b="0">
                <a:solidFill>
                  <a:srgbClr val="D5E5FF"/>
                </a:solidFill>
                <a:latin typeface="Optimistic VF Medium"/>
                <a:ea typeface="Optimistic VF Medium"/>
                <a:cs typeface="Optimistic VF Medium"/>
              </a:defRPr>
            </a:lvl8pPr>
            <a:lvl9pPr>
              <a:defRPr sz="1350" b="0">
                <a:solidFill>
                  <a:srgbClr val="D5E5FF"/>
                </a:solidFill>
                <a:latin typeface="Optimistic VF Medium"/>
                <a:ea typeface="Optimistic VF Medium"/>
                <a:cs typeface="Optimistic VF Medium"/>
              </a:defRPr>
            </a:lvl9pPr>
          </a:lstStyle>
          <a:p xmlns:a="http://schemas.openxmlformats.org/drawingml/2006/main">
            <a:pPr>
              <a:defRPr sz="1350" b="0">
                <a:solidFill>
                  <a:srgbClr val="D5E5FF"/>
                </a:solidFill>
                <a:latin typeface="Optimistic VF Medium"/>
                <a:ea typeface="Optimistic VF Medium"/>
                <a:cs typeface="Optimistic VF Medium"/>
              </a:defRPr>
            </a:pPr>
            <a:r>
              <a:rPr sz="1350" b="0">
                <a:solidFill>
                  <a:srgbClr val="D5E5FF"/>
                </a:solidFill>
                <a:latin typeface="Optimistic VF Medium"/>
                <a:ea typeface="Optimistic VF Medium"/>
                <a:cs typeface="Optimistic VF Medium"/>
              </a:rPr>
              <a:t>THE PROBLEM WE’RE EXPLORING</a:t>
            </a:r>
          </a:p>
        </p:txBody>
      </p:sp>
      <p:sp>
        <p:nvSpPr>
          <p:cNvPr id="6" name="">
            <a:extLst xmlns:a="http://schemas.openxmlformats.org/drawingml/2006/main">
              <a:ext uri="{FF2B5EF4-FFF2-40B4-BE49-F238E27FC236}">
                <a16:creationId xmlns:a16="http://schemas.microsoft.com/office/drawing/2014/main" id="{901A5713-CCAE-4AF6-B3C8-F22B5C904E7C}"/>
              </a:ext>
            </a:extLst>
          </p:cNvPr>
          <p:cNvSpPr>
            <a:spLocks xmlns:a="http://schemas.openxmlformats.org/drawingml/2006/main" noGrp="1"/>
          </p:cNvSpPr>
          <p:nvPr/>
        </p:nvSpPr>
        <p:spPr>
          <a:xfrm xmlns:a="http://schemas.openxmlformats.org/drawingml/2006/main">
            <a:off x="609600" y="4238625"/>
            <a:ext cx="10972800" cy="169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0">
                <a:solidFill>
                  <a:srgbClr val="FFFFFF"/>
                </a:solidFill>
                <a:latin typeface="Optimistic VF Medium"/>
                <a:ea typeface="Optimistic VF Medium"/>
                <a:cs typeface="Optimistic VF Medium"/>
              </a:defRPr>
            </a:defPPr>
            <a:lvl1pPr>
              <a:defRPr sz="2400" b="0">
                <a:solidFill>
                  <a:srgbClr val="FFFFFF"/>
                </a:solidFill>
                <a:latin typeface="Optimistic VF Medium"/>
                <a:ea typeface="Optimistic VF Medium"/>
                <a:cs typeface="Optimistic VF Medium"/>
              </a:defRPr>
            </a:lvl1pPr>
            <a:lvl2pPr>
              <a:defRPr sz="2400" b="0">
                <a:solidFill>
                  <a:srgbClr val="FFFFFF"/>
                </a:solidFill>
                <a:latin typeface="Optimistic VF Medium"/>
                <a:ea typeface="Optimistic VF Medium"/>
                <a:cs typeface="Optimistic VF Medium"/>
              </a:defRPr>
            </a:lvl2pPr>
            <a:lvl3pPr>
              <a:defRPr sz="2400" b="0">
                <a:solidFill>
                  <a:srgbClr val="FFFFFF"/>
                </a:solidFill>
                <a:latin typeface="Optimistic VF Medium"/>
                <a:ea typeface="Optimistic VF Medium"/>
                <a:cs typeface="Optimistic VF Medium"/>
              </a:defRPr>
            </a:lvl3pPr>
            <a:lvl4pPr>
              <a:defRPr sz="2400" b="0">
                <a:solidFill>
                  <a:srgbClr val="FFFFFF"/>
                </a:solidFill>
                <a:latin typeface="Optimistic VF Medium"/>
                <a:ea typeface="Optimistic VF Medium"/>
                <a:cs typeface="Optimistic VF Medium"/>
              </a:defRPr>
            </a:lvl4pPr>
            <a:lvl5pPr>
              <a:defRPr sz="2400" b="0">
                <a:solidFill>
                  <a:srgbClr val="FFFFFF"/>
                </a:solidFill>
                <a:latin typeface="Optimistic VF Medium"/>
                <a:ea typeface="Optimistic VF Medium"/>
                <a:cs typeface="Optimistic VF Medium"/>
              </a:defRPr>
            </a:lvl5pPr>
            <a:lvl6pPr>
              <a:defRPr sz="2400" b="0">
                <a:solidFill>
                  <a:srgbClr val="FFFFFF"/>
                </a:solidFill>
                <a:latin typeface="Optimistic VF Medium"/>
                <a:ea typeface="Optimistic VF Medium"/>
                <a:cs typeface="Optimistic VF Medium"/>
              </a:defRPr>
            </a:lvl6pPr>
            <a:lvl7pPr>
              <a:defRPr sz="2400" b="0">
                <a:solidFill>
                  <a:srgbClr val="FFFFFF"/>
                </a:solidFill>
                <a:latin typeface="Optimistic VF Medium"/>
                <a:ea typeface="Optimistic VF Medium"/>
                <a:cs typeface="Optimistic VF Medium"/>
              </a:defRPr>
            </a:lvl7pPr>
            <a:lvl8pPr>
              <a:defRPr sz="2400" b="0">
                <a:solidFill>
                  <a:srgbClr val="FFFFFF"/>
                </a:solidFill>
                <a:latin typeface="Optimistic VF Medium"/>
                <a:ea typeface="Optimistic VF Medium"/>
                <a:cs typeface="Optimistic VF Medium"/>
              </a:defRPr>
            </a:lvl8pPr>
            <a:lvl9pPr>
              <a:defRPr sz="2400" b="0">
                <a:solidFill>
                  <a:srgbClr val="FFFFFF"/>
                </a:solidFill>
                <a:latin typeface="Optimistic VF Medium"/>
                <a:ea typeface="Optimistic VF Medium"/>
                <a:cs typeface="Optimistic VF Medium"/>
              </a:defRPr>
            </a:lvl9pPr>
          </a:lstStyle>
          <a:p xmlns:a="http://schemas.openxmlformats.org/drawingml/2006/main">
            <a:pPr>
              <a:defRPr sz="2400" b="0">
                <a:solidFill>
                  <a:srgbClr val="FFFFFF"/>
                </a:solidFill>
                <a:latin typeface="Optimistic VF Medium"/>
                <a:ea typeface="Optimistic VF Medium"/>
                <a:cs typeface="Optimistic VF Medium"/>
              </a:defRPr>
            </a:pPr>
            <a:r>
              <a:rPr sz="2400" b="0">
                <a:solidFill>
                  <a:srgbClr val="FFFFFF"/>
                </a:solidFill>
                <a:latin typeface="Optimistic VF Medium"/>
                <a:ea typeface="Optimistic VF Medium"/>
                <a:cs typeface="Optimistic VF Medium"/>
              </a:rPr>
              <a:t>You could love the same music and visit the same places as someone nearby, but never meet them. Spots gives you a way to leave a note, find something in common and start talking.</a:t>
            </a:r>
          </a:p>
        </p:txBody>
      </p:sp>
      <p:sp>
        <p:nvSpPr>
          <p:cNvPr id="7" name="">
            <a:extLst xmlns:a="http://schemas.openxmlformats.org/drawingml/2006/main">
              <a:ext uri="{FF2B5EF4-FFF2-40B4-BE49-F238E27FC236}">
                <a16:creationId xmlns:a16="http://schemas.microsoft.com/office/drawing/2014/main" id="{BFE7E339-458D-422E-8045-F08FD6C12097}"/>
              </a:ext>
            </a:extLst>
          </p:cNvPr>
          <p:cNvSpPr>
            <a:spLocks xmlns:a="http://schemas.openxmlformats.org/drawingml/2006/main" noGrp="1"/>
          </p:cNvSpPr>
          <p:nvPr/>
        </p:nvSpPr>
        <p:spPr>
          <a:xfrm xmlns:a="http://schemas.openxmlformats.org/drawingml/2006/main">
            <a:off x="647700" y="6381750"/>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D5E5FF"/>
                </a:solidFill>
                <a:latin typeface="Optimistic VF"/>
                <a:ea typeface="Optimistic VF"/>
                <a:cs typeface="Optimistic VF"/>
              </a:defRPr>
            </a:defPPr>
            <a:lvl1pPr>
              <a:defRPr sz="1350" b="0">
                <a:solidFill>
                  <a:srgbClr val="D5E5FF"/>
                </a:solidFill>
                <a:latin typeface="Optimistic VF"/>
                <a:ea typeface="Optimistic VF"/>
                <a:cs typeface="Optimistic VF"/>
              </a:defRPr>
            </a:lvl1pPr>
            <a:lvl2pPr>
              <a:defRPr sz="1350" b="0">
                <a:solidFill>
                  <a:srgbClr val="D5E5FF"/>
                </a:solidFill>
                <a:latin typeface="Optimistic VF"/>
                <a:ea typeface="Optimistic VF"/>
                <a:cs typeface="Optimistic VF"/>
              </a:defRPr>
            </a:lvl2pPr>
            <a:lvl3pPr>
              <a:defRPr sz="1350" b="0">
                <a:solidFill>
                  <a:srgbClr val="D5E5FF"/>
                </a:solidFill>
                <a:latin typeface="Optimistic VF"/>
                <a:ea typeface="Optimistic VF"/>
                <a:cs typeface="Optimistic VF"/>
              </a:defRPr>
            </a:lvl3pPr>
            <a:lvl4pPr>
              <a:defRPr sz="1350" b="0">
                <a:solidFill>
                  <a:srgbClr val="D5E5FF"/>
                </a:solidFill>
                <a:latin typeface="Optimistic VF"/>
                <a:ea typeface="Optimistic VF"/>
                <a:cs typeface="Optimistic VF"/>
              </a:defRPr>
            </a:lvl4pPr>
            <a:lvl5pPr>
              <a:defRPr sz="1350" b="0">
                <a:solidFill>
                  <a:srgbClr val="D5E5FF"/>
                </a:solidFill>
                <a:latin typeface="Optimistic VF"/>
                <a:ea typeface="Optimistic VF"/>
                <a:cs typeface="Optimistic VF"/>
              </a:defRPr>
            </a:lvl5pPr>
            <a:lvl6pPr>
              <a:defRPr sz="1350" b="0">
                <a:solidFill>
                  <a:srgbClr val="D5E5FF"/>
                </a:solidFill>
                <a:latin typeface="Optimistic VF"/>
                <a:ea typeface="Optimistic VF"/>
                <a:cs typeface="Optimistic VF"/>
              </a:defRPr>
            </a:lvl6pPr>
            <a:lvl7pPr>
              <a:defRPr sz="1350" b="0">
                <a:solidFill>
                  <a:srgbClr val="D5E5FF"/>
                </a:solidFill>
                <a:latin typeface="Optimistic VF"/>
                <a:ea typeface="Optimistic VF"/>
                <a:cs typeface="Optimistic VF"/>
              </a:defRPr>
            </a:lvl7pPr>
            <a:lvl8pPr>
              <a:defRPr sz="1350" b="0">
                <a:solidFill>
                  <a:srgbClr val="D5E5FF"/>
                </a:solidFill>
                <a:latin typeface="Optimistic VF"/>
                <a:ea typeface="Optimistic VF"/>
                <a:cs typeface="Optimistic VF"/>
              </a:defRPr>
            </a:lvl8pPr>
            <a:lvl9pPr>
              <a:defRPr sz="1350" b="0">
                <a:solidFill>
                  <a:srgbClr val="D5E5FF"/>
                </a:solidFill>
                <a:latin typeface="Optimistic VF"/>
                <a:ea typeface="Optimistic VF"/>
                <a:cs typeface="Optimistic VF"/>
              </a:defRPr>
            </a:lvl9pPr>
          </a:lstStyle>
          <a:p xmlns:a="http://schemas.openxmlformats.org/drawingml/2006/main">
            <a:pPr>
              <a:defRPr sz="1350" b="0">
                <a:solidFill>
                  <a:srgbClr val="D5E5FF"/>
                </a:solidFill>
                <a:latin typeface="Optimistic VF"/>
                <a:ea typeface="Optimistic VF"/>
                <a:cs typeface="Optimistic VF"/>
              </a:defRPr>
            </a:pPr>
            <a:r>
              <a:rPr sz="1350" b="0">
                <a:solidFill>
                  <a:srgbClr val="D5E5FF"/>
                </a:solidFill>
                <a:latin typeface="Optimistic VF"/>
                <a:ea typeface="Optimistic VF"/>
                <a:cs typeface="Optimistic VF"/>
              </a:rPr>
              <a:t>Source: Meta track brief, page 1. We’re starting with the places and things people share.</a:t>
            </a:r>
          </a:p>
        </p:txBody>
      </p:sp>
    </p:spTree>
    <p:extLst>
      <p:ext uri="{BB962C8B-B14F-4D97-AF65-F5344CB8AC3E}">
        <p14:creationId xmlns:p14="http://schemas.microsoft.com/office/powerpoint/2010/main" val="208029450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E4528DC9-95E4-40EF-BA15-B3F85BCE0C6C}"/>
              </a:ext>
            </a:extLst>
          </p:cNvPr>
          <p:cNvSpPr>
            <a:spLocks xmlns:a="http://schemas.openxmlformats.org/drawingml/2006/main" noGrp="1"/>
          </p:cNvSpPr>
          <p:nvPr/>
        </p:nvSpPr>
        <p:spPr>
          <a:xfrm xmlns:a="http://schemas.openxmlformats.org/drawingml/2006/main">
            <a:off x="609600" y="523875"/>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75" b="0">
                <a:solidFill>
                  <a:srgbClr val="142D38"/>
                </a:solidFill>
                <a:latin typeface="Optimistic VF Medium"/>
                <a:ea typeface="Optimistic VF Medium"/>
                <a:cs typeface="Optimistic VF Medium"/>
              </a:defRPr>
            </a:defPPr>
            <a:lvl1pPr>
              <a:defRPr sz="3675" b="0">
                <a:solidFill>
                  <a:srgbClr val="142D38"/>
                </a:solidFill>
                <a:latin typeface="Optimistic VF Medium"/>
                <a:ea typeface="Optimistic VF Medium"/>
                <a:cs typeface="Optimistic VF Medium"/>
              </a:defRPr>
            </a:lvl1pPr>
            <a:lvl2pPr>
              <a:defRPr sz="3675" b="0">
                <a:solidFill>
                  <a:srgbClr val="142D38"/>
                </a:solidFill>
                <a:latin typeface="Optimistic VF Medium"/>
                <a:ea typeface="Optimistic VF Medium"/>
                <a:cs typeface="Optimistic VF Medium"/>
              </a:defRPr>
            </a:lvl2pPr>
            <a:lvl3pPr>
              <a:defRPr sz="3675" b="0">
                <a:solidFill>
                  <a:srgbClr val="142D38"/>
                </a:solidFill>
                <a:latin typeface="Optimistic VF Medium"/>
                <a:ea typeface="Optimistic VF Medium"/>
                <a:cs typeface="Optimistic VF Medium"/>
              </a:defRPr>
            </a:lvl3pPr>
            <a:lvl4pPr>
              <a:defRPr sz="3675" b="0">
                <a:solidFill>
                  <a:srgbClr val="142D38"/>
                </a:solidFill>
                <a:latin typeface="Optimistic VF Medium"/>
                <a:ea typeface="Optimistic VF Medium"/>
                <a:cs typeface="Optimistic VF Medium"/>
              </a:defRPr>
            </a:lvl4pPr>
            <a:lvl5pPr>
              <a:defRPr sz="3675" b="0">
                <a:solidFill>
                  <a:srgbClr val="142D38"/>
                </a:solidFill>
                <a:latin typeface="Optimistic VF Medium"/>
                <a:ea typeface="Optimistic VF Medium"/>
                <a:cs typeface="Optimistic VF Medium"/>
              </a:defRPr>
            </a:lvl5pPr>
            <a:lvl6pPr>
              <a:defRPr sz="3675" b="0">
                <a:solidFill>
                  <a:srgbClr val="142D38"/>
                </a:solidFill>
                <a:latin typeface="Optimistic VF Medium"/>
                <a:ea typeface="Optimistic VF Medium"/>
                <a:cs typeface="Optimistic VF Medium"/>
              </a:defRPr>
            </a:lvl6pPr>
            <a:lvl7pPr>
              <a:defRPr sz="3675" b="0">
                <a:solidFill>
                  <a:srgbClr val="142D38"/>
                </a:solidFill>
                <a:latin typeface="Optimistic VF Medium"/>
                <a:ea typeface="Optimistic VF Medium"/>
                <a:cs typeface="Optimistic VF Medium"/>
              </a:defRPr>
            </a:lvl7pPr>
            <a:lvl8pPr>
              <a:defRPr sz="3675" b="0">
                <a:solidFill>
                  <a:srgbClr val="142D38"/>
                </a:solidFill>
                <a:latin typeface="Optimistic VF Medium"/>
                <a:ea typeface="Optimistic VF Medium"/>
                <a:cs typeface="Optimistic VF Medium"/>
              </a:defRPr>
            </a:lvl8pPr>
            <a:lvl9pPr>
              <a:defRPr sz="3675" b="0">
                <a:solidFill>
                  <a:srgbClr val="142D38"/>
                </a:solidFill>
                <a:latin typeface="Optimistic VF Medium"/>
                <a:ea typeface="Optimistic VF Medium"/>
                <a:cs typeface="Optimistic VF Medium"/>
              </a:defRPr>
            </a:lvl9pPr>
          </a:lstStyle>
          <a:p xmlns:a="http://schemas.openxmlformats.org/drawingml/2006/main">
            <a:pPr>
              <a:defRPr sz="3675" b="0">
                <a:solidFill>
                  <a:srgbClr val="142D38"/>
                </a:solidFill>
                <a:latin typeface="Optimistic VF Medium"/>
                <a:ea typeface="Optimistic VF Medium"/>
                <a:cs typeface="Optimistic VF Medium"/>
              </a:defRPr>
            </a:pPr>
            <a:r>
              <a:rPr sz="3675" b="0">
                <a:solidFill>
                  <a:srgbClr val="142D38"/>
                </a:solidFill>
                <a:latin typeface="Optimistic VF Medium"/>
                <a:ea typeface="Optimistic VF Medium"/>
                <a:cs typeface="Optimistic VF Medium"/>
              </a:rPr>
              <a:t>How Spots works</a:t>
            </a:r>
          </a:p>
        </p:txBody>
      </p:sp>
      <p:sp>
        <p:nvSpPr>
          <p:cNvPr id="3" name="">
            <a:extLst xmlns:a="http://schemas.openxmlformats.org/drawingml/2006/main">
              <a:ext uri="{FF2B5EF4-FFF2-40B4-BE49-F238E27FC236}">
                <a16:creationId xmlns:a16="http://schemas.microsoft.com/office/drawing/2014/main" id="{9031A66A-AF94-433F-BC24-ECAEDB82D606}"/>
              </a:ext>
            </a:extLst>
          </p:cNvPr>
          <p:cNvSpPr>
            <a:spLocks xmlns:a="http://schemas.openxmlformats.org/drawingml/2006/main" noGrp="1"/>
          </p:cNvSpPr>
          <p:nvPr/>
        </p:nvSpPr>
        <p:spPr>
          <a:xfrm xmlns:a="http://schemas.openxmlformats.org/drawingml/2006/main">
            <a:off x="647700" y="1476375"/>
            <a:ext cx="10887075" cy="1495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4C6571"/>
                </a:solidFill>
                <a:latin typeface="Optimistic VF"/>
                <a:ea typeface="Optimistic VF"/>
                <a:cs typeface="Optimistic VF"/>
              </a:defRPr>
            </a:defPPr>
            <a:lvl1pPr>
              <a:defRPr sz="2100" b="0">
                <a:solidFill>
                  <a:srgbClr val="4C6571"/>
                </a:solidFill>
                <a:latin typeface="Optimistic VF"/>
                <a:ea typeface="Optimistic VF"/>
                <a:cs typeface="Optimistic VF"/>
              </a:defRPr>
            </a:lvl1pPr>
            <a:lvl2pPr>
              <a:defRPr sz="2100" b="0">
                <a:solidFill>
                  <a:srgbClr val="4C6571"/>
                </a:solidFill>
                <a:latin typeface="Optimistic VF"/>
                <a:ea typeface="Optimistic VF"/>
                <a:cs typeface="Optimistic VF"/>
              </a:defRPr>
            </a:lvl2pPr>
            <a:lvl3pPr>
              <a:defRPr sz="2100" b="0">
                <a:solidFill>
                  <a:srgbClr val="4C6571"/>
                </a:solidFill>
                <a:latin typeface="Optimistic VF"/>
                <a:ea typeface="Optimistic VF"/>
                <a:cs typeface="Optimistic VF"/>
              </a:defRPr>
            </a:lvl3pPr>
            <a:lvl4pPr>
              <a:defRPr sz="2100" b="0">
                <a:solidFill>
                  <a:srgbClr val="4C6571"/>
                </a:solidFill>
                <a:latin typeface="Optimistic VF"/>
                <a:ea typeface="Optimistic VF"/>
                <a:cs typeface="Optimistic VF"/>
              </a:defRPr>
            </a:lvl4pPr>
            <a:lvl5pPr>
              <a:defRPr sz="2100" b="0">
                <a:solidFill>
                  <a:srgbClr val="4C6571"/>
                </a:solidFill>
                <a:latin typeface="Optimistic VF"/>
                <a:ea typeface="Optimistic VF"/>
                <a:cs typeface="Optimistic VF"/>
              </a:defRPr>
            </a:lvl5pPr>
            <a:lvl6pPr>
              <a:defRPr sz="2100" b="0">
                <a:solidFill>
                  <a:srgbClr val="4C6571"/>
                </a:solidFill>
                <a:latin typeface="Optimistic VF"/>
                <a:ea typeface="Optimistic VF"/>
                <a:cs typeface="Optimistic VF"/>
              </a:defRPr>
            </a:lvl6pPr>
            <a:lvl7pPr>
              <a:defRPr sz="2100" b="0">
                <a:solidFill>
                  <a:srgbClr val="4C6571"/>
                </a:solidFill>
                <a:latin typeface="Optimistic VF"/>
                <a:ea typeface="Optimistic VF"/>
                <a:cs typeface="Optimistic VF"/>
              </a:defRPr>
            </a:lvl7pPr>
            <a:lvl8pPr>
              <a:defRPr sz="2100" b="0">
                <a:solidFill>
                  <a:srgbClr val="4C6571"/>
                </a:solidFill>
                <a:latin typeface="Optimistic VF"/>
                <a:ea typeface="Optimistic VF"/>
                <a:cs typeface="Optimistic VF"/>
              </a:defRPr>
            </a:lvl8pPr>
            <a:lvl9pPr>
              <a:defRPr sz="2100" b="0">
                <a:solidFill>
                  <a:srgbClr val="4C6571"/>
                </a:solidFill>
                <a:latin typeface="Optimistic VF"/>
                <a:ea typeface="Optimistic VF"/>
                <a:cs typeface="Optimistic VF"/>
              </a:defRPr>
            </a:lvl9pPr>
          </a:lstStyle>
          <a:p xmlns:a="http://schemas.openxmlformats.org/drawingml/2006/main">
            <a:pPr>
              <a:defRPr sz="2100" b="0">
                <a:solidFill>
                  <a:srgbClr val="4C6571"/>
                </a:solidFill>
                <a:latin typeface="Optimistic VF"/>
                <a:ea typeface="Optimistic VF"/>
                <a:cs typeface="Optimistic VF"/>
              </a:defRPr>
            </a:pPr>
            <a:r>
              <a:rPr sz="2100" b="0">
                <a:solidFill>
                  <a:srgbClr val="4C6571"/>
                </a:solidFill>
                <a:latin typeface="Optimistic VF"/>
                <a:ea typeface="Optimistic VF"/>
                <a:cs typeface="Optimistic VF"/>
              </a:rPr>
              <a:t>Leave a note on a spot we’ve added to Spots, like this poster. Someone else can look at it through their glasses, find your note and reply by voice. For this demo, our Instagram-style mock shows what you’d see through the glasses.</a:t>
            </a:r>
          </a:p>
        </p:txBody>
      </p:sp>
      <p:sp>
        <p:nvSpPr>
          <p:cNvPr id="4" name="">
            <a:extLst xmlns:a="http://schemas.openxmlformats.org/drawingml/2006/main">
              <a:ext uri="{FF2B5EF4-FFF2-40B4-BE49-F238E27FC236}">
                <a16:creationId xmlns:a16="http://schemas.microsoft.com/office/drawing/2014/main" id="{B5086D9B-1822-4E5D-9E7F-A26BB74050C3}"/>
              </a:ext>
            </a:extLst>
          </p:cNvPr>
          <p:cNvSpPr>
            <a:spLocks xmlns:a="http://schemas.openxmlformats.org/drawingml/2006/main" noGrp="1"/>
          </p:cNvSpPr>
          <p:nvPr/>
        </p:nvSpPr>
        <p:spPr>
          <a:xfrm xmlns:a="http://schemas.openxmlformats.org/drawingml/2006/main">
            <a:off x="619125" y="3114675"/>
            <a:ext cx="4572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142D38"/>
                </a:solidFill>
                <a:latin typeface="Optimistic VF Medium"/>
                <a:ea typeface="Optimistic VF Medium"/>
                <a:cs typeface="Optimistic VF Medium"/>
              </a:defRPr>
            </a:defPPr>
            <a:lvl1pPr>
              <a:defRPr sz="1575" b="0">
                <a:solidFill>
                  <a:srgbClr val="142D38"/>
                </a:solidFill>
                <a:latin typeface="Optimistic VF Medium"/>
                <a:ea typeface="Optimistic VF Medium"/>
                <a:cs typeface="Optimistic VF Medium"/>
              </a:defRPr>
            </a:lvl1pPr>
            <a:lvl2pPr>
              <a:defRPr sz="1575" b="0">
                <a:solidFill>
                  <a:srgbClr val="142D38"/>
                </a:solidFill>
                <a:latin typeface="Optimistic VF Medium"/>
                <a:ea typeface="Optimistic VF Medium"/>
                <a:cs typeface="Optimistic VF Medium"/>
              </a:defRPr>
            </a:lvl2pPr>
            <a:lvl3pPr>
              <a:defRPr sz="1575" b="0">
                <a:solidFill>
                  <a:srgbClr val="142D38"/>
                </a:solidFill>
                <a:latin typeface="Optimistic VF Medium"/>
                <a:ea typeface="Optimistic VF Medium"/>
                <a:cs typeface="Optimistic VF Medium"/>
              </a:defRPr>
            </a:lvl3pPr>
            <a:lvl4pPr>
              <a:defRPr sz="1575" b="0">
                <a:solidFill>
                  <a:srgbClr val="142D38"/>
                </a:solidFill>
                <a:latin typeface="Optimistic VF Medium"/>
                <a:ea typeface="Optimistic VF Medium"/>
                <a:cs typeface="Optimistic VF Medium"/>
              </a:defRPr>
            </a:lvl4pPr>
            <a:lvl5pPr>
              <a:defRPr sz="1575" b="0">
                <a:solidFill>
                  <a:srgbClr val="142D38"/>
                </a:solidFill>
                <a:latin typeface="Optimistic VF Medium"/>
                <a:ea typeface="Optimistic VF Medium"/>
                <a:cs typeface="Optimistic VF Medium"/>
              </a:defRPr>
            </a:lvl5pPr>
            <a:lvl6pPr>
              <a:defRPr sz="1575" b="0">
                <a:solidFill>
                  <a:srgbClr val="142D38"/>
                </a:solidFill>
                <a:latin typeface="Optimistic VF Medium"/>
                <a:ea typeface="Optimistic VF Medium"/>
                <a:cs typeface="Optimistic VF Medium"/>
              </a:defRPr>
            </a:lvl6pPr>
            <a:lvl7pPr>
              <a:defRPr sz="1575" b="0">
                <a:solidFill>
                  <a:srgbClr val="142D38"/>
                </a:solidFill>
                <a:latin typeface="Optimistic VF Medium"/>
                <a:ea typeface="Optimistic VF Medium"/>
                <a:cs typeface="Optimistic VF Medium"/>
              </a:defRPr>
            </a:lvl7pPr>
            <a:lvl8pPr>
              <a:defRPr sz="1575" b="0">
                <a:solidFill>
                  <a:srgbClr val="142D38"/>
                </a:solidFill>
                <a:latin typeface="Optimistic VF Medium"/>
                <a:ea typeface="Optimistic VF Medium"/>
                <a:cs typeface="Optimistic VF Medium"/>
              </a:defRPr>
            </a:lvl8pPr>
            <a:lvl9pPr>
              <a:defRPr sz="1575" b="0">
                <a:solidFill>
                  <a:srgbClr val="142D38"/>
                </a:solidFill>
                <a:latin typeface="Optimistic VF Medium"/>
                <a:ea typeface="Optimistic VF Medium"/>
                <a:cs typeface="Optimistic VF Medium"/>
              </a:defRPr>
            </a:lvl9pPr>
          </a:lstStyle>
          <a:p xmlns:a="http://schemas.openxmlformats.org/drawingml/2006/main">
            <a:pPr>
              <a:defRPr sz="1575" b="0">
                <a:solidFill>
                  <a:srgbClr val="142D38"/>
                </a:solidFill>
                <a:latin typeface="Optimistic VF Medium"/>
                <a:ea typeface="Optimistic VF Medium"/>
                <a:cs typeface="Optimistic VF Medium"/>
              </a:defRPr>
            </a:pPr>
            <a:r>
              <a:rPr sz="1575" b="0">
                <a:solidFill>
                  <a:srgbClr val="142D38"/>
                </a:solidFill>
                <a:latin typeface="Optimistic VF Medium"/>
                <a:ea typeface="Optimistic VF Medium"/>
                <a:cs typeface="Optimistic VF Medium"/>
              </a:rPr>
              <a:t>What our mock demo shows</a:t>
            </a:r>
          </a:p>
        </p:txBody>
      </p:sp>
      <p:sp>
        <p:nvSpPr>
          <p:cNvPr id="5" name="">
            <a:extLst xmlns:a="http://schemas.openxmlformats.org/drawingml/2006/main">
              <a:ext uri="{FF2B5EF4-FFF2-40B4-BE49-F238E27FC236}">
                <a16:creationId xmlns:a16="http://schemas.microsoft.com/office/drawing/2014/main" id="{34F8F6DF-C7B7-4001-9984-CD91CEC1212E}"/>
              </a:ext>
            </a:extLst>
          </p:cNvPr>
          <p:cNvSpPr>
            <a:spLocks xmlns:a="http://schemas.openxmlformats.org/drawingml/2006/main" noGrp="1"/>
          </p:cNvSpPr>
          <p:nvPr/>
        </p:nvSpPr>
        <p:spPr>
          <a:xfrm xmlns:a="http://schemas.openxmlformats.org/drawingml/2006/main">
            <a:off x="7000875" y="3114675"/>
            <a:ext cx="4572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142D38"/>
                </a:solidFill>
                <a:latin typeface="Optimistic VF Medium"/>
                <a:ea typeface="Optimistic VF Medium"/>
                <a:cs typeface="Optimistic VF Medium"/>
              </a:defRPr>
            </a:defPPr>
            <a:lvl1pPr>
              <a:defRPr sz="1575" b="0">
                <a:solidFill>
                  <a:srgbClr val="142D38"/>
                </a:solidFill>
                <a:latin typeface="Optimistic VF Medium"/>
                <a:ea typeface="Optimistic VF Medium"/>
                <a:cs typeface="Optimistic VF Medium"/>
              </a:defRPr>
            </a:lvl1pPr>
            <a:lvl2pPr>
              <a:defRPr sz="1575" b="0">
                <a:solidFill>
                  <a:srgbClr val="142D38"/>
                </a:solidFill>
                <a:latin typeface="Optimistic VF Medium"/>
                <a:ea typeface="Optimistic VF Medium"/>
                <a:cs typeface="Optimistic VF Medium"/>
              </a:defRPr>
            </a:lvl2pPr>
            <a:lvl3pPr>
              <a:defRPr sz="1575" b="0">
                <a:solidFill>
                  <a:srgbClr val="142D38"/>
                </a:solidFill>
                <a:latin typeface="Optimistic VF Medium"/>
                <a:ea typeface="Optimistic VF Medium"/>
                <a:cs typeface="Optimistic VF Medium"/>
              </a:defRPr>
            </a:lvl3pPr>
            <a:lvl4pPr>
              <a:defRPr sz="1575" b="0">
                <a:solidFill>
                  <a:srgbClr val="142D38"/>
                </a:solidFill>
                <a:latin typeface="Optimistic VF Medium"/>
                <a:ea typeface="Optimistic VF Medium"/>
                <a:cs typeface="Optimistic VF Medium"/>
              </a:defRPr>
            </a:lvl4pPr>
            <a:lvl5pPr>
              <a:defRPr sz="1575" b="0">
                <a:solidFill>
                  <a:srgbClr val="142D38"/>
                </a:solidFill>
                <a:latin typeface="Optimistic VF Medium"/>
                <a:ea typeface="Optimistic VF Medium"/>
                <a:cs typeface="Optimistic VF Medium"/>
              </a:defRPr>
            </a:lvl5pPr>
            <a:lvl6pPr>
              <a:defRPr sz="1575" b="0">
                <a:solidFill>
                  <a:srgbClr val="142D38"/>
                </a:solidFill>
                <a:latin typeface="Optimistic VF Medium"/>
                <a:ea typeface="Optimistic VF Medium"/>
                <a:cs typeface="Optimistic VF Medium"/>
              </a:defRPr>
            </a:lvl6pPr>
            <a:lvl7pPr>
              <a:defRPr sz="1575" b="0">
                <a:solidFill>
                  <a:srgbClr val="142D38"/>
                </a:solidFill>
                <a:latin typeface="Optimistic VF Medium"/>
                <a:ea typeface="Optimistic VF Medium"/>
                <a:cs typeface="Optimistic VF Medium"/>
              </a:defRPr>
            </a:lvl7pPr>
            <a:lvl8pPr>
              <a:defRPr sz="1575" b="0">
                <a:solidFill>
                  <a:srgbClr val="142D38"/>
                </a:solidFill>
                <a:latin typeface="Optimistic VF Medium"/>
                <a:ea typeface="Optimistic VF Medium"/>
                <a:cs typeface="Optimistic VF Medium"/>
              </a:defRPr>
            </a:lvl8pPr>
            <a:lvl9pPr>
              <a:defRPr sz="1575" b="0">
                <a:solidFill>
                  <a:srgbClr val="142D38"/>
                </a:solidFill>
                <a:latin typeface="Optimistic VF Medium"/>
                <a:ea typeface="Optimistic VF Medium"/>
                <a:cs typeface="Optimistic VF Medium"/>
              </a:defRPr>
            </a:lvl9pPr>
          </a:lstStyle>
          <a:p xmlns:a="http://schemas.openxmlformats.org/drawingml/2006/main">
            <a:pPr>
              <a:defRPr sz="1575" b="0">
                <a:solidFill>
                  <a:srgbClr val="142D38"/>
                </a:solidFill>
                <a:latin typeface="Optimistic VF Medium"/>
                <a:ea typeface="Optimistic VF Medium"/>
                <a:cs typeface="Optimistic VF Medium"/>
              </a:defRPr>
            </a:pPr>
            <a:r>
              <a:rPr sz="1575" b="0">
                <a:solidFill>
                  <a:srgbClr val="142D38"/>
                </a:solidFill>
                <a:latin typeface="Optimistic VF Medium"/>
                <a:ea typeface="Optimistic VF Medium"/>
                <a:cs typeface="Optimistic VF Medium"/>
              </a:rPr>
              <a:t>How you’d reply through your glasses</a:t>
            </a:r>
          </a:p>
        </p:txBody>
      </p:sp>
      <p:sp>
        <p:nvSpPr>
          <p:cNvPr id="6" name="">
            <a:extLst xmlns:a="http://schemas.openxmlformats.org/drawingml/2006/main">
              <a:ext uri="{FF2B5EF4-FFF2-40B4-BE49-F238E27FC236}">
                <a16:creationId xmlns:a16="http://schemas.microsoft.com/office/drawing/2014/main" id="{4021EDCB-33C9-4594-8339-C3B3EE7DB2EF}"/>
              </a:ext>
            </a:extLst>
          </p:cNvPr>
          <p:cNvSpPr>
            <a:spLocks xmlns:a="http://schemas.openxmlformats.org/drawingml/2006/main" noGrp="1"/>
          </p:cNvSpPr>
          <p:nvPr/>
        </p:nvSpPr>
        <p:spPr>
          <a:xfrm xmlns:a="http://schemas.openxmlformats.org/drawingml/2006/main">
            <a:off x="619125" y="3457575"/>
            <a:ext cx="4572000" cy="2647950"/>
          </a:xfrm>
          <a:prstGeom xmlns:a="http://schemas.openxmlformats.org/drawingml/2006/main" prst="roundRect">
            <a:avLst>
              <a:gd name="adj" fmla="val 4317"/>
            </a:avLst>
          </a:prstGeom>
          <a:solidFill xmlns:a="http://schemas.openxmlformats.org/drawingml/2006/main">
            <a:srgbClr val="FFFFFF"/>
          </a:solidFill>
          <a:ln xmlns:a="http://schemas.openxmlformats.org/drawingml/2006/main" w="9525">
            <a:solidFill>
              <a:srgbClr val="D2DFE5"/>
            </a:solidFill>
          </a:ln>
        </p:spPr>
      </p:sp>
      <p:sp>
        <p:nvSpPr>
          <p:cNvPr id="7" name="">
            <a:extLst xmlns:a="http://schemas.openxmlformats.org/drawingml/2006/main">
              <a:ext uri="{FF2B5EF4-FFF2-40B4-BE49-F238E27FC236}">
                <a16:creationId xmlns:a16="http://schemas.microsoft.com/office/drawing/2014/main" id="{84187BD2-6B1E-4716-8DEF-77D33C0C0D8A}"/>
              </a:ext>
            </a:extLst>
          </p:cNvPr>
          <p:cNvSpPr>
            <a:spLocks xmlns:a="http://schemas.openxmlformats.org/drawingml/2006/main" noGrp="1"/>
          </p:cNvSpPr>
          <p:nvPr/>
        </p:nvSpPr>
        <p:spPr>
          <a:xfrm xmlns:a="http://schemas.openxmlformats.org/drawingml/2006/main">
            <a:off x="828675" y="3581400"/>
            <a:ext cx="4095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142D38"/>
                </a:solidFill>
                <a:latin typeface="Optimistic VF Medium"/>
                <a:ea typeface="Optimistic VF Medium"/>
                <a:cs typeface="Optimistic VF Medium"/>
              </a:defRPr>
            </a:defPPr>
            <a:lvl1pPr>
              <a:defRPr sz="1650" b="0">
                <a:solidFill>
                  <a:srgbClr val="142D38"/>
                </a:solidFill>
                <a:latin typeface="Optimistic VF Medium"/>
                <a:ea typeface="Optimistic VF Medium"/>
                <a:cs typeface="Optimistic VF Medium"/>
              </a:defRPr>
            </a:lvl1pPr>
            <a:lvl2pPr>
              <a:defRPr sz="1650" b="0">
                <a:solidFill>
                  <a:srgbClr val="142D38"/>
                </a:solidFill>
                <a:latin typeface="Optimistic VF Medium"/>
                <a:ea typeface="Optimistic VF Medium"/>
                <a:cs typeface="Optimistic VF Medium"/>
              </a:defRPr>
            </a:lvl2pPr>
            <a:lvl3pPr>
              <a:defRPr sz="1650" b="0">
                <a:solidFill>
                  <a:srgbClr val="142D38"/>
                </a:solidFill>
                <a:latin typeface="Optimistic VF Medium"/>
                <a:ea typeface="Optimistic VF Medium"/>
                <a:cs typeface="Optimistic VF Medium"/>
              </a:defRPr>
            </a:lvl3pPr>
            <a:lvl4pPr>
              <a:defRPr sz="1650" b="0">
                <a:solidFill>
                  <a:srgbClr val="142D38"/>
                </a:solidFill>
                <a:latin typeface="Optimistic VF Medium"/>
                <a:ea typeface="Optimistic VF Medium"/>
                <a:cs typeface="Optimistic VF Medium"/>
              </a:defRPr>
            </a:lvl4pPr>
            <a:lvl5pPr>
              <a:defRPr sz="1650" b="0">
                <a:solidFill>
                  <a:srgbClr val="142D38"/>
                </a:solidFill>
                <a:latin typeface="Optimistic VF Medium"/>
                <a:ea typeface="Optimistic VF Medium"/>
                <a:cs typeface="Optimistic VF Medium"/>
              </a:defRPr>
            </a:lvl5pPr>
            <a:lvl6pPr>
              <a:defRPr sz="1650" b="0">
                <a:solidFill>
                  <a:srgbClr val="142D38"/>
                </a:solidFill>
                <a:latin typeface="Optimistic VF Medium"/>
                <a:ea typeface="Optimistic VF Medium"/>
                <a:cs typeface="Optimistic VF Medium"/>
              </a:defRPr>
            </a:lvl6pPr>
            <a:lvl7pPr>
              <a:defRPr sz="1650" b="0">
                <a:solidFill>
                  <a:srgbClr val="142D38"/>
                </a:solidFill>
                <a:latin typeface="Optimistic VF Medium"/>
                <a:ea typeface="Optimistic VF Medium"/>
                <a:cs typeface="Optimistic VF Medium"/>
              </a:defRPr>
            </a:lvl7pPr>
            <a:lvl8pPr>
              <a:defRPr sz="1650" b="0">
                <a:solidFill>
                  <a:srgbClr val="142D38"/>
                </a:solidFill>
                <a:latin typeface="Optimistic VF Medium"/>
                <a:ea typeface="Optimistic VF Medium"/>
                <a:cs typeface="Optimistic VF Medium"/>
              </a:defRPr>
            </a:lvl8pPr>
            <a:lvl9pPr>
              <a:defRPr sz="1650" b="0">
                <a:solidFill>
                  <a:srgbClr val="142D38"/>
                </a:solidFill>
                <a:latin typeface="Optimistic VF Medium"/>
                <a:ea typeface="Optimistic VF Medium"/>
                <a:cs typeface="Optimistic VF Medium"/>
              </a:defRPr>
            </a:lvl9pPr>
          </a:lstStyle>
          <a:p xmlns:a="http://schemas.openxmlformats.org/drawingml/2006/main">
            <a:pPr>
              <a:defRPr sz="1650" b="0">
                <a:solidFill>
                  <a:srgbClr val="142D38"/>
                </a:solidFill>
                <a:latin typeface="Optimistic VF Medium"/>
                <a:ea typeface="Optimistic VF Medium"/>
                <a:cs typeface="Optimistic VF Medium"/>
              </a:defRPr>
            </a:pPr>
            <a:r>
              <a:rPr sz="1650" b="0">
                <a:solidFill>
                  <a:srgbClr val="142D38"/>
                </a:solidFill>
                <a:latin typeface="Optimistic VF Medium"/>
                <a:ea typeface="Optimistic VF Medium"/>
                <a:cs typeface="Optimistic VF Medium"/>
              </a:rPr>
              <a:t>Maya</a:t>
            </a:r>
          </a:p>
        </p:txBody>
      </p:sp>
      <p:pic>
        <p:nvPicPr>
          <p:cNvPr id="8" name="">
            <a:extLst xmlns:a="http://schemas.openxmlformats.org/drawingml/2006/main">
              <a:ext uri="{FF2B5EF4-FFF2-40B4-BE49-F238E27FC236}">
                <a16:creationId xmlns:a16="http://schemas.microsoft.com/office/drawing/2014/main" id="{C228AA71-005F-447C-B29D-0B5C527AC47F}"/>
              </a:ext>
            </a:extLst>
          </p:cNvPr>
          <p:cNvPicPr>
            <a:picLocks xmlns:a="http://schemas.openxmlformats.org/drawingml/2006/main" noChangeAspect="1"/>
          </p:cNvPicPr>
          <p:nvPr/>
        </p:nvPicPr>
        <p:blipFill>
          <a:blip xmlns:r="http://schemas.openxmlformats.org/officeDocument/2006/relationships" xmlns:a="http://schemas.openxmlformats.org/drawingml/2006/main" r:embed="Rdaac3a4364f240bd"/>
          <a:stretch xmlns:a="http://schemas.openxmlformats.org/drawingml/2006/main"/>
        </p:blipFill>
        <p:spPr>
          <a:xfrm xmlns:a="http://schemas.openxmlformats.org/drawingml/2006/main">
            <a:off x="762000" y="3943350"/>
            <a:ext cx="1085850" cy="142875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8BAD7D44-A31D-43F9-85DA-046BED950929}"/>
              </a:ext>
            </a:extLst>
          </p:cNvPr>
          <p:cNvSpPr>
            <a:spLocks xmlns:a="http://schemas.openxmlformats.org/drawingml/2006/main" noGrp="1"/>
          </p:cNvSpPr>
          <p:nvPr/>
        </p:nvSpPr>
        <p:spPr>
          <a:xfrm xmlns:a="http://schemas.openxmlformats.org/drawingml/2006/main">
            <a:off x="2114550" y="4086225"/>
            <a:ext cx="28003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142D38"/>
                </a:solidFill>
                <a:latin typeface="Optimistic VF Medium"/>
                <a:ea typeface="Optimistic VF Medium"/>
                <a:cs typeface="Optimistic VF Medium"/>
              </a:defRPr>
            </a:defPPr>
            <a:lvl1pPr>
              <a:defRPr sz="1950" b="0">
                <a:solidFill>
                  <a:srgbClr val="142D38"/>
                </a:solidFill>
                <a:latin typeface="Optimistic VF Medium"/>
                <a:ea typeface="Optimistic VF Medium"/>
                <a:cs typeface="Optimistic VF Medium"/>
              </a:defRPr>
            </a:lvl1pPr>
            <a:lvl2pPr>
              <a:defRPr sz="1950" b="0">
                <a:solidFill>
                  <a:srgbClr val="142D38"/>
                </a:solidFill>
                <a:latin typeface="Optimistic VF Medium"/>
                <a:ea typeface="Optimistic VF Medium"/>
                <a:cs typeface="Optimistic VF Medium"/>
              </a:defRPr>
            </a:lvl2pPr>
            <a:lvl3pPr>
              <a:defRPr sz="1950" b="0">
                <a:solidFill>
                  <a:srgbClr val="142D38"/>
                </a:solidFill>
                <a:latin typeface="Optimistic VF Medium"/>
                <a:ea typeface="Optimistic VF Medium"/>
                <a:cs typeface="Optimistic VF Medium"/>
              </a:defRPr>
            </a:lvl3pPr>
            <a:lvl4pPr>
              <a:defRPr sz="1950" b="0">
                <a:solidFill>
                  <a:srgbClr val="142D38"/>
                </a:solidFill>
                <a:latin typeface="Optimistic VF Medium"/>
                <a:ea typeface="Optimistic VF Medium"/>
                <a:cs typeface="Optimistic VF Medium"/>
              </a:defRPr>
            </a:lvl4pPr>
            <a:lvl5pPr>
              <a:defRPr sz="1950" b="0">
                <a:solidFill>
                  <a:srgbClr val="142D38"/>
                </a:solidFill>
                <a:latin typeface="Optimistic VF Medium"/>
                <a:ea typeface="Optimistic VF Medium"/>
                <a:cs typeface="Optimistic VF Medium"/>
              </a:defRPr>
            </a:lvl5pPr>
            <a:lvl6pPr>
              <a:defRPr sz="1950" b="0">
                <a:solidFill>
                  <a:srgbClr val="142D38"/>
                </a:solidFill>
                <a:latin typeface="Optimistic VF Medium"/>
                <a:ea typeface="Optimistic VF Medium"/>
                <a:cs typeface="Optimistic VF Medium"/>
              </a:defRPr>
            </a:lvl6pPr>
            <a:lvl7pPr>
              <a:defRPr sz="1950" b="0">
                <a:solidFill>
                  <a:srgbClr val="142D38"/>
                </a:solidFill>
                <a:latin typeface="Optimistic VF Medium"/>
                <a:ea typeface="Optimistic VF Medium"/>
                <a:cs typeface="Optimistic VF Medium"/>
              </a:defRPr>
            </a:lvl7pPr>
            <a:lvl8pPr>
              <a:defRPr sz="1950" b="0">
                <a:solidFill>
                  <a:srgbClr val="142D38"/>
                </a:solidFill>
                <a:latin typeface="Optimistic VF Medium"/>
                <a:ea typeface="Optimistic VF Medium"/>
                <a:cs typeface="Optimistic VF Medium"/>
              </a:defRPr>
            </a:lvl8pPr>
            <a:lvl9pPr>
              <a:defRPr sz="1950" b="0">
                <a:solidFill>
                  <a:srgbClr val="142D38"/>
                </a:solidFill>
                <a:latin typeface="Optimistic VF Medium"/>
                <a:ea typeface="Optimistic VF Medium"/>
                <a:cs typeface="Optimistic VF Medium"/>
              </a:defRPr>
            </a:lvl9pPr>
          </a:lstStyle>
          <a:p xmlns:a="http://schemas.openxmlformats.org/drawingml/2006/main">
            <a:pPr>
              <a:defRPr sz="1950" b="0">
                <a:solidFill>
                  <a:srgbClr val="142D38"/>
                </a:solidFill>
                <a:latin typeface="Optimistic VF Medium"/>
                <a:ea typeface="Optimistic VF Medium"/>
                <a:cs typeface="Optimistic VF Medium"/>
              </a:defRPr>
            </a:pPr>
            <a:r>
              <a:rPr sz="1950" b="0">
                <a:solidFill>
                  <a:srgbClr val="142D38"/>
                </a:solidFill>
                <a:latin typeface="Optimistic VF Medium"/>
                <a:ea typeface="Optimistic VF Medium"/>
                <a:cs typeface="Optimistic VF Medium"/>
              </a:rPr>
              <a:t>Anyone want to go Friday?</a:t>
            </a:r>
          </a:p>
        </p:txBody>
      </p:sp>
      <p:sp>
        <p:nvSpPr>
          <p:cNvPr id="10" name="">
            <a:extLst xmlns:a="http://schemas.openxmlformats.org/drawingml/2006/main">
              <a:ext uri="{FF2B5EF4-FFF2-40B4-BE49-F238E27FC236}">
                <a16:creationId xmlns:a16="http://schemas.microsoft.com/office/drawing/2014/main" id="{4B1BB6AF-E032-4D57-8956-69AA3A368959}"/>
              </a:ext>
            </a:extLst>
          </p:cNvPr>
          <p:cNvSpPr>
            <a:spLocks xmlns:a="http://schemas.openxmlformats.org/drawingml/2006/main" noGrp="1"/>
          </p:cNvSpPr>
          <p:nvPr/>
        </p:nvSpPr>
        <p:spPr>
          <a:xfrm xmlns:a="http://schemas.openxmlformats.org/drawingml/2006/main">
            <a:off x="2114550" y="5133975"/>
            <a:ext cx="28003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0866FF"/>
                </a:solidFill>
                <a:latin typeface="Optimistic VF"/>
                <a:ea typeface="Optimistic VF"/>
                <a:cs typeface="Optimistic VF"/>
              </a:defRPr>
            </a:defPPr>
            <a:lvl1pPr>
              <a:defRPr sz="1575" b="0">
                <a:solidFill>
                  <a:srgbClr val="0866FF"/>
                </a:solidFill>
                <a:latin typeface="Optimistic VF"/>
                <a:ea typeface="Optimistic VF"/>
                <a:cs typeface="Optimistic VF"/>
              </a:defRPr>
            </a:lvl1pPr>
            <a:lvl2pPr>
              <a:defRPr sz="1575" b="0">
                <a:solidFill>
                  <a:srgbClr val="0866FF"/>
                </a:solidFill>
                <a:latin typeface="Optimistic VF"/>
                <a:ea typeface="Optimistic VF"/>
                <a:cs typeface="Optimistic VF"/>
              </a:defRPr>
            </a:lvl2pPr>
            <a:lvl3pPr>
              <a:defRPr sz="1575" b="0">
                <a:solidFill>
                  <a:srgbClr val="0866FF"/>
                </a:solidFill>
                <a:latin typeface="Optimistic VF"/>
                <a:ea typeface="Optimistic VF"/>
                <a:cs typeface="Optimistic VF"/>
              </a:defRPr>
            </a:lvl3pPr>
            <a:lvl4pPr>
              <a:defRPr sz="1575" b="0">
                <a:solidFill>
                  <a:srgbClr val="0866FF"/>
                </a:solidFill>
                <a:latin typeface="Optimistic VF"/>
                <a:ea typeface="Optimistic VF"/>
                <a:cs typeface="Optimistic VF"/>
              </a:defRPr>
            </a:lvl4pPr>
            <a:lvl5pPr>
              <a:defRPr sz="1575" b="0">
                <a:solidFill>
                  <a:srgbClr val="0866FF"/>
                </a:solidFill>
                <a:latin typeface="Optimistic VF"/>
                <a:ea typeface="Optimistic VF"/>
                <a:cs typeface="Optimistic VF"/>
              </a:defRPr>
            </a:lvl5pPr>
            <a:lvl6pPr>
              <a:defRPr sz="1575" b="0">
                <a:solidFill>
                  <a:srgbClr val="0866FF"/>
                </a:solidFill>
                <a:latin typeface="Optimistic VF"/>
                <a:ea typeface="Optimistic VF"/>
                <a:cs typeface="Optimistic VF"/>
              </a:defRPr>
            </a:lvl6pPr>
            <a:lvl7pPr>
              <a:defRPr sz="1575" b="0">
                <a:solidFill>
                  <a:srgbClr val="0866FF"/>
                </a:solidFill>
                <a:latin typeface="Optimistic VF"/>
                <a:ea typeface="Optimistic VF"/>
                <a:cs typeface="Optimistic VF"/>
              </a:defRPr>
            </a:lvl7pPr>
            <a:lvl8pPr>
              <a:defRPr sz="1575" b="0">
                <a:solidFill>
                  <a:srgbClr val="0866FF"/>
                </a:solidFill>
                <a:latin typeface="Optimistic VF"/>
                <a:ea typeface="Optimistic VF"/>
                <a:cs typeface="Optimistic VF"/>
              </a:defRPr>
            </a:lvl8pPr>
            <a:lvl9pPr>
              <a:defRPr sz="1575" b="0">
                <a:solidFill>
                  <a:srgbClr val="0866FF"/>
                </a:solidFill>
                <a:latin typeface="Optimistic VF"/>
                <a:ea typeface="Optimistic VF"/>
                <a:cs typeface="Optimistic VF"/>
              </a:defRPr>
            </a:lvl9pPr>
          </a:lstStyle>
          <a:p xmlns:a="http://schemas.openxmlformats.org/drawingml/2006/main">
            <a:pPr>
              <a:defRPr sz="1575" b="0">
                <a:solidFill>
                  <a:srgbClr val="0866FF"/>
                </a:solidFill>
                <a:latin typeface="Optimistic VF"/>
                <a:ea typeface="Optimistic VF"/>
                <a:cs typeface="Optimistic VF"/>
              </a:defRPr>
            </a:pPr>
            <a:r>
              <a:rPr sz="1575" b="0">
                <a:solidFill>
                  <a:srgbClr val="0866FF"/>
                </a:solidFill>
                <a:latin typeface="Optimistic VF"/>
                <a:ea typeface="Optimistic VF"/>
                <a:cs typeface="Optimistic VF"/>
              </a:rPr>
              <a:t>Open conversation</a:t>
            </a:r>
          </a:p>
        </p:txBody>
      </p:sp>
      <p:sp>
        <p:nvSpPr>
          <p:cNvPr id="11" name="">
            <a:extLst xmlns:a="http://schemas.openxmlformats.org/drawingml/2006/main">
              <a:ext uri="{FF2B5EF4-FFF2-40B4-BE49-F238E27FC236}">
                <a16:creationId xmlns:a16="http://schemas.microsoft.com/office/drawing/2014/main" id="{ABF5D05E-0EF9-4922-84F6-6ADEEB7E16EC}"/>
              </a:ext>
            </a:extLst>
          </p:cNvPr>
          <p:cNvSpPr>
            <a:spLocks xmlns:a="http://schemas.openxmlformats.org/drawingml/2006/main" noGrp="1"/>
          </p:cNvSpPr>
          <p:nvPr/>
        </p:nvSpPr>
        <p:spPr>
          <a:xfrm xmlns:a="http://schemas.openxmlformats.org/drawingml/2006/main">
            <a:off x="5705475" y="4638675"/>
            <a:ext cx="590550" cy="76200"/>
          </a:xfrm>
          <a:prstGeom xmlns:a="http://schemas.openxmlformats.org/drawingml/2006/main" prst="rightArrow">
            <a:avLst/>
          </a:prstGeom>
          <a:solidFill xmlns:a="http://schemas.openxmlformats.org/drawingml/2006/main">
            <a:srgbClr val="0866FF"/>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468CCD2F-A16C-4DE7-B0C8-1110AE96B77C}"/>
              </a:ext>
            </a:extLst>
          </p:cNvPr>
          <p:cNvSpPr>
            <a:spLocks xmlns:a="http://schemas.openxmlformats.org/drawingml/2006/main" noGrp="1"/>
          </p:cNvSpPr>
          <p:nvPr/>
        </p:nvSpPr>
        <p:spPr>
          <a:xfrm xmlns:a="http://schemas.openxmlformats.org/drawingml/2006/main">
            <a:off x="7000875" y="3457575"/>
            <a:ext cx="4572000" cy="2647950"/>
          </a:xfrm>
          <a:prstGeom xmlns:a="http://schemas.openxmlformats.org/drawingml/2006/main" prst="roundRect">
            <a:avLst>
              <a:gd name="adj" fmla="val 4317"/>
            </a:avLst>
          </a:prstGeom>
          <a:solidFill xmlns:a="http://schemas.openxmlformats.org/drawingml/2006/main">
            <a:srgbClr val="FFFFFF"/>
          </a:solidFill>
          <a:ln xmlns:a="http://schemas.openxmlformats.org/drawingml/2006/main" w="9525">
            <a:solidFill>
              <a:srgbClr val="D2DFE5"/>
            </a:solidFill>
          </a:ln>
        </p:spPr>
      </p:sp>
      <p:sp>
        <p:nvSpPr>
          <p:cNvPr id="13" name="">
            <a:extLst xmlns:a="http://schemas.openxmlformats.org/drawingml/2006/main">
              <a:ext uri="{FF2B5EF4-FFF2-40B4-BE49-F238E27FC236}">
                <a16:creationId xmlns:a16="http://schemas.microsoft.com/office/drawing/2014/main" id="{A020C940-8BD8-424E-AF3A-9ABE11B6EC86}"/>
              </a:ext>
            </a:extLst>
          </p:cNvPr>
          <p:cNvSpPr>
            <a:spLocks xmlns:a="http://schemas.openxmlformats.org/drawingml/2006/main" noGrp="1"/>
          </p:cNvSpPr>
          <p:nvPr/>
        </p:nvSpPr>
        <p:spPr>
          <a:xfrm xmlns:a="http://schemas.openxmlformats.org/drawingml/2006/main">
            <a:off x="7334250" y="3629025"/>
            <a:ext cx="419100" cy="419100"/>
          </a:xfrm>
          <a:prstGeom xmlns:a="http://schemas.openxmlformats.org/drawingml/2006/main" prst="roundRect">
            <a:avLst>
              <a:gd name="adj" fmla="val 50000"/>
            </a:avLst>
          </a:prstGeom>
          <a:solidFill xmlns:a="http://schemas.openxmlformats.org/drawingml/2006/main">
            <a:srgbClr val="F1F5F7"/>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ECB66C88-CDBE-4754-8E88-6AC11B665AC9}"/>
              </a:ext>
            </a:extLst>
          </p:cNvPr>
          <p:cNvSpPr>
            <a:spLocks xmlns:a="http://schemas.openxmlformats.org/drawingml/2006/main" noGrp="1"/>
          </p:cNvSpPr>
          <p:nvPr/>
        </p:nvSpPr>
        <p:spPr>
          <a:xfrm xmlns:a="http://schemas.openxmlformats.org/drawingml/2006/main">
            <a:off x="7448550" y="3705225"/>
            <a:ext cx="285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0866FF"/>
                </a:solidFill>
                <a:latin typeface="Optimistic VF Medium"/>
                <a:ea typeface="Optimistic VF Medium"/>
                <a:cs typeface="Optimistic VF Medium"/>
              </a:defRPr>
            </a:defPPr>
            <a:lvl1pPr>
              <a:defRPr sz="1650" b="0">
                <a:solidFill>
                  <a:srgbClr val="0866FF"/>
                </a:solidFill>
                <a:latin typeface="Optimistic VF Medium"/>
                <a:ea typeface="Optimistic VF Medium"/>
                <a:cs typeface="Optimistic VF Medium"/>
              </a:defRPr>
            </a:lvl1pPr>
            <a:lvl2pPr>
              <a:defRPr sz="1650" b="0">
                <a:solidFill>
                  <a:srgbClr val="0866FF"/>
                </a:solidFill>
                <a:latin typeface="Optimistic VF Medium"/>
                <a:ea typeface="Optimistic VF Medium"/>
                <a:cs typeface="Optimistic VF Medium"/>
              </a:defRPr>
            </a:lvl2pPr>
            <a:lvl3pPr>
              <a:defRPr sz="1650" b="0">
                <a:solidFill>
                  <a:srgbClr val="0866FF"/>
                </a:solidFill>
                <a:latin typeface="Optimistic VF Medium"/>
                <a:ea typeface="Optimistic VF Medium"/>
                <a:cs typeface="Optimistic VF Medium"/>
              </a:defRPr>
            </a:lvl3pPr>
            <a:lvl4pPr>
              <a:defRPr sz="1650" b="0">
                <a:solidFill>
                  <a:srgbClr val="0866FF"/>
                </a:solidFill>
                <a:latin typeface="Optimistic VF Medium"/>
                <a:ea typeface="Optimistic VF Medium"/>
                <a:cs typeface="Optimistic VF Medium"/>
              </a:defRPr>
            </a:lvl4pPr>
            <a:lvl5pPr>
              <a:defRPr sz="1650" b="0">
                <a:solidFill>
                  <a:srgbClr val="0866FF"/>
                </a:solidFill>
                <a:latin typeface="Optimistic VF Medium"/>
                <a:ea typeface="Optimistic VF Medium"/>
                <a:cs typeface="Optimistic VF Medium"/>
              </a:defRPr>
            </a:lvl5pPr>
            <a:lvl6pPr>
              <a:defRPr sz="1650" b="0">
                <a:solidFill>
                  <a:srgbClr val="0866FF"/>
                </a:solidFill>
                <a:latin typeface="Optimistic VF Medium"/>
                <a:ea typeface="Optimistic VF Medium"/>
                <a:cs typeface="Optimistic VF Medium"/>
              </a:defRPr>
            </a:lvl6pPr>
            <a:lvl7pPr>
              <a:defRPr sz="1650" b="0">
                <a:solidFill>
                  <a:srgbClr val="0866FF"/>
                </a:solidFill>
                <a:latin typeface="Optimistic VF Medium"/>
                <a:ea typeface="Optimistic VF Medium"/>
                <a:cs typeface="Optimistic VF Medium"/>
              </a:defRPr>
            </a:lvl7pPr>
            <a:lvl8pPr>
              <a:defRPr sz="1650" b="0">
                <a:solidFill>
                  <a:srgbClr val="0866FF"/>
                </a:solidFill>
                <a:latin typeface="Optimistic VF Medium"/>
                <a:ea typeface="Optimistic VF Medium"/>
                <a:cs typeface="Optimistic VF Medium"/>
              </a:defRPr>
            </a:lvl8pPr>
            <a:lvl9pPr>
              <a:defRPr sz="1650" b="0">
                <a:solidFill>
                  <a:srgbClr val="0866FF"/>
                </a:solidFill>
                <a:latin typeface="Optimistic VF Medium"/>
                <a:ea typeface="Optimistic VF Medium"/>
                <a:cs typeface="Optimistic VF Medium"/>
              </a:defRPr>
            </a:lvl9pPr>
          </a:lstStyle>
          <a:p xmlns:a="http://schemas.openxmlformats.org/drawingml/2006/main">
            <a:pPr>
              <a:defRPr sz="1650" b="0">
                <a:solidFill>
                  <a:srgbClr val="0866FF"/>
                </a:solidFill>
                <a:latin typeface="Optimistic VF Medium"/>
                <a:ea typeface="Optimistic VF Medium"/>
                <a:cs typeface="Optimistic VF Medium"/>
              </a:defRPr>
            </a:pPr>
            <a:r>
              <a:rPr sz="1650" b="0">
                <a:solidFill>
                  <a:srgbClr val="0866FF"/>
                </a:solidFill>
                <a:latin typeface="Optimistic VF Medium"/>
                <a:ea typeface="Optimistic VF Medium"/>
                <a:cs typeface="Optimistic VF Medium"/>
              </a:rPr>
              <a:t>M</a:t>
            </a:r>
          </a:p>
        </p:txBody>
      </p:sp>
      <p:sp>
        <p:nvSpPr>
          <p:cNvPr id="15" name="">
            <a:extLst xmlns:a="http://schemas.openxmlformats.org/drawingml/2006/main">
              <a:ext uri="{FF2B5EF4-FFF2-40B4-BE49-F238E27FC236}">
                <a16:creationId xmlns:a16="http://schemas.microsoft.com/office/drawing/2014/main" id="{020AD947-3BDB-40CA-8C86-3F88FDECA163}"/>
              </a:ext>
            </a:extLst>
          </p:cNvPr>
          <p:cNvSpPr>
            <a:spLocks xmlns:a="http://schemas.openxmlformats.org/drawingml/2006/main" noGrp="1"/>
          </p:cNvSpPr>
          <p:nvPr/>
        </p:nvSpPr>
        <p:spPr>
          <a:xfrm xmlns:a="http://schemas.openxmlformats.org/drawingml/2006/main">
            <a:off x="7924800" y="3686175"/>
            <a:ext cx="3238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142D38"/>
                </a:solidFill>
                <a:latin typeface="Optimistic VF Medium"/>
                <a:ea typeface="Optimistic VF Medium"/>
                <a:cs typeface="Optimistic VF Medium"/>
              </a:defRPr>
            </a:defPPr>
            <a:lvl1pPr>
              <a:defRPr sz="1875" b="0">
                <a:solidFill>
                  <a:srgbClr val="142D38"/>
                </a:solidFill>
                <a:latin typeface="Optimistic VF Medium"/>
                <a:ea typeface="Optimistic VF Medium"/>
                <a:cs typeface="Optimistic VF Medium"/>
              </a:defRPr>
            </a:lvl1pPr>
            <a:lvl2pPr>
              <a:defRPr sz="1875" b="0">
                <a:solidFill>
                  <a:srgbClr val="142D38"/>
                </a:solidFill>
                <a:latin typeface="Optimistic VF Medium"/>
                <a:ea typeface="Optimistic VF Medium"/>
                <a:cs typeface="Optimistic VF Medium"/>
              </a:defRPr>
            </a:lvl2pPr>
            <a:lvl3pPr>
              <a:defRPr sz="1875" b="0">
                <a:solidFill>
                  <a:srgbClr val="142D38"/>
                </a:solidFill>
                <a:latin typeface="Optimistic VF Medium"/>
                <a:ea typeface="Optimistic VF Medium"/>
                <a:cs typeface="Optimistic VF Medium"/>
              </a:defRPr>
            </a:lvl3pPr>
            <a:lvl4pPr>
              <a:defRPr sz="1875" b="0">
                <a:solidFill>
                  <a:srgbClr val="142D38"/>
                </a:solidFill>
                <a:latin typeface="Optimistic VF Medium"/>
                <a:ea typeface="Optimistic VF Medium"/>
                <a:cs typeface="Optimistic VF Medium"/>
              </a:defRPr>
            </a:lvl4pPr>
            <a:lvl5pPr>
              <a:defRPr sz="1875" b="0">
                <a:solidFill>
                  <a:srgbClr val="142D38"/>
                </a:solidFill>
                <a:latin typeface="Optimistic VF Medium"/>
                <a:ea typeface="Optimistic VF Medium"/>
                <a:cs typeface="Optimistic VF Medium"/>
              </a:defRPr>
            </a:lvl5pPr>
            <a:lvl6pPr>
              <a:defRPr sz="1875" b="0">
                <a:solidFill>
                  <a:srgbClr val="142D38"/>
                </a:solidFill>
                <a:latin typeface="Optimistic VF Medium"/>
                <a:ea typeface="Optimistic VF Medium"/>
                <a:cs typeface="Optimistic VF Medium"/>
              </a:defRPr>
            </a:lvl6pPr>
            <a:lvl7pPr>
              <a:defRPr sz="1875" b="0">
                <a:solidFill>
                  <a:srgbClr val="142D38"/>
                </a:solidFill>
                <a:latin typeface="Optimistic VF Medium"/>
                <a:ea typeface="Optimistic VF Medium"/>
                <a:cs typeface="Optimistic VF Medium"/>
              </a:defRPr>
            </a:lvl7pPr>
            <a:lvl8pPr>
              <a:defRPr sz="1875" b="0">
                <a:solidFill>
                  <a:srgbClr val="142D38"/>
                </a:solidFill>
                <a:latin typeface="Optimistic VF Medium"/>
                <a:ea typeface="Optimistic VF Medium"/>
                <a:cs typeface="Optimistic VF Medium"/>
              </a:defRPr>
            </a:lvl8pPr>
            <a:lvl9pPr>
              <a:defRPr sz="1875" b="0">
                <a:solidFill>
                  <a:srgbClr val="142D38"/>
                </a:solidFill>
                <a:latin typeface="Optimistic VF Medium"/>
                <a:ea typeface="Optimistic VF Medium"/>
                <a:cs typeface="Optimistic VF Medium"/>
              </a:defRPr>
            </a:lvl9pPr>
          </a:lstStyle>
          <a:p xmlns:a="http://schemas.openxmlformats.org/drawingml/2006/main">
            <a:pPr>
              <a:defRPr sz="1875" b="0">
                <a:solidFill>
                  <a:srgbClr val="142D38"/>
                </a:solidFill>
                <a:latin typeface="Optimistic VF Medium"/>
                <a:ea typeface="Optimistic VF Medium"/>
                <a:cs typeface="Optimistic VF Medium"/>
              </a:defRPr>
            </a:pPr>
            <a:r>
              <a:rPr sz="1875" b="0">
                <a:solidFill>
                  <a:srgbClr val="142D38"/>
                </a:solidFill>
                <a:latin typeface="Optimistic VF Medium"/>
                <a:ea typeface="Optimistic VF Medium"/>
                <a:cs typeface="Optimistic VF Medium"/>
              </a:rPr>
              <a:t>Maya</a:t>
            </a:r>
          </a:p>
        </p:txBody>
      </p:sp>
      <p:sp>
        <p:nvSpPr>
          <p:cNvPr id="16" name="">
            <a:extLst xmlns:a="http://schemas.openxmlformats.org/drawingml/2006/main">
              <a:ext uri="{FF2B5EF4-FFF2-40B4-BE49-F238E27FC236}">
                <a16:creationId xmlns:a16="http://schemas.microsoft.com/office/drawing/2014/main" id="{C96545D5-578B-42AD-B1E8-4305A2B9D86A}"/>
              </a:ext>
            </a:extLst>
          </p:cNvPr>
          <p:cNvSpPr>
            <a:spLocks xmlns:a="http://schemas.openxmlformats.org/drawingml/2006/main" noGrp="1"/>
          </p:cNvSpPr>
          <p:nvPr/>
        </p:nvSpPr>
        <p:spPr>
          <a:xfrm xmlns:a="http://schemas.openxmlformats.org/drawingml/2006/main">
            <a:off x="7334250" y="4305300"/>
            <a:ext cx="3895725"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325" b="0">
                <a:solidFill>
                  <a:srgbClr val="142D38"/>
                </a:solidFill>
                <a:latin typeface="Optimistic VF Medium"/>
                <a:ea typeface="Optimistic VF Medium"/>
                <a:cs typeface="Optimistic VF Medium"/>
              </a:defRPr>
            </a:defPPr>
            <a:lvl1pPr>
              <a:defRPr sz="2325" b="0">
                <a:solidFill>
                  <a:srgbClr val="142D38"/>
                </a:solidFill>
                <a:latin typeface="Optimistic VF Medium"/>
                <a:ea typeface="Optimistic VF Medium"/>
                <a:cs typeface="Optimistic VF Medium"/>
              </a:defRPr>
            </a:lvl1pPr>
            <a:lvl2pPr>
              <a:defRPr sz="2325" b="0">
                <a:solidFill>
                  <a:srgbClr val="142D38"/>
                </a:solidFill>
                <a:latin typeface="Optimistic VF Medium"/>
                <a:ea typeface="Optimistic VF Medium"/>
                <a:cs typeface="Optimistic VF Medium"/>
              </a:defRPr>
            </a:lvl2pPr>
            <a:lvl3pPr>
              <a:defRPr sz="2325" b="0">
                <a:solidFill>
                  <a:srgbClr val="142D38"/>
                </a:solidFill>
                <a:latin typeface="Optimistic VF Medium"/>
                <a:ea typeface="Optimistic VF Medium"/>
                <a:cs typeface="Optimistic VF Medium"/>
              </a:defRPr>
            </a:lvl3pPr>
            <a:lvl4pPr>
              <a:defRPr sz="2325" b="0">
                <a:solidFill>
                  <a:srgbClr val="142D38"/>
                </a:solidFill>
                <a:latin typeface="Optimistic VF Medium"/>
                <a:ea typeface="Optimistic VF Medium"/>
                <a:cs typeface="Optimistic VF Medium"/>
              </a:defRPr>
            </a:lvl4pPr>
            <a:lvl5pPr>
              <a:defRPr sz="2325" b="0">
                <a:solidFill>
                  <a:srgbClr val="142D38"/>
                </a:solidFill>
                <a:latin typeface="Optimistic VF Medium"/>
                <a:ea typeface="Optimistic VF Medium"/>
                <a:cs typeface="Optimistic VF Medium"/>
              </a:defRPr>
            </a:lvl5pPr>
            <a:lvl6pPr>
              <a:defRPr sz="2325" b="0">
                <a:solidFill>
                  <a:srgbClr val="142D38"/>
                </a:solidFill>
                <a:latin typeface="Optimistic VF Medium"/>
                <a:ea typeface="Optimistic VF Medium"/>
                <a:cs typeface="Optimistic VF Medium"/>
              </a:defRPr>
            </a:lvl6pPr>
            <a:lvl7pPr>
              <a:defRPr sz="2325" b="0">
                <a:solidFill>
                  <a:srgbClr val="142D38"/>
                </a:solidFill>
                <a:latin typeface="Optimistic VF Medium"/>
                <a:ea typeface="Optimistic VF Medium"/>
                <a:cs typeface="Optimistic VF Medium"/>
              </a:defRPr>
            </a:lvl7pPr>
            <a:lvl8pPr>
              <a:defRPr sz="2325" b="0">
                <a:solidFill>
                  <a:srgbClr val="142D38"/>
                </a:solidFill>
                <a:latin typeface="Optimistic VF Medium"/>
                <a:ea typeface="Optimistic VF Medium"/>
                <a:cs typeface="Optimistic VF Medium"/>
              </a:defRPr>
            </a:lvl8pPr>
            <a:lvl9pPr>
              <a:defRPr sz="2325" b="0">
                <a:solidFill>
                  <a:srgbClr val="142D38"/>
                </a:solidFill>
                <a:latin typeface="Optimistic VF Medium"/>
                <a:ea typeface="Optimistic VF Medium"/>
                <a:cs typeface="Optimistic VF Medium"/>
              </a:defRPr>
            </a:lvl9pPr>
          </a:lstStyle>
          <a:p xmlns:a="http://schemas.openxmlformats.org/drawingml/2006/main">
            <a:pPr>
              <a:defRPr sz="2325" b="0">
                <a:solidFill>
                  <a:srgbClr val="142D38"/>
                </a:solidFill>
                <a:latin typeface="Optimistic VF Medium"/>
                <a:ea typeface="Optimistic VF Medium"/>
                <a:cs typeface="Optimistic VF Medium"/>
              </a:defRPr>
            </a:pPr>
            <a:r>
              <a:rPr sz="2325" b="0">
                <a:solidFill>
                  <a:srgbClr val="142D38"/>
                </a:solidFill>
                <a:latin typeface="Optimistic VF Medium"/>
                <a:ea typeface="Optimistic VF Medium"/>
                <a:cs typeface="Optimistic VF Medium"/>
              </a:rPr>
              <a:t>Anyone want to go Friday?</a:t>
            </a:r>
          </a:p>
        </p:txBody>
      </p:sp>
      <p:sp>
        <p:nvSpPr>
          <p:cNvPr id="17" name="">
            <a:extLst xmlns:a="http://schemas.openxmlformats.org/drawingml/2006/main">
              <a:ext uri="{FF2B5EF4-FFF2-40B4-BE49-F238E27FC236}">
                <a16:creationId xmlns:a16="http://schemas.microsoft.com/office/drawing/2014/main" id="{6FA6235E-2D92-4961-9C62-896CAAC7AF7A}"/>
              </a:ext>
            </a:extLst>
          </p:cNvPr>
          <p:cNvSpPr>
            <a:spLocks xmlns:a="http://schemas.openxmlformats.org/drawingml/2006/main" noGrp="1"/>
          </p:cNvSpPr>
          <p:nvPr/>
        </p:nvSpPr>
        <p:spPr>
          <a:xfrm xmlns:a="http://schemas.openxmlformats.org/drawingml/2006/main">
            <a:off x="7334250" y="5419725"/>
            <a:ext cx="38957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0866FF"/>
                </a:solidFill>
                <a:latin typeface="Optimistic VF Medium"/>
                <a:ea typeface="Optimistic VF Medium"/>
                <a:cs typeface="Optimistic VF Medium"/>
              </a:defRPr>
            </a:defPPr>
            <a:lvl1pPr>
              <a:defRPr sz="1875" b="0">
                <a:solidFill>
                  <a:srgbClr val="0866FF"/>
                </a:solidFill>
                <a:latin typeface="Optimistic VF Medium"/>
                <a:ea typeface="Optimistic VF Medium"/>
                <a:cs typeface="Optimistic VF Medium"/>
              </a:defRPr>
            </a:lvl1pPr>
            <a:lvl2pPr>
              <a:defRPr sz="1875" b="0">
                <a:solidFill>
                  <a:srgbClr val="0866FF"/>
                </a:solidFill>
                <a:latin typeface="Optimistic VF Medium"/>
                <a:ea typeface="Optimistic VF Medium"/>
                <a:cs typeface="Optimistic VF Medium"/>
              </a:defRPr>
            </a:lvl2pPr>
            <a:lvl3pPr>
              <a:defRPr sz="1875" b="0">
                <a:solidFill>
                  <a:srgbClr val="0866FF"/>
                </a:solidFill>
                <a:latin typeface="Optimistic VF Medium"/>
                <a:ea typeface="Optimistic VF Medium"/>
                <a:cs typeface="Optimistic VF Medium"/>
              </a:defRPr>
            </a:lvl3pPr>
            <a:lvl4pPr>
              <a:defRPr sz="1875" b="0">
                <a:solidFill>
                  <a:srgbClr val="0866FF"/>
                </a:solidFill>
                <a:latin typeface="Optimistic VF Medium"/>
                <a:ea typeface="Optimistic VF Medium"/>
                <a:cs typeface="Optimistic VF Medium"/>
              </a:defRPr>
            </a:lvl4pPr>
            <a:lvl5pPr>
              <a:defRPr sz="1875" b="0">
                <a:solidFill>
                  <a:srgbClr val="0866FF"/>
                </a:solidFill>
                <a:latin typeface="Optimistic VF Medium"/>
                <a:ea typeface="Optimistic VF Medium"/>
                <a:cs typeface="Optimistic VF Medium"/>
              </a:defRPr>
            </a:lvl5pPr>
            <a:lvl6pPr>
              <a:defRPr sz="1875" b="0">
                <a:solidFill>
                  <a:srgbClr val="0866FF"/>
                </a:solidFill>
                <a:latin typeface="Optimistic VF Medium"/>
                <a:ea typeface="Optimistic VF Medium"/>
                <a:cs typeface="Optimistic VF Medium"/>
              </a:defRPr>
            </a:lvl6pPr>
            <a:lvl7pPr>
              <a:defRPr sz="1875" b="0">
                <a:solidFill>
                  <a:srgbClr val="0866FF"/>
                </a:solidFill>
                <a:latin typeface="Optimistic VF Medium"/>
                <a:ea typeface="Optimistic VF Medium"/>
                <a:cs typeface="Optimistic VF Medium"/>
              </a:defRPr>
            </a:lvl7pPr>
            <a:lvl8pPr>
              <a:defRPr sz="1875" b="0">
                <a:solidFill>
                  <a:srgbClr val="0866FF"/>
                </a:solidFill>
                <a:latin typeface="Optimistic VF Medium"/>
                <a:ea typeface="Optimistic VF Medium"/>
                <a:cs typeface="Optimistic VF Medium"/>
              </a:defRPr>
            </a:lvl8pPr>
            <a:lvl9pPr>
              <a:defRPr sz="1875" b="0">
                <a:solidFill>
                  <a:srgbClr val="0866FF"/>
                </a:solidFill>
                <a:latin typeface="Optimistic VF Medium"/>
                <a:ea typeface="Optimistic VF Medium"/>
                <a:cs typeface="Optimistic VF Medium"/>
              </a:defRPr>
            </a:lvl9pPr>
          </a:lstStyle>
          <a:p xmlns:a="http://schemas.openxmlformats.org/drawingml/2006/main">
            <a:pPr>
              <a:defRPr sz="1875" b="0">
                <a:solidFill>
                  <a:srgbClr val="0866FF"/>
                </a:solidFill>
                <a:latin typeface="Optimistic VF Medium"/>
                <a:ea typeface="Optimistic VF Medium"/>
                <a:cs typeface="Optimistic VF Medium"/>
              </a:defRPr>
            </a:pPr>
            <a:r>
              <a:rPr sz="1875" b="0">
                <a:solidFill>
                  <a:srgbClr val="0866FF"/>
                </a:solidFill>
                <a:latin typeface="Optimistic VF Medium"/>
                <a:ea typeface="Optimistic VF Medium"/>
                <a:cs typeface="Optimistic VF Medium"/>
              </a:rPr>
              <a:t>Say “post note” to reply</a:t>
            </a:r>
          </a:p>
        </p:txBody>
      </p:sp>
      <p:sp>
        <p:nvSpPr>
          <p:cNvPr id="18" name="">
            <a:extLst xmlns:a="http://schemas.openxmlformats.org/drawingml/2006/main">
              <a:ext uri="{FF2B5EF4-FFF2-40B4-BE49-F238E27FC236}">
                <a16:creationId xmlns:a16="http://schemas.microsoft.com/office/drawing/2014/main" id="{66BB6842-BD71-4D12-8D62-944D2BD302CF}"/>
              </a:ext>
            </a:extLst>
          </p:cNvPr>
          <p:cNvSpPr>
            <a:spLocks xmlns:a="http://schemas.openxmlformats.org/drawingml/2006/main" noGrp="1"/>
          </p:cNvSpPr>
          <p:nvPr/>
        </p:nvSpPr>
        <p:spPr>
          <a:xfrm xmlns:a="http://schemas.openxmlformats.org/drawingml/2006/main">
            <a:off x="647700" y="6477000"/>
            <a:ext cx="108870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4C6571"/>
                </a:solidFill>
                <a:latin typeface="Optimistic VF"/>
                <a:ea typeface="Optimistic VF"/>
                <a:cs typeface="Optimistic VF"/>
              </a:defRPr>
            </a:defPPr>
            <a:lvl1pPr>
              <a:defRPr sz="1275" b="0">
                <a:solidFill>
                  <a:srgbClr val="4C6571"/>
                </a:solidFill>
                <a:latin typeface="Optimistic VF"/>
                <a:ea typeface="Optimistic VF"/>
                <a:cs typeface="Optimistic VF"/>
              </a:defRPr>
            </a:lvl1pPr>
            <a:lvl2pPr>
              <a:defRPr sz="1275" b="0">
                <a:solidFill>
                  <a:srgbClr val="4C6571"/>
                </a:solidFill>
                <a:latin typeface="Optimistic VF"/>
                <a:ea typeface="Optimistic VF"/>
                <a:cs typeface="Optimistic VF"/>
              </a:defRPr>
            </a:lvl2pPr>
            <a:lvl3pPr>
              <a:defRPr sz="1275" b="0">
                <a:solidFill>
                  <a:srgbClr val="4C6571"/>
                </a:solidFill>
                <a:latin typeface="Optimistic VF"/>
                <a:ea typeface="Optimistic VF"/>
                <a:cs typeface="Optimistic VF"/>
              </a:defRPr>
            </a:lvl3pPr>
            <a:lvl4pPr>
              <a:defRPr sz="1275" b="0">
                <a:solidFill>
                  <a:srgbClr val="4C6571"/>
                </a:solidFill>
                <a:latin typeface="Optimistic VF"/>
                <a:ea typeface="Optimistic VF"/>
                <a:cs typeface="Optimistic VF"/>
              </a:defRPr>
            </a:lvl4pPr>
            <a:lvl5pPr>
              <a:defRPr sz="1275" b="0">
                <a:solidFill>
                  <a:srgbClr val="4C6571"/>
                </a:solidFill>
                <a:latin typeface="Optimistic VF"/>
                <a:ea typeface="Optimistic VF"/>
                <a:cs typeface="Optimistic VF"/>
              </a:defRPr>
            </a:lvl5pPr>
            <a:lvl6pPr>
              <a:defRPr sz="1275" b="0">
                <a:solidFill>
                  <a:srgbClr val="4C6571"/>
                </a:solidFill>
                <a:latin typeface="Optimistic VF"/>
                <a:ea typeface="Optimistic VF"/>
                <a:cs typeface="Optimistic VF"/>
              </a:defRPr>
            </a:lvl6pPr>
            <a:lvl7pPr>
              <a:defRPr sz="1275" b="0">
                <a:solidFill>
                  <a:srgbClr val="4C6571"/>
                </a:solidFill>
                <a:latin typeface="Optimistic VF"/>
                <a:ea typeface="Optimistic VF"/>
                <a:cs typeface="Optimistic VF"/>
              </a:defRPr>
            </a:lvl7pPr>
            <a:lvl8pPr>
              <a:defRPr sz="1275" b="0">
                <a:solidFill>
                  <a:srgbClr val="4C6571"/>
                </a:solidFill>
                <a:latin typeface="Optimistic VF"/>
                <a:ea typeface="Optimistic VF"/>
                <a:cs typeface="Optimistic VF"/>
              </a:defRPr>
            </a:lvl8pPr>
            <a:lvl9pPr>
              <a:defRPr sz="1275" b="0">
                <a:solidFill>
                  <a:srgbClr val="4C6571"/>
                </a:solidFill>
                <a:latin typeface="Optimistic VF"/>
                <a:ea typeface="Optimistic VF"/>
                <a:cs typeface="Optimistic VF"/>
              </a:defRPr>
            </a:lvl9pPr>
          </a:lstStyle>
          <a:p xmlns:a="http://schemas.openxmlformats.org/drawingml/2006/main">
            <a:pPr>
              <a:defRPr sz="1275" b="0">
                <a:solidFill>
                  <a:srgbClr val="4C6571"/>
                </a:solidFill>
                <a:latin typeface="Optimistic VF"/>
                <a:ea typeface="Optimistic VF"/>
                <a:cs typeface="Optimistic VF"/>
              </a:defRPr>
            </a:pPr>
            <a:r>
              <a:rPr sz="1275" b="0">
                <a:solidFill>
                  <a:srgbClr val="4C6571"/>
                </a:solidFill>
                <a:latin typeface="Optimistic VF"/>
                <a:ea typeface="Optimistic VF"/>
                <a:cs typeface="Optimistic VF"/>
              </a:rPr>
              <a:t>The Instagram-style screen is only a demo mock. We’re working toward showing this through the glasses.</a:t>
            </a:r>
          </a:p>
        </p:txBody>
      </p:sp>
    </p:spTree>
    <p:extLst>
      <p:ext uri="{BB962C8B-B14F-4D97-AF65-F5344CB8AC3E}">
        <p14:creationId xmlns:p14="http://schemas.microsoft.com/office/powerpoint/2010/main" val="1616476183"/>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6FD40C47-9DFF-4D72-A62E-B641040BF9BC}"/>
              </a:ext>
            </a:extLst>
          </p:cNvPr>
          <p:cNvSpPr>
            <a:spLocks xmlns:a="http://schemas.openxmlformats.org/drawingml/2006/main" noGrp="1"/>
          </p:cNvSpPr>
          <p:nvPr/>
        </p:nvSpPr>
        <p:spPr>
          <a:xfrm xmlns:a="http://schemas.openxmlformats.org/drawingml/2006/main">
            <a:off x="609600" y="523875"/>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75" b="0">
                <a:solidFill>
                  <a:srgbClr val="142D38"/>
                </a:solidFill>
                <a:latin typeface="Optimistic VF Medium"/>
                <a:ea typeface="Optimistic VF Medium"/>
                <a:cs typeface="Optimistic VF Medium"/>
              </a:defRPr>
            </a:defPPr>
            <a:lvl1pPr>
              <a:defRPr sz="3675" b="0">
                <a:solidFill>
                  <a:srgbClr val="142D38"/>
                </a:solidFill>
                <a:latin typeface="Optimistic VF Medium"/>
                <a:ea typeface="Optimistic VF Medium"/>
                <a:cs typeface="Optimistic VF Medium"/>
              </a:defRPr>
            </a:lvl1pPr>
            <a:lvl2pPr>
              <a:defRPr sz="3675" b="0">
                <a:solidFill>
                  <a:srgbClr val="142D38"/>
                </a:solidFill>
                <a:latin typeface="Optimistic VF Medium"/>
                <a:ea typeface="Optimistic VF Medium"/>
                <a:cs typeface="Optimistic VF Medium"/>
              </a:defRPr>
            </a:lvl2pPr>
            <a:lvl3pPr>
              <a:defRPr sz="3675" b="0">
                <a:solidFill>
                  <a:srgbClr val="142D38"/>
                </a:solidFill>
                <a:latin typeface="Optimistic VF Medium"/>
                <a:ea typeface="Optimistic VF Medium"/>
                <a:cs typeface="Optimistic VF Medium"/>
              </a:defRPr>
            </a:lvl3pPr>
            <a:lvl4pPr>
              <a:defRPr sz="3675" b="0">
                <a:solidFill>
                  <a:srgbClr val="142D38"/>
                </a:solidFill>
                <a:latin typeface="Optimistic VF Medium"/>
                <a:ea typeface="Optimistic VF Medium"/>
                <a:cs typeface="Optimistic VF Medium"/>
              </a:defRPr>
            </a:lvl4pPr>
            <a:lvl5pPr>
              <a:defRPr sz="3675" b="0">
                <a:solidFill>
                  <a:srgbClr val="142D38"/>
                </a:solidFill>
                <a:latin typeface="Optimistic VF Medium"/>
                <a:ea typeface="Optimistic VF Medium"/>
                <a:cs typeface="Optimistic VF Medium"/>
              </a:defRPr>
            </a:lvl5pPr>
            <a:lvl6pPr>
              <a:defRPr sz="3675" b="0">
                <a:solidFill>
                  <a:srgbClr val="142D38"/>
                </a:solidFill>
                <a:latin typeface="Optimistic VF Medium"/>
                <a:ea typeface="Optimistic VF Medium"/>
                <a:cs typeface="Optimistic VF Medium"/>
              </a:defRPr>
            </a:lvl6pPr>
            <a:lvl7pPr>
              <a:defRPr sz="3675" b="0">
                <a:solidFill>
                  <a:srgbClr val="142D38"/>
                </a:solidFill>
                <a:latin typeface="Optimistic VF Medium"/>
                <a:ea typeface="Optimistic VF Medium"/>
                <a:cs typeface="Optimistic VF Medium"/>
              </a:defRPr>
            </a:lvl7pPr>
            <a:lvl8pPr>
              <a:defRPr sz="3675" b="0">
                <a:solidFill>
                  <a:srgbClr val="142D38"/>
                </a:solidFill>
                <a:latin typeface="Optimistic VF Medium"/>
                <a:ea typeface="Optimistic VF Medium"/>
                <a:cs typeface="Optimistic VF Medium"/>
              </a:defRPr>
            </a:lvl8pPr>
            <a:lvl9pPr>
              <a:defRPr sz="3675" b="0">
                <a:solidFill>
                  <a:srgbClr val="142D38"/>
                </a:solidFill>
                <a:latin typeface="Optimistic VF Medium"/>
                <a:ea typeface="Optimistic VF Medium"/>
                <a:cs typeface="Optimistic VF Medium"/>
              </a:defRPr>
            </a:lvl9pPr>
          </a:lstStyle>
          <a:p xmlns:a="http://schemas.openxmlformats.org/drawingml/2006/main">
            <a:pPr>
              <a:defRPr sz="3675" b="0">
                <a:solidFill>
                  <a:srgbClr val="142D38"/>
                </a:solidFill>
                <a:latin typeface="Optimistic VF Medium"/>
                <a:ea typeface="Optimistic VF Medium"/>
                <a:cs typeface="Optimistic VF Medium"/>
              </a:defRPr>
            </a:pPr>
            <a:r>
              <a:rPr sz="3675" b="0">
                <a:solidFill>
                  <a:srgbClr val="142D38"/>
                </a:solidFill>
                <a:latin typeface="Optimistic VF Medium"/>
                <a:ea typeface="Optimistic VF Medium"/>
                <a:cs typeface="Optimistic VF Medium"/>
              </a:rPr>
              <a:t>Who this helps</a:t>
            </a:r>
          </a:p>
        </p:txBody>
      </p:sp>
      <p:sp>
        <p:nvSpPr>
          <p:cNvPr id="3" name="">
            <a:extLst xmlns:a="http://schemas.openxmlformats.org/drawingml/2006/main">
              <a:ext uri="{FF2B5EF4-FFF2-40B4-BE49-F238E27FC236}">
                <a16:creationId xmlns:a16="http://schemas.microsoft.com/office/drawing/2014/main" id="{8CE5426A-E912-496F-9961-D5A5DBABCD3F}"/>
              </a:ext>
            </a:extLst>
          </p:cNvPr>
          <p:cNvSpPr>
            <a:spLocks xmlns:a="http://schemas.openxmlformats.org/drawingml/2006/main" noGrp="1"/>
          </p:cNvSpPr>
          <p:nvPr/>
        </p:nvSpPr>
        <p:spPr>
          <a:xfrm xmlns:a="http://schemas.openxmlformats.org/drawingml/2006/main">
            <a:off x="638175" y="1695450"/>
            <a:ext cx="5334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0866FF"/>
                </a:solidFill>
                <a:latin typeface="Optimistic VF Medium"/>
                <a:ea typeface="Optimistic VF Medium"/>
                <a:cs typeface="Optimistic VF Medium"/>
              </a:defRPr>
            </a:defPPr>
            <a:lvl1pPr>
              <a:defRPr sz="1350" b="0">
                <a:solidFill>
                  <a:srgbClr val="0866FF"/>
                </a:solidFill>
                <a:latin typeface="Optimistic VF Medium"/>
                <a:ea typeface="Optimistic VF Medium"/>
                <a:cs typeface="Optimistic VF Medium"/>
              </a:defRPr>
            </a:lvl1pPr>
            <a:lvl2pPr>
              <a:defRPr sz="1350" b="0">
                <a:solidFill>
                  <a:srgbClr val="0866FF"/>
                </a:solidFill>
                <a:latin typeface="Optimistic VF Medium"/>
                <a:ea typeface="Optimistic VF Medium"/>
                <a:cs typeface="Optimistic VF Medium"/>
              </a:defRPr>
            </a:lvl2pPr>
            <a:lvl3pPr>
              <a:defRPr sz="1350" b="0">
                <a:solidFill>
                  <a:srgbClr val="0866FF"/>
                </a:solidFill>
                <a:latin typeface="Optimistic VF Medium"/>
                <a:ea typeface="Optimistic VF Medium"/>
                <a:cs typeface="Optimistic VF Medium"/>
              </a:defRPr>
            </a:lvl3pPr>
            <a:lvl4pPr>
              <a:defRPr sz="1350" b="0">
                <a:solidFill>
                  <a:srgbClr val="0866FF"/>
                </a:solidFill>
                <a:latin typeface="Optimistic VF Medium"/>
                <a:ea typeface="Optimistic VF Medium"/>
                <a:cs typeface="Optimistic VF Medium"/>
              </a:defRPr>
            </a:lvl4pPr>
            <a:lvl5pPr>
              <a:defRPr sz="1350" b="0">
                <a:solidFill>
                  <a:srgbClr val="0866FF"/>
                </a:solidFill>
                <a:latin typeface="Optimistic VF Medium"/>
                <a:ea typeface="Optimistic VF Medium"/>
                <a:cs typeface="Optimistic VF Medium"/>
              </a:defRPr>
            </a:lvl5pPr>
            <a:lvl6pPr>
              <a:defRPr sz="1350" b="0">
                <a:solidFill>
                  <a:srgbClr val="0866FF"/>
                </a:solidFill>
                <a:latin typeface="Optimistic VF Medium"/>
                <a:ea typeface="Optimistic VF Medium"/>
                <a:cs typeface="Optimistic VF Medium"/>
              </a:defRPr>
            </a:lvl6pPr>
            <a:lvl7pPr>
              <a:defRPr sz="1350" b="0">
                <a:solidFill>
                  <a:srgbClr val="0866FF"/>
                </a:solidFill>
                <a:latin typeface="Optimistic VF Medium"/>
                <a:ea typeface="Optimistic VF Medium"/>
                <a:cs typeface="Optimistic VF Medium"/>
              </a:defRPr>
            </a:lvl7pPr>
            <a:lvl8pPr>
              <a:defRPr sz="1350" b="0">
                <a:solidFill>
                  <a:srgbClr val="0866FF"/>
                </a:solidFill>
                <a:latin typeface="Optimistic VF Medium"/>
                <a:ea typeface="Optimistic VF Medium"/>
                <a:cs typeface="Optimistic VF Medium"/>
              </a:defRPr>
            </a:lvl8pPr>
            <a:lvl9pPr>
              <a:defRPr sz="1350" b="0">
                <a:solidFill>
                  <a:srgbClr val="0866FF"/>
                </a:solidFill>
                <a:latin typeface="Optimistic VF Medium"/>
                <a:ea typeface="Optimistic VF Medium"/>
                <a:cs typeface="Optimistic VF Medium"/>
              </a:defRPr>
            </a:lvl9pPr>
          </a:lstStyle>
          <a:p xmlns:a="http://schemas.openxmlformats.org/drawingml/2006/main">
            <a:pPr>
              <a:defRPr sz="1350" b="0">
                <a:solidFill>
                  <a:srgbClr val="0866FF"/>
                </a:solidFill>
                <a:latin typeface="Optimistic VF Medium"/>
                <a:ea typeface="Optimistic VF Medium"/>
                <a:cs typeface="Optimistic VF Medium"/>
              </a:defRPr>
            </a:pPr>
            <a:r>
              <a:rPr sz="1350" b="0">
                <a:solidFill>
                  <a:srgbClr val="0866FF"/>
                </a:solidFill>
                <a:latin typeface="Optimistic VF Medium"/>
                <a:ea typeface="Optimistic VF Medium"/>
                <a:cs typeface="Optimistic VF Medium"/>
              </a:rPr>
              <a:t>PEOPLE WITH SHARED INTERESTS</a:t>
            </a:r>
          </a:p>
        </p:txBody>
      </p:sp>
      <p:sp>
        <p:nvSpPr>
          <p:cNvPr id="4" name="">
            <a:extLst xmlns:a="http://schemas.openxmlformats.org/drawingml/2006/main">
              <a:ext uri="{FF2B5EF4-FFF2-40B4-BE49-F238E27FC236}">
                <a16:creationId xmlns:a16="http://schemas.microsoft.com/office/drawing/2014/main" id="{079D088C-30D5-488C-AAA6-CF978148A8AE}"/>
              </a:ext>
            </a:extLst>
          </p:cNvPr>
          <p:cNvSpPr>
            <a:spLocks xmlns:a="http://schemas.openxmlformats.org/drawingml/2006/main" noGrp="1"/>
          </p:cNvSpPr>
          <p:nvPr/>
        </p:nvSpPr>
        <p:spPr>
          <a:xfrm xmlns:a="http://schemas.openxmlformats.org/drawingml/2006/main">
            <a:off x="609600" y="2219325"/>
            <a:ext cx="5429250" cy="1857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0">
                <a:solidFill>
                  <a:srgbClr val="142D38"/>
                </a:solidFill>
                <a:latin typeface="Optimistic VF Medium"/>
                <a:ea typeface="Optimistic VF Medium"/>
                <a:cs typeface="Optimistic VF Medium"/>
              </a:defRPr>
            </a:defPPr>
            <a:lvl1pPr>
              <a:defRPr sz="2400" b="0">
                <a:solidFill>
                  <a:srgbClr val="142D38"/>
                </a:solidFill>
                <a:latin typeface="Optimistic VF Medium"/>
                <a:ea typeface="Optimistic VF Medium"/>
                <a:cs typeface="Optimistic VF Medium"/>
              </a:defRPr>
            </a:lvl1pPr>
            <a:lvl2pPr>
              <a:defRPr sz="2400" b="0">
                <a:solidFill>
                  <a:srgbClr val="142D38"/>
                </a:solidFill>
                <a:latin typeface="Optimistic VF Medium"/>
                <a:ea typeface="Optimistic VF Medium"/>
                <a:cs typeface="Optimistic VF Medium"/>
              </a:defRPr>
            </a:lvl2pPr>
            <a:lvl3pPr>
              <a:defRPr sz="2400" b="0">
                <a:solidFill>
                  <a:srgbClr val="142D38"/>
                </a:solidFill>
                <a:latin typeface="Optimistic VF Medium"/>
                <a:ea typeface="Optimistic VF Medium"/>
                <a:cs typeface="Optimistic VF Medium"/>
              </a:defRPr>
            </a:lvl3pPr>
            <a:lvl4pPr>
              <a:defRPr sz="2400" b="0">
                <a:solidFill>
                  <a:srgbClr val="142D38"/>
                </a:solidFill>
                <a:latin typeface="Optimistic VF Medium"/>
                <a:ea typeface="Optimistic VF Medium"/>
                <a:cs typeface="Optimistic VF Medium"/>
              </a:defRPr>
            </a:lvl4pPr>
            <a:lvl5pPr>
              <a:defRPr sz="2400" b="0">
                <a:solidFill>
                  <a:srgbClr val="142D38"/>
                </a:solidFill>
                <a:latin typeface="Optimistic VF Medium"/>
                <a:ea typeface="Optimistic VF Medium"/>
                <a:cs typeface="Optimistic VF Medium"/>
              </a:defRPr>
            </a:lvl5pPr>
            <a:lvl6pPr>
              <a:defRPr sz="2400" b="0">
                <a:solidFill>
                  <a:srgbClr val="142D38"/>
                </a:solidFill>
                <a:latin typeface="Optimistic VF Medium"/>
                <a:ea typeface="Optimistic VF Medium"/>
                <a:cs typeface="Optimistic VF Medium"/>
              </a:defRPr>
            </a:lvl6pPr>
            <a:lvl7pPr>
              <a:defRPr sz="2400" b="0">
                <a:solidFill>
                  <a:srgbClr val="142D38"/>
                </a:solidFill>
                <a:latin typeface="Optimistic VF Medium"/>
                <a:ea typeface="Optimistic VF Medium"/>
                <a:cs typeface="Optimistic VF Medium"/>
              </a:defRPr>
            </a:lvl7pPr>
            <a:lvl8pPr>
              <a:defRPr sz="2400" b="0">
                <a:solidFill>
                  <a:srgbClr val="142D38"/>
                </a:solidFill>
                <a:latin typeface="Optimistic VF Medium"/>
                <a:ea typeface="Optimistic VF Medium"/>
                <a:cs typeface="Optimistic VF Medium"/>
              </a:defRPr>
            </a:lvl8pPr>
            <a:lvl9pPr>
              <a:defRPr sz="2400" b="0">
                <a:solidFill>
                  <a:srgbClr val="142D38"/>
                </a:solidFill>
                <a:latin typeface="Optimistic VF Medium"/>
                <a:ea typeface="Optimistic VF Medium"/>
                <a:cs typeface="Optimistic VF Medium"/>
              </a:defRPr>
            </a:lvl9pPr>
          </a:lstStyle>
          <a:p xmlns:a="http://schemas.openxmlformats.org/drawingml/2006/main">
            <a:pPr>
              <a:defRPr sz="2400" b="0">
                <a:solidFill>
                  <a:srgbClr val="142D38"/>
                </a:solidFill>
                <a:latin typeface="Optimistic VF Medium"/>
                <a:ea typeface="Optimistic VF Medium"/>
                <a:cs typeface="Optimistic VF Medium"/>
              </a:defRPr>
            </a:pPr>
            <a:r>
              <a:rPr sz="2400" b="0">
                <a:solidFill>
                  <a:srgbClr val="142D38"/>
                </a:solidFill>
                <a:latin typeface="Optimistic VF Medium"/>
                <a:ea typeface="Optimistic VF Medium"/>
                <a:cs typeface="Optimistic VF Medium"/>
              </a:rPr>
              <a:t>Spots is for people who have something in common but haven’t had a reason to talk yet. A note on something they both notice can be that first hello.</a:t>
            </a:r>
          </a:p>
        </p:txBody>
      </p:sp>
      <p:sp>
        <p:nvSpPr>
          <p:cNvPr id="5" name="">
            <a:extLst xmlns:a="http://schemas.openxmlformats.org/drawingml/2006/main">
              <a:ext uri="{FF2B5EF4-FFF2-40B4-BE49-F238E27FC236}">
                <a16:creationId xmlns:a16="http://schemas.microsoft.com/office/drawing/2014/main" id="{3C7C81A2-3EF8-4313-8259-F13F3A2FE24E}"/>
              </a:ext>
            </a:extLst>
          </p:cNvPr>
          <p:cNvSpPr>
            <a:spLocks xmlns:a="http://schemas.openxmlformats.org/drawingml/2006/main" noGrp="1"/>
          </p:cNvSpPr>
          <p:nvPr/>
        </p:nvSpPr>
        <p:spPr>
          <a:xfrm xmlns:a="http://schemas.openxmlformats.org/drawingml/2006/main">
            <a:off x="647700" y="4324350"/>
            <a:ext cx="51816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4C6571"/>
                </a:solidFill>
                <a:latin typeface="Optimistic VF"/>
                <a:ea typeface="Optimistic VF"/>
                <a:cs typeface="Optimistic VF"/>
              </a:defRPr>
            </a:defPPr>
            <a:lvl1pPr>
              <a:defRPr sz="2025" b="0">
                <a:solidFill>
                  <a:srgbClr val="4C6571"/>
                </a:solidFill>
                <a:latin typeface="Optimistic VF"/>
                <a:ea typeface="Optimistic VF"/>
                <a:cs typeface="Optimistic VF"/>
              </a:defRPr>
            </a:lvl1pPr>
            <a:lvl2pPr>
              <a:defRPr sz="2025" b="0">
                <a:solidFill>
                  <a:srgbClr val="4C6571"/>
                </a:solidFill>
                <a:latin typeface="Optimistic VF"/>
                <a:ea typeface="Optimistic VF"/>
                <a:cs typeface="Optimistic VF"/>
              </a:defRPr>
            </a:lvl2pPr>
            <a:lvl3pPr>
              <a:defRPr sz="2025" b="0">
                <a:solidFill>
                  <a:srgbClr val="4C6571"/>
                </a:solidFill>
                <a:latin typeface="Optimistic VF"/>
                <a:ea typeface="Optimistic VF"/>
                <a:cs typeface="Optimistic VF"/>
              </a:defRPr>
            </a:lvl3pPr>
            <a:lvl4pPr>
              <a:defRPr sz="2025" b="0">
                <a:solidFill>
                  <a:srgbClr val="4C6571"/>
                </a:solidFill>
                <a:latin typeface="Optimistic VF"/>
                <a:ea typeface="Optimistic VF"/>
                <a:cs typeface="Optimistic VF"/>
              </a:defRPr>
            </a:lvl4pPr>
            <a:lvl5pPr>
              <a:defRPr sz="2025" b="0">
                <a:solidFill>
                  <a:srgbClr val="4C6571"/>
                </a:solidFill>
                <a:latin typeface="Optimistic VF"/>
                <a:ea typeface="Optimistic VF"/>
                <a:cs typeface="Optimistic VF"/>
              </a:defRPr>
            </a:lvl5pPr>
            <a:lvl6pPr>
              <a:defRPr sz="2025" b="0">
                <a:solidFill>
                  <a:srgbClr val="4C6571"/>
                </a:solidFill>
                <a:latin typeface="Optimistic VF"/>
                <a:ea typeface="Optimistic VF"/>
                <a:cs typeface="Optimistic VF"/>
              </a:defRPr>
            </a:lvl6pPr>
            <a:lvl7pPr>
              <a:defRPr sz="2025" b="0">
                <a:solidFill>
                  <a:srgbClr val="4C6571"/>
                </a:solidFill>
                <a:latin typeface="Optimistic VF"/>
                <a:ea typeface="Optimistic VF"/>
                <a:cs typeface="Optimistic VF"/>
              </a:defRPr>
            </a:lvl7pPr>
            <a:lvl8pPr>
              <a:defRPr sz="2025" b="0">
                <a:solidFill>
                  <a:srgbClr val="4C6571"/>
                </a:solidFill>
                <a:latin typeface="Optimistic VF"/>
                <a:ea typeface="Optimistic VF"/>
                <a:cs typeface="Optimistic VF"/>
              </a:defRPr>
            </a:lvl8pPr>
            <a:lvl9pPr>
              <a:defRPr sz="2025" b="0">
                <a:solidFill>
                  <a:srgbClr val="4C6571"/>
                </a:solidFill>
                <a:latin typeface="Optimistic VF"/>
                <a:ea typeface="Optimistic VF"/>
                <a:cs typeface="Optimistic VF"/>
              </a:defRPr>
            </a:lvl9pPr>
          </a:lstStyle>
          <a:p xmlns:a="http://schemas.openxmlformats.org/drawingml/2006/main">
            <a:pPr>
              <a:defRPr sz="2025" b="0">
                <a:solidFill>
                  <a:srgbClr val="4C6571"/>
                </a:solidFill>
                <a:latin typeface="Optimistic VF"/>
                <a:ea typeface="Optimistic VF"/>
                <a:cs typeface="Optimistic VF"/>
              </a:defRPr>
            </a:pPr>
            <a:r>
              <a:rPr sz="2025" b="0">
                <a:solidFill>
                  <a:srgbClr val="4C6571"/>
                </a:solidFill>
                <a:latin typeface="Optimistic VF"/>
                <a:ea typeface="Optimistic VF"/>
                <a:cs typeface="Optimistic VF"/>
              </a:rPr>
              <a:t>Maybe you’re into the same band, have a favorite dish to recommend or keep coming back to the same mural. That’s something you can connect over.</a:t>
            </a:r>
          </a:p>
        </p:txBody>
      </p:sp>
      <p:sp>
        <p:nvSpPr>
          <p:cNvPr id="6" name="">
            <a:extLst xmlns:a="http://schemas.openxmlformats.org/drawingml/2006/main">
              <a:ext uri="{FF2B5EF4-FFF2-40B4-BE49-F238E27FC236}">
                <a16:creationId xmlns:a16="http://schemas.microsoft.com/office/drawing/2014/main" id="{FE5A0588-2265-429C-A3A8-F313158094A7}"/>
              </a:ext>
            </a:extLst>
          </p:cNvPr>
          <p:cNvSpPr>
            <a:spLocks xmlns:a="http://schemas.openxmlformats.org/drawingml/2006/main" noGrp="1"/>
          </p:cNvSpPr>
          <p:nvPr/>
        </p:nvSpPr>
        <p:spPr>
          <a:xfrm xmlns:a="http://schemas.openxmlformats.org/drawingml/2006/main">
            <a:off x="6734175" y="1781175"/>
            <a:ext cx="48482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0866FF"/>
                </a:solidFill>
                <a:latin typeface="Optimistic VF Medium"/>
                <a:ea typeface="Optimistic VF Medium"/>
                <a:cs typeface="Optimistic VF Medium"/>
              </a:defRPr>
            </a:defPPr>
            <a:lvl1pPr>
              <a:defRPr sz="1875" b="0">
                <a:solidFill>
                  <a:srgbClr val="0866FF"/>
                </a:solidFill>
                <a:latin typeface="Optimistic VF Medium"/>
                <a:ea typeface="Optimistic VF Medium"/>
                <a:cs typeface="Optimistic VF Medium"/>
              </a:defRPr>
            </a:lvl1pPr>
            <a:lvl2pPr>
              <a:defRPr sz="1875" b="0">
                <a:solidFill>
                  <a:srgbClr val="0866FF"/>
                </a:solidFill>
                <a:latin typeface="Optimistic VF Medium"/>
                <a:ea typeface="Optimistic VF Medium"/>
                <a:cs typeface="Optimistic VF Medium"/>
              </a:defRPr>
            </a:lvl2pPr>
            <a:lvl3pPr>
              <a:defRPr sz="1875" b="0">
                <a:solidFill>
                  <a:srgbClr val="0866FF"/>
                </a:solidFill>
                <a:latin typeface="Optimistic VF Medium"/>
                <a:ea typeface="Optimistic VF Medium"/>
                <a:cs typeface="Optimistic VF Medium"/>
              </a:defRPr>
            </a:lvl3pPr>
            <a:lvl4pPr>
              <a:defRPr sz="1875" b="0">
                <a:solidFill>
                  <a:srgbClr val="0866FF"/>
                </a:solidFill>
                <a:latin typeface="Optimistic VF Medium"/>
                <a:ea typeface="Optimistic VF Medium"/>
                <a:cs typeface="Optimistic VF Medium"/>
              </a:defRPr>
            </a:lvl4pPr>
            <a:lvl5pPr>
              <a:defRPr sz="1875" b="0">
                <a:solidFill>
                  <a:srgbClr val="0866FF"/>
                </a:solidFill>
                <a:latin typeface="Optimistic VF Medium"/>
                <a:ea typeface="Optimistic VF Medium"/>
                <a:cs typeface="Optimistic VF Medium"/>
              </a:defRPr>
            </a:lvl5pPr>
            <a:lvl6pPr>
              <a:defRPr sz="1875" b="0">
                <a:solidFill>
                  <a:srgbClr val="0866FF"/>
                </a:solidFill>
                <a:latin typeface="Optimistic VF Medium"/>
                <a:ea typeface="Optimistic VF Medium"/>
                <a:cs typeface="Optimistic VF Medium"/>
              </a:defRPr>
            </a:lvl6pPr>
            <a:lvl7pPr>
              <a:defRPr sz="1875" b="0">
                <a:solidFill>
                  <a:srgbClr val="0866FF"/>
                </a:solidFill>
                <a:latin typeface="Optimistic VF Medium"/>
                <a:ea typeface="Optimistic VF Medium"/>
                <a:cs typeface="Optimistic VF Medium"/>
              </a:defRPr>
            </a:lvl7pPr>
            <a:lvl8pPr>
              <a:defRPr sz="1875" b="0">
                <a:solidFill>
                  <a:srgbClr val="0866FF"/>
                </a:solidFill>
                <a:latin typeface="Optimistic VF Medium"/>
                <a:ea typeface="Optimistic VF Medium"/>
                <a:cs typeface="Optimistic VF Medium"/>
              </a:defRPr>
            </a:lvl8pPr>
            <a:lvl9pPr>
              <a:defRPr sz="1875" b="0">
                <a:solidFill>
                  <a:srgbClr val="0866FF"/>
                </a:solidFill>
                <a:latin typeface="Optimistic VF Medium"/>
                <a:ea typeface="Optimistic VF Medium"/>
                <a:cs typeface="Optimistic VF Medium"/>
              </a:defRPr>
            </a:lvl9pPr>
          </a:lstStyle>
          <a:p xmlns:a="http://schemas.openxmlformats.org/drawingml/2006/main">
            <a:pPr>
              <a:defRPr sz="1875" b="0">
                <a:solidFill>
                  <a:srgbClr val="0866FF"/>
                </a:solidFill>
                <a:latin typeface="Optimistic VF Medium"/>
                <a:ea typeface="Optimistic VF Medium"/>
                <a:cs typeface="Optimistic VF Medium"/>
              </a:defRPr>
            </a:pPr>
            <a:r>
              <a:rPr sz="1875" b="0">
                <a:solidFill>
                  <a:srgbClr val="0866FF"/>
                </a:solidFill>
                <a:latin typeface="Optimistic VF Medium"/>
                <a:ea typeface="Optimistic VF Medium"/>
                <a:cs typeface="Optimistic VF Medium"/>
              </a:rPr>
              <a:t>Psychographics over demographics</a:t>
            </a:r>
          </a:p>
        </p:txBody>
      </p:sp>
      <p:sp>
        <p:nvSpPr>
          <p:cNvPr id="7" name="">
            <a:extLst xmlns:a="http://schemas.openxmlformats.org/drawingml/2006/main">
              <a:ext uri="{FF2B5EF4-FFF2-40B4-BE49-F238E27FC236}">
                <a16:creationId xmlns:a16="http://schemas.microsoft.com/office/drawing/2014/main" id="{770F8FCC-02C5-4346-9DE1-FF20A88A42AA}"/>
              </a:ext>
            </a:extLst>
          </p:cNvPr>
          <p:cNvSpPr>
            <a:spLocks xmlns:a="http://schemas.openxmlformats.org/drawingml/2006/main" noGrp="1"/>
          </p:cNvSpPr>
          <p:nvPr/>
        </p:nvSpPr>
        <p:spPr>
          <a:xfrm xmlns:a="http://schemas.openxmlformats.org/drawingml/2006/main">
            <a:off x="6734175" y="2247900"/>
            <a:ext cx="4848225"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142D38"/>
                </a:solidFill>
                <a:latin typeface="Optimistic VF"/>
                <a:ea typeface="Optimistic VF"/>
                <a:cs typeface="Optimistic VF"/>
              </a:defRPr>
            </a:defPPr>
            <a:lvl1pPr>
              <a:defRPr sz="1950" b="0">
                <a:solidFill>
                  <a:srgbClr val="142D38"/>
                </a:solidFill>
                <a:latin typeface="Optimistic VF"/>
                <a:ea typeface="Optimistic VF"/>
                <a:cs typeface="Optimistic VF"/>
              </a:defRPr>
            </a:lvl1pPr>
            <a:lvl2pPr>
              <a:defRPr sz="1950" b="0">
                <a:solidFill>
                  <a:srgbClr val="142D38"/>
                </a:solidFill>
                <a:latin typeface="Optimistic VF"/>
                <a:ea typeface="Optimistic VF"/>
                <a:cs typeface="Optimistic VF"/>
              </a:defRPr>
            </a:lvl2pPr>
            <a:lvl3pPr>
              <a:defRPr sz="1950" b="0">
                <a:solidFill>
                  <a:srgbClr val="142D38"/>
                </a:solidFill>
                <a:latin typeface="Optimistic VF"/>
                <a:ea typeface="Optimistic VF"/>
                <a:cs typeface="Optimistic VF"/>
              </a:defRPr>
            </a:lvl3pPr>
            <a:lvl4pPr>
              <a:defRPr sz="1950" b="0">
                <a:solidFill>
                  <a:srgbClr val="142D38"/>
                </a:solidFill>
                <a:latin typeface="Optimistic VF"/>
                <a:ea typeface="Optimistic VF"/>
                <a:cs typeface="Optimistic VF"/>
              </a:defRPr>
            </a:lvl4pPr>
            <a:lvl5pPr>
              <a:defRPr sz="1950" b="0">
                <a:solidFill>
                  <a:srgbClr val="142D38"/>
                </a:solidFill>
                <a:latin typeface="Optimistic VF"/>
                <a:ea typeface="Optimistic VF"/>
                <a:cs typeface="Optimistic VF"/>
              </a:defRPr>
            </a:lvl5pPr>
            <a:lvl6pPr>
              <a:defRPr sz="1950" b="0">
                <a:solidFill>
                  <a:srgbClr val="142D38"/>
                </a:solidFill>
                <a:latin typeface="Optimistic VF"/>
                <a:ea typeface="Optimistic VF"/>
                <a:cs typeface="Optimistic VF"/>
              </a:defRPr>
            </a:lvl6pPr>
            <a:lvl7pPr>
              <a:defRPr sz="1950" b="0">
                <a:solidFill>
                  <a:srgbClr val="142D38"/>
                </a:solidFill>
                <a:latin typeface="Optimistic VF"/>
                <a:ea typeface="Optimistic VF"/>
                <a:cs typeface="Optimistic VF"/>
              </a:defRPr>
            </a:lvl7pPr>
            <a:lvl8pPr>
              <a:defRPr sz="1950" b="0">
                <a:solidFill>
                  <a:srgbClr val="142D38"/>
                </a:solidFill>
                <a:latin typeface="Optimistic VF"/>
                <a:ea typeface="Optimistic VF"/>
                <a:cs typeface="Optimistic VF"/>
              </a:defRPr>
            </a:lvl8pPr>
            <a:lvl9pPr>
              <a:defRPr sz="1950" b="0">
                <a:solidFill>
                  <a:srgbClr val="142D38"/>
                </a:solidFill>
                <a:latin typeface="Optimistic VF"/>
                <a:ea typeface="Optimistic VF"/>
                <a:cs typeface="Optimistic VF"/>
              </a:defRPr>
            </a:lvl9pPr>
          </a:lstStyle>
          <a:p xmlns:a="http://schemas.openxmlformats.org/drawingml/2006/main">
            <a:pPr>
              <a:defRPr sz="1950" b="0">
                <a:solidFill>
                  <a:srgbClr val="142D38"/>
                </a:solidFill>
                <a:latin typeface="Optimistic VF"/>
                <a:ea typeface="Optimistic VF"/>
                <a:cs typeface="Optimistic VF"/>
              </a:defRPr>
            </a:pPr>
            <a:r>
              <a:rPr sz="1950" b="0">
                <a:solidFill>
                  <a:srgbClr val="142D38"/>
                </a:solidFill>
                <a:latin typeface="Optimistic VF"/>
                <a:ea typeface="Optimistic VF"/>
                <a:cs typeface="Optimistic VF"/>
              </a:rPr>
              <a:t>We want to help people connect through what they care about and how they spend their time.</a:t>
            </a:r>
          </a:p>
        </p:txBody>
      </p:sp>
      <p:sp>
        <p:nvSpPr>
          <p:cNvPr id="8" name="">
            <a:extLst xmlns:a="http://schemas.openxmlformats.org/drawingml/2006/main">
              <a:ext uri="{FF2B5EF4-FFF2-40B4-BE49-F238E27FC236}">
                <a16:creationId xmlns:a16="http://schemas.microsoft.com/office/drawing/2014/main" id="{56B55E33-2C04-4497-9DA1-EC1E0284CC3F}"/>
              </a:ext>
            </a:extLst>
          </p:cNvPr>
          <p:cNvSpPr>
            <a:spLocks xmlns:a="http://schemas.openxmlformats.org/drawingml/2006/main" noGrp="1"/>
          </p:cNvSpPr>
          <p:nvPr/>
        </p:nvSpPr>
        <p:spPr>
          <a:xfrm xmlns:a="http://schemas.openxmlformats.org/drawingml/2006/main">
            <a:off x="6734175" y="3286125"/>
            <a:ext cx="48482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0866FF"/>
                </a:solidFill>
                <a:latin typeface="Optimistic VF Medium"/>
                <a:ea typeface="Optimistic VF Medium"/>
                <a:cs typeface="Optimistic VF Medium"/>
              </a:defRPr>
            </a:defPPr>
            <a:lvl1pPr>
              <a:defRPr sz="1875" b="0">
                <a:solidFill>
                  <a:srgbClr val="0866FF"/>
                </a:solidFill>
                <a:latin typeface="Optimistic VF Medium"/>
                <a:ea typeface="Optimistic VF Medium"/>
                <a:cs typeface="Optimistic VF Medium"/>
              </a:defRPr>
            </a:lvl1pPr>
            <a:lvl2pPr>
              <a:defRPr sz="1875" b="0">
                <a:solidFill>
                  <a:srgbClr val="0866FF"/>
                </a:solidFill>
                <a:latin typeface="Optimistic VF Medium"/>
                <a:ea typeface="Optimistic VF Medium"/>
                <a:cs typeface="Optimistic VF Medium"/>
              </a:defRPr>
            </a:lvl2pPr>
            <a:lvl3pPr>
              <a:defRPr sz="1875" b="0">
                <a:solidFill>
                  <a:srgbClr val="0866FF"/>
                </a:solidFill>
                <a:latin typeface="Optimistic VF Medium"/>
                <a:ea typeface="Optimistic VF Medium"/>
                <a:cs typeface="Optimistic VF Medium"/>
              </a:defRPr>
            </a:lvl3pPr>
            <a:lvl4pPr>
              <a:defRPr sz="1875" b="0">
                <a:solidFill>
                  <a:srgbClr val="0866FF"/>
                </a:solidFill>
                <a:latin typeface="Optimistic VF Medium"/>
                <a:ea typeface="Optimistic VF Medium"/>
                <a:cs typeface="Optimistic VF Medium"/>
              </a:defRPr>
            </a:lvl4pPr>
            <a:lvl5pPr>
              <a:defRPr sz="1875" b="0">
                <a:solidFill>
                  <a:srgbClr val="0866FF"/>
                </a:solidFill>
                <a:latin typeface="Optimistic VF Medium"/>
                <a:ea typeface="Optimistic VF Medium"/>
                <a:cs typeface="Optimistic VF Medium"/>
              </a:defRPr>
            </a:lvl5pPr>
            <a:lvl6pPr>
              <a:defRPr sz="1875" b="0">
                <a:solidFill>
                  <a:srgbClr val="0866FF"/>
                </a:solidFill>
                <a:latin typeface="Optimistic VF Medium"/>
                <a:ea typeface="Optimistic VF Medium"/>
                <a:cs typeface="Optimistic VF Medium"/>
              </a:defRPr>
            </a:lvl6pPr>
            <a:lvl7pPr>
              <a:defRPr sz="1875" b="0">
                <a:solidFill>
                  <a:srgbClr val="0866FF"/>
                </a:solidFill>
                <a:latin typeface="Optimistic VF Medium"/>
                <a:ea typeface="Optimistic VF Medium"/>
                <a:cs typeface="Optimistic VF Medium"/>
              </a:defRPr>
            </a:lvl7pPr>
            <a:lvl8pPr>
              <a:defRPr sz="1875" b="0">
                <a:solidFill>
                  <a:srgbClr val="0866FF"/>
                </a:solidFill>
                <a:latin typeface="Optimistic VF Medium"/>
                <a:ea typeface="Optimistic VF Medium"/>
                <a:cs typeface="Optimistic VF Medium"/>
              </a:defRPr>
            </a:lvl8pPr>
            <a:lvl9pPr>
              <a:defRPr sz="1875" b="0">
                <a:solidFill>
                  <a:srgbClr val="0866FF"/>
                </a:solidFill>
                <a:latin typeface="Optimistic VF Medium"/>
                <a:ea typeface="Optimistic VF Medium"/>
                <a:cs typeface="Optimistic VF Medium"/>
              </a:defRPr>
            </a:lvl9pPr>
          </a:lstStyle>
          <a:p xmlns:a="http://schemas.openxmlformats.org/drawingml/2006/main">
            <a:pPr>
              <a:defRPr sz="1875" b="0">
                <a:solidFill>
                  <a:srgbClr val="0866FF"/>
                </a:solidFill>
                <a:latin typeface="Optimistic VF Medium"/>
                <a:ea typeface="Optimistic VF Medium"/>
                <a:cs typeface="Optimistic VF Medium"/>
              </a:defRPr>
            </a:pPr>
            <a:r>
              <a:rPr sz="1875" b="0">
                <a:solidFill>
                  <a:srgbClr val="0866FF"/>
                </a:solidFill>
                <a:latin typeface="Optimistic VF Medium"/>
                <a:ea typeface="Optimistic VF Medium"/>
                <a:cs typeface="Optimistic VF Medium"/>
              </a:rPr>
              <a:t>Clues to shared interests</a:t>
            </a:r>
          </a:p>
        </p:txBody>
      </p:sp>
      <p:sp>
        <p:nvSpPr>
          <p:cNvPr id="9" name="">
            <a:extLst xmlns:a="http://schemas.openxmlformats.org/drawingml/2006/main">
              <a:ext uri="{FF2B5EF4-FFF2-40B4-BE49-F238E27FC236}">
                <a16:creationId xmlns:a16="http://schemas.microsoft.com/office/drawing/2014/main" id="{15A35705-4FFA-4FC3-AFE6-B6640033BF33}"/>
              </a:ext>
            </a:extLst>
          </p:cNvPr>
          <p:cNvSpPr>
            <a:spLocks xmlns:a="http://schemas.openxmlformats.org/drawingml/2006/main" noGrp="1"/>
          </p:cNvSpPr>
          <p:nvPr/>
        </p:nvSpPr>
        <p:spPr>
          <a:xfrm xmlns:a="http://schemas.openxmlformats.org/drawingml/2006/main">
            <a:off x="6734175" y="3752850"/>
            <a:ext cx="4848225"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142D38"/>
                </a:solidFill>
                <a:latin typeface="Optimistic VF"/>
                <a:ea typeface="Optimistic VF"/>
                <a:cs typeface="Optimistic VF"/>
              </a:defRPr>
            </a:defPPr>
            <a:lvl1pPr>
              <a:defRPr sz="1950" b="0">
                <a:solidFill>
                  <a:srgbClr val="142D38"/>
                </a:solidFill>
                <a:latin typeface="Optimistic VF"/>
                <a:ea typeface="Optimistic VF"/>
                <a:cs typeface="Optimistic VF"/>
              </a:defRPr>
            </a:lvl1pPr>
            <a:lvl2pPr>
              <a:defRPr sz="1950" b="0">
                <a:solidFill>
                  <a:srgbClr val="142D38"/>
                </a:solidFill>
                <a:latin typeface="Optimistic VF"/>
                <a:ea typeface="Optimistic VF"/>
                <a:cs typeface="Optimistic VF"/>
              </a:defRPr>
            </a:lvl2pPr>
            <a:lvl3pPr>
              <a:defRPr sz="1950" b="0">
                <a:solidFill>
                  <a:srgbClr val="142D38"/>
                </a:solidFill>
                <a:latin typeface="Optimistic VF"/>
                <a:ea typeface="Optimistic VF"/>
                <a:cs typeface="Optimistic VF"/>
              </a:defRPr>
            </a:lvl3pPr>
            <a:lvl4pPr>
              <a:defRPr sz="1950" b="0">
                <a:solidFill>
                  <a:srgbClr val="142D38"/>
                </a:solidFill>
                <a:latin typeface="Optimistic VF"/>
                <a:ea typeface="Optimistic VF"/>
                <a:cs typeface="Optimistic VF"/>
              </a:defRPr>
            </a:lvl4pPr>
            <a:lvl5pPr>
              <a:defRPr sz="1950" b="0">
                <a:solidFill>
                  <a:srgbClr val="142D38"/>
                </a:solidFill>
                <a:latin typeface="Optimistic VF"/>
                <a:ea typeface="Optimistic VF"/>
                <a:cs typeface="Optimistic VF"/>
              </a:defRPr>
            </a:lvl5pPr>
            <a:lvl6pPr>
              <a:defRPr sz="1950" b="0">
                <a:solidFill>
                  <a:srgbClr val="142D38"/>
                </a:solidFill>
                <a:latin typeface="Optimistic VF"/>
                <a:ea typeface="Optimistic VF"/>
                <a:cs typeface="Optimistic VF"/>
              </a:defRPr>
            </a:lvl6pPr>
            <a:lvl7pPr>
              <a:defRPr sz="1950" b="0">
                <a:solidFill>
                  <a:srgbClr val="142D38"/>
                </a:solidFill>
                <a:latin typeface="Optimistic VF"/>
                <a:ea typeface="Optimistic VF"/>
                <a:cs typeface="Optimistic VF"/>
              </a:defRPr>
            </a:lvl7pPr>
            <a:lvl8pPr>
              <a:defRPr sz="1950" b="0">
                <a:solidFill>
                  <a:srgbClr val="142D38"/>
                </a:solidFill>
                <a:latin typeface="Optimistic VF"/>
                <a:ea typeface="Optimistic VF"/>
                <a:cs typeface="Optimistic VF"/>
              </a:defRPr>
            </a:lvl8pPr>
            <a:lvl9pPr>
              <a:defRPr sz="1950" b="0">
                <a:solidFill>
                  <a:srgbClr val="142D38"/>
                </a:solidFill>
                <a:latin typeface="Optimistic VF"/>
                <a:ea typeface="Optimistic VF"/>
                <a:cs typeface="Optimistic VF"/>
              </a:defRPr>
            </a:lvl9pPr>
          </a:lstStyle>
          <a:p xmlns:a="http://schemas.openxmlformats.org/drawingml/2006/main">
            <a:pPr>
              <a:defRPr sz="1950" b="0">
                <a:solidFill>
                  <a:srgbClr val="142D38"/>
                </a:solidFill>
                <a:latin typeface="Optimistic VF"/>
                <a:ea typeface="Optimistic VF"/>
                <a:cs typeface="Optimistic VF"/>
              </a:defRPr>
            </a:pPr>
            <a:r>
              <a:rPr sz="1950" b="0">
                <a:solidFill>
                  <a:srgbClr val="142D38"/>
                </a:solidFill>
                <a:latin typeface="Optimistic VF"/>
                <a:ea typeface="Optimistic VF"/>
                <a:cs typeface="Optimistic VF"/>
              </a:rPr>
              <a:t>If you choose to share it, we could use what you often look at, search for and the places you visit.</a:t>
            </a:r>
          </a:p>
        </p:txBody>
      </p:sp>
      <p:sp>
        <p:nvSpPr>
          <p:cNvPr id="10" name="">
            <a:extLst xmlns:a="http://schemas.openxmlformats.org/drawingml/2006/main">
              <a:ext uri="{FF2B5EF4-FFF2-40B4-BE49-F238E27FC236}">
                <a16:creationId xmlns:a16="http://schemas.microsoft.com/office/drawing/2014/main" id="{77C287A5-105F-410C-B955-D2A508DDFAB9}"/>
              </a:ext>
            </a:extLst>
          </p:cNvPr>
          <p:cNvSpPr>
            <a:spLocks xmlns:a="http://schemas.openxmlformats.org/drawingml/2006/main" noGrp="1"/>
          </p:cNvSpPr>
          <p:nvPr/>
        </p:nvSpPr>
        <p:spPr>
          <a:xfrm xmlns:a="http://schemas.openxmlformats.org/drawingml/2006/main">
            <a:off x="6734175" y="4791075"/>
            <a:ext cx="48482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0866FF"/>
                </a:solidFill>
                <a:latin typeface="Optimistic VF Medium"/>
                <a:ea typeface="Optimistic VF Medium"/>
                <a:cs typeface="Optimistic VF Medium"/>
              </a:defRPr>
            </a:defPPr>
            <a:lvl1pPr>
              <a:defRPr sz="1875" b="0">
                <a:solidFill>
                  <a:srgbClr val="0866FF"/>
                </a:solidFill>
                <a:latin typeface="Optimistic VF Medium"/>
                <a:ea typeface="Optimistic VF Medium"/>
                <a:cs typeface="Optimistic VF Medium"/>
              </a:defRPr>
            </a:lvl1pPr>
            <a:lvl2pPr>
              <a:defRPr sz="1875" b="0">
                <a:solidFill>
                  <a:srgbClr val="0866FF"/>
                </a:solidFill>
                <a:latin typeface="Optimistic VF Medium"/>
                <a:ea typeface="Optimistic VF Medium"/>
                <a:cs typeface="Optimistic VF Medium"/>
              </a:defRPr>
            </a:lvl2pPr>
            <a:lvl3pPr>
              <a:defRPr sz="1875" b="0">
                <a:solidFill>
                  <a:srgbClr val="0866FF"/>
                </a:solidFill>
                <a:latin typeface="Optimistic VF Medium"/>
                <a:ea typeface="Optimistic VF Medium"/>
                <a:cs typeface="Optimistic VF Medium"/>
              </a:defRPr>
            </a:lvl3pPr>
            <a:lvl4pPr>
              <a:defRPr sz="1875" b="0">
                <a:solidFill>
                  <a:srgbClr val="0866FF"/>
                </a:solidFill>
                <a:latin typeface="Optimistic VF Medium"/>
                <a:ea typeface="Optimistic VF Medium"/>
                <a:cs typeface="Optimistic VF Medium"/>
              </a:defRPr>
            </a:lvl4pPr>
            <a:lvl5pPr>
              <a:defRPr sz="1875" b="0">
                <a:solidFill>
                  <a:srgbClr val="0866FF"/>
                </a:solidFill>
                <a:latin typeface="Optimistic VF Medium"/>
                <a:ea typeface="Optimistic VF Medium"/>
                <a:cs typeface="Optimistic VF Medium"/>
              </a:defRPr>
            </a:lvl5pPr>
            <a:lvl6pPr>
              <a:defRPr sz="1875" b="0">
                <a:solidFill>
                  <a:srgbClr val="0866FF"/>
                </a:solidFill>
                <a:latin typeface="Optimistic VF Medium"/>
                <a:ea typeface="Optimistic VF Medium"/>
                <a:cs typeface="Optimistic VF Medium"/>
              </a:defRPr>
            </a:lvl6pPr>
            <a:lvl7pPr>
              <a:defRPr sz="1875" b="0">
                <a:solidFill>
                  <a:srgbClr val="0866FF"/>
                </a:solidFill>
                <a:latin typeface="Optimistic VF Medium"/>
                <a:ea typeface="Optimistic VF Medium"/>
                <a:cs typeface="Optimistic VF Medium"/>
              </a:defRPr>
            </a:lvl7pPr>
            <a:lvl8pPr>
              <a:defRPr sz="1875" b="0">
                <a:solidFill>
                  <a:srgbClr val="0866FF"/>
                </a:solidFill>
                <a:latin typeface="Optimistic VF Medium"/>
                <a:ea typeface="Optimistic VF Medium"/>
                <a:cs typeface="Optimistic VF Medium"/>
              </a:defRPr>
            </a:lvl8pPr>
            <a:lvl9pPr>
              <a:defRPr sz="1875" b="0">
                <a:solidFill>
                  <a:srgbClr val="0866FF"/>
                </a:solidFill>
                <a:latin typeface="Optimistic VF Medium"/>
                <a:ea typeface="Optimistic VF Medium"/>
                <a:cs typeface="Optimistic VF Medium"/>
              </a:defRPr>
            </a:lvl9pPr>
          </a:lstStyle>
          <a:p xmlns:a="http://schemas.openxmlformats.org/drawingml/2006/main">
            <a:pPr>
              <a:defRPr sz="1875" b="0">
                <a:solidFill>
                  <a:srgbClr val="0866FF"/>
                </a:solidFill>
                <a:latin typeface="Optimistic VF Medium"/>
                <a:ea typeface="Optimistic VF Medium"/>
                <a:cs typeface="Optimistic VF Medium"/>
              </a:defRPr>
            </a:pPr>
            <a:r>
              <a:rPr sz="1875" b="0">
                <a:solidFill>
                  <a:srgbClr val="0866FF"/>
                </a:solidFill>
                <a:latin typeface="Optimistic VF Medium"/>
                <a:ea typeface="Optimistic VF Medium"/>
                <a:cs typeface="Optimistic VF Medium"/>
              </a:rPr>
              <a:t>You choose who to connect with</a:t>
            </a:r>
          </a:p>
        </p:txBody>
      </p:sp>
      <p:sp>
        <p:nvSpPr>
          <p:cNvPr id="11" name="">
            <a:extLst xmlns:a="http://schemas.openxmlformats.org/drawingml/2006/main">
              <a:ext uri="{FF2B5EF4-FFF2-40B4-BE49-F238E27FC236}">
                <a16:creationId xmlns:a16="http://schemas.microsoft.com/office/drawing/2014/main" id="{A77D1D94-718B-4776-9A4E-2C85FCA03214}"/>
              </a:ext>
            </a:extLst>
          </p:cNvPr>
          <p:cNvSpPr>
            <a:spLocks xmlns:a="http://schemas.openxmlformats.org/drawingml/2006/main" noGrp="1"/>
          </p:cNvSpPr>
          <p:nvPr/>
        </p:nvSpPr>
        <p:spPr>
          <a:xfrm xmlns:a="http://schemas.openxmlformats.org/drawingml/2006/main">
            <a:off x="6734175" y="5257800"/>
            <a:ext cx="4848225"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142D38"/>
                </a:solidFill>
                <a:latin typeface="Optimistic VF"/>
                <a:ea typeface="Optimistic VF"/>
                <a:cs typeface="Optimistic VF"/>
              </a:defRPr>
            </a:defPPr>
            <a:lvl1pPr>
              <a:defRPr sz="1950" b="0">
                <a:solidFill>
                  <a:srgbClr val="142D38"/>
                </a:solidFill>
                <a:latin typeface="Optimistic VF"/>
                <a:ea typeface="Optimistic VF"/>
                <a:cs typeface="Optimistic VF"/>
              </a:defRPr>
            </a:lvl1pPr>
            <a:lvl2pPr>
              <a:defRPr sz="1950" b="0">
                <a:solidFill>
                  <a:srgbClr val="142D38"/>
                </a:solidFill>
                <a:latin typeface="Optimistic VF"/>
                <a:ea typeface="Optimistic VF"/>
                <a:cs typeface="Optimistic VF"/>
              </a:defRPr>
            </a:lvl2pPr>
            <a:lvl3pPr>
              <a:defRPr sz="1950" b="0">
                <a:solidFill>
                  <a:srgbClr val="142D38"/>
                </a:solidFill>
                <a:latin typeface="Optimistic VF"/>
                <a:ea typeface="Optimistic VF"/>
                <a:cs typeface="Optimistic VF"/>
              </a:defRPr>
            </a:lvl3pPr>
            <a:lvl4pPr>
              <a:defRPr sz="1950" b="0">
                <a:solidFill>
                  <a:srgbClr val="142D38"/>
                </a:solidFill>
                <a:latin typeface="Optimistic VF"/>
                <a:ea typeface="Optimistic VF"/>
                <a:cs typeface="Optimistic VF"/>
              </a:defRPr>
            </a:lvl4pPr>
            <a:lvl5pPr>
              <a:defRPr sz="1950" b="0">
                <a:solidFill>
                  <a:srgbClr val="142D38"/>
                </a:solidFill>
                <a:latin typeface="Optimistic VF"/>
                <a:ea typeface="Optimistic VF"/>
                <a:cs typeface="Optimistic VF"/>
              </a:defRPr>
            </a:lvl5pPr>
            <a:lvl6pPr>
              <a:defRPr sz="1950" b="0">
                <a:solidFill>
                  <a:srgbClr val="142D38"/>
                </a:solidFill>
                <a:latin typeface="Optimistic VF"/>
                <a:ea typeface="Optimistic VF"/>
                <a:cs typeface="Optimistic VF"/>
              </a:defRPr>
            </a:lvl6pPr>
            <a:lvl7pPr>
              <a:defRPr sz="1950" b="0">
                <a:solidFill>
                  <a:srgbClr val="142D38"/>
                </a:solidFill>
                <a:latin typeface="Optimistic VF"/>
                <a:ea typeface="Optimistic VF"/>
                <a:cs typeface="Optimistic VF"/>
              </a:defRPr>
            </a:lvl7pPr>
            <a:lvl8pPr>
              <a:defRPr sz="1950" b="0">
                <a:solidFill>
                  <a:srgbClr val="142D38"/>
                </a:solidFill>
                <a:latin typeface="Optimistic VF"/>
                <a:ea typeface="Optimistic VF"/>
                <a:cs typeface="Optimistic VF"/>
              </a:defRPr>
            </a:lvl8pPr>
            <a:lvl9pPr>
              <a:defRPr sz="1950" b="0">
                <a:solidFill>
                  <a:srgbClr val="142D38"/>
                </a:solidFill>
                <a:latin typeface="Optimistic VF"/>
                <a:ea typeface="Optimistic VF"/>
                <a:cs typeface="Optimistic VF"/>
              </a:defRPr>
            </a:lvl9pPr>
          </a:lstStyle>
          <a:p xmlns:a="http://schemas.openxmlformats.org/drawingml/2006/main">
            <a:pPr>
              <a:defRPr sz="1950" b="0">
                <a:solidFill>
                  <a:srgbClr val="142D38"/>
                </a:solidFill>
                <a:latin typeface="Optimistic VF"/>
                <a:ea typeface="Optimistic VF"/>
                <a:cs typeface="Optimistic VF"/>
              </a:defRPr>
            </a:pPr>
            <a:r>
              <a:rPr sz="1950" b="0">
                <a:solidFill>
                  <a:srgbClr val="142D38"/>
                </a:solidFill>
                <a:latin typeface="Optimistic VF"/>
                <a:ea typeface="Optimistic VF"/>
                <a:cs typeface="Optimistic VF"/>
              </a:rPr>
              <a:t>You decide what to share, which notes to reply to and whether you want to keep talking.</a:t>
            </a:r>
          </a:p>
        </p:txBody>
      </p:sp>
      <p:sp>
        <p:nvSpPr>
          <p:cNvPr id="12" name="">
            <a:extLst xmlns:a="http://schemas.openxmlformats.org/drawingml/2006/main">
              <a:ext uri="{FF2B5EF4-FFF2-40B4-BE49-F238E27FC236}">
                <a16:creationId xmlns:a16="http://schemas.microsoft.com/office/drawing/2014/main" id="{ED0C408B-61C8-484A-8928-1C4C059A89BE}"/>
              </a:ext>
            </a:extLst>
          </p:cNvPr>
          <p:cNvSpPr>
            <a:spLocks xmlns:a="http://schemas.openxmlformats.org/drawingml/2006/main" noGrp="1"/>
          </p:cNvSpPr>
          <p:nvPr/>
        </p:nvSpPr>
        <p:spPr>
          <a:xfrm xmlns:a="http://schemas.openxmlformats.org/drawingml/2006/main">
            <a:off x="647700" y="6381750"/>
            <a:ext cx="108870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4C6571"/>
                </a:solidFill>
                <a:latin typeface="Optimistic VF"/>
                <a:ea typeface="Optimistic VF"/>
                <a:cs typeface="Optimistic VF"/>
              </a:defRPr>
            </a:defPPr>
            <a:lvl1pPr>
              <a:defRPr sz="1575" b="0">
                <a:solidFill>
                  <a:srgbClr val="4C6571"/>
                </a:solidFill>
                <a:latin typeface="Optimistic VF"/>
                <a:ea typeface="Optimistic VF"/>
                <a:cs typeface="Optimistic VF"/>
              </a:defRPr>
            </a:lvl1pPr>
            <a:lvl2pPr>
              <a:defRPr sz="1575" b="0">
                <a:solidFill>
                  <a:srgbClr val="4C6571"/>
                </a:solidFill>
                <a:latin typeface="Optimistic VF"/>
                <a:ea typeface="Optimistic VF"/>
                <a:cs typeface="Optimistic VF"/>
              </a:defRPr>
            </a:lvl2pPr>
            <a:lvl3pPr>
              <a:defRPr sz="1575" b="0">
                <a:solidFill>
                  <a:srgbClr val="4C6571"/>
                </a:solidFill>
                <a:latin typeface="Optimistic VF"/>
                <a:ea typeface="Optimistic VF"/>
                <a:cs typeface="Optimistic VF"/>
              </a:defRPr>
            </a:lvl3pPr>
            <a:lvl4pPr>
              <a:defRPr sz="1575" b="0">
                <a:solidFill>
                  <a:srgbClr val="4C6571"/>
                </a:solidFill>
                <a:latin typeface="Optimistic VF"/>
                <a:ea typeface="Optimistic VF"/>
                <a:cs typeface="Optimistic VF"/>
              </a:defRPr>
            </a:lvl4pPr>
            <a:lvl5pPr>
              <a:defRPr sz="1575" b="0">
                <a:solidFill>
                  <a:srgbClr val="4C6571"/>
                </a:solidFill>
                <a:latin typeface="Optimistic VF"/>
                <a:ea typeface="Optimistic VF"/>
                <a:cs typeface="Optimistic VF"/>
              </a:defRPr>
            </a:lvl5pPr>
            <a:lvl6pPr>
              <a:defRPr sz="1575" b="0">
                <a:solidFill>
                  <a:srgbClr val="4C6571"/>
                </a:solidFill>
                <a:latin typeface="Optimistic VF"/>
                <a:ea typeface="Optimistic VF"/>
                <a:cs typeface="Optimistic VF"/>
              </a:defRPr>
            </a:lvl6pPr>
            <a:lvl7pPr>
              <a:defRPr sz="1575" b="0">
                <a:solidFill>
                  <a:srgbClr val="4C6571"/>
                </a:solidFill>
                <a:latin typeface="Optimistic VF"/>
                <a:ea typeface="Optimistic VF"/>
                <a:cs typeface="Optimistic VF"/>
              </a:defRPr>
            </a:lvl7pPr>
            <a:lvl8pPr>
              <a:defRPr sz="1575" b="0">
                <a:solidFill>
                  <a:srgbClr val="4C6571"/>
                </a:solidFill>
                <a:latin typeface="Optimistic VF"/>
                <a:ea typeface="Optimistic VF"/>
                <a:cs typeface="Optimistic VF"/>
              </a:defRPr>
            </a:lvl8pPr>
            <a:lvl9pPr>
              <a:defRPr sz="1575" b="0">
                <a:solidFill>
                  <a:srgbClr val="4C6571"/>
                </a:solidFill>
                <a:latin typeface="Optimistic VF"/>
                <a:ea typeface="Optimistic VF"/>
                <a:cs typeface="Optimistic VF"/>
              </a:defRPr>
            </a:lvl9pPr>
          </a:lstStyle>
          <a:p xmlns:a="http://schemas.openxmlformats.org/drawingml/2006/main">
            <a:pPr>
              <a:defRPr sz="1575" b="0">
                <a:solidFill>
                  <a:srgbClr val="4C6571"/>
                </a:solidFill>
                <a:latin typeface="Optimistic VF"/>
                <a:ea typeface="Optimistic VF"/>
                <a:cs typeface="Optimistic VF"/>
              </a:defRPr>
            </a:pPr>
            <a:r>
              <a:rPr sz="1575" b="0">
                <a:solidFill>
                  <a:srgbClr val="4C6571"/>
                </a:solidFill>
                <a:latin typeface="Optimistic VF"/>
                <a:ea typeface="Optimistic VF"/>
                <a:cs typeface="Optimistic VF"/>
              </a:rPr>
              <a:t>The poster is just one example. Spots is about shared interests, wherever you find them.</a:t>
            </a:r>
          </a:p>
        </p:txBody>
      </p:sp>
    </p:spTree>
    <p:extLst>
      <p:ext uri="{BB962C8B-B14F-4D97-AF65-F5344CB8AC3E}">
        <p14:creationId xmlns:p14="http://schemas.microsoft.com/office/powerpoint/2010/main" val="374904091"/>
      </p:ext>
    </p:extLst>
  </p:cSld>
</p:sld>
</file>

<file path=ppt/slides/slide5.xml><?xml version="1.0" encoding="utf-8"?>
<p:sld xmlns:p="http://schemas.openxmlformats.org/presentationml/2006/main">
  <p:cSld>
    <p:bg>
      <p:bgPr>
        <a:solidFill xmlns:a="http://schemas.openxmlformats.org/drawingml/2006/main">
          <a:srgbClr val="102735"/>
        </a:solidFill>
      </p:bgPr>
    </p:bg>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F383A9EC-BFFB-4DF6-9A42-974A46CE81A5}"/>
              </a:ext>
            </a:extLst>
          </p:cNvPr>
          <p:cNvPicPr>
            <a:picLocks xmlns:a="http://schemas.openxmlformats.org/drawingml/2006/main" noChangeAspect="1"/>
          </p:cNvPicPr>
          <p:nvPr/>
        </p:nvPicPr>
        <p:blipFill>
          <a:blip xmlns:r="http://schemas.openxmlformats.org/officeDocument/2006/relationships" xmlns:a="http://schemas.openxmlformats.org/drawingml/2006/main" r:embed="Rb5098fa7965d4ec9"/>
          <a:srcRect xmlns:a="http://schemas.openxmlformats.org/drawingml/2006/main" l="25000" t="0" r="23800" b="0"/>
          <a:stretch xmlns:a="http://schemas.openxmlformats.org/drawingml/2006/main"/>
        </p:blipFill>
        <p:spPr>
          <a:xfrm xmlns:a="http://schemas.openxmlformats.org/drawingml/2006/main">
            <a:off x="5953125" y="0"/>
            <a:ext cx="6238875" cy="68580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216A9571-01CE-4A5C-A358-A250D7C00BB1}"/>
              </a:ext>
            </a:extLst>
          </p:cNvPr>
          <p:cNvSpPr>
            <a:spLocks xmlns:a="http://schemas.openxmlformats.org/drawingml/2006/main" noGrp="1"/>
          </p:cNvSpPr>
          <p:nvPr/>
        </p:nvSpPr>
        <p:spPr>
          <a:xfrm xmlns:a="http://schemas.openxmlformats.org/drawingml/2006/main">
            <a:off x="609600" y="523875"/>
            <a:ext cx="5810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8DBBFF"/>
                </a:solidFill>
                <a:latin typeface="Optimistic VF Medium"/>
                <a:ea typeface="Optimistic VF Medium"/>
                <a:cs typeface="Optimistic VF Medium"/>
              </a:defRPr>
            </a:defPPr>
            <a:lvl1pPr>
              <a:defRPr sz="1350" b="0">
                <a:solidFill>
                  <a:srgbClr val="8DBBFF"/>
                </a:solidFill>
                <a:latin typeface="Optimistic VF Medium"/>
                <a:ea typeface="Optimistic VF Medium"/>
                <a:cs typeface="Optimistic VF Medium"/>
              </a:defRPr>
            </a:lvl1pPr>
            <a:lvl2pPr>
              <a:defRPr sz="1350" b="0">
                <a:solidFill>
                  <a:srgbClr val="8DBBFF"/>
                </a:solidFill>
                <a:latin typeface="Optimistic VF Medium"/>
                <a:ea typeface="Optimistic VF Medium"/>
                <a:cs typeface="Optimistic VF Medium"/>
              </a:defRPr>
            </a:lvl2pPr>
            <a:lvl3pPr>
              <a:defRPr sz="1350" b="0">
                <a:solidFill>
                  <a:srgbClr val="8DBBFF"/>
                </a:solidFill>
                <a:latin typeface="Optimistic VF Medium"/>
                <a:ea typeface="Optimistic VF Medium"/>
                <a:cs typeface="Optimistic VF Medium"/>
              </a:defRPr>
            </a:lvl3pPr>
            <a:lvl4pPr>
              <a:defRPr sz="1350" b="0">
                <a:solidFill>
                  <a:srgbClr val="8DBBFF"/>
                </a:solidFill>
                <a:latin typeface="Optimistic VF Medium"/>
                <a:ea typeface="Optimistic VF Medium"/>
                <a:cs typeface="Optimistic VF Medium"/>
              </a:defRPr>
            </a:lvl4pPr>
            <a:lvl5pPr>
              <a:defRPr sz="1350" b="0">
                <a:solidFill>
                  <a:srgbClr val="8DBBFF"/>
                </a:solidFill>
                <a:latin typeface="Optimistic VF Medium"/>
                <a:ea typeface="Optimistic VF Medium"/>
                <a:cs typeface="Optimistic VF Medium"/>
              </a:defRPr>
            </a:lvl5pPr>
            <a:lvl6pPr>
              <a:defRPr sz="1350" b="0">
                <a:solidFill>
                  <a:srgbClr val="8DBBFF"/>
                </a:solidFill>
                <a:latin typeface="Optimistic VF Medium"/>
                <a:ea typeface="Optimistic VF Medium"/>
                <a:cs typeface="Optimistic VF Medium"/>
              </a:defRPr>
            </a:lvl6pPr>
            <a:lvl7pPr>
              <a:defRPr sz="1350" b="0">
                <a:solidFill>
                  <a:srgbClr val="8DBBFF"/>
                </a:solidFill>
                <a:latin typeface="Optimistic VF Medium"/>
                <a:ea typeface="Optimistic VF Medium"/>
                <a:cs typeface="Optimistic VF Medium"/>
              </a:defRPr>
            </a:lvl7pPr>
            <a:lvl8pPr>
              <a:defRPr sz="1350" b="0">
                <a:solidFill>
                  <a:srgbClr val="8DBBFF"/>
                </a:solidFill>
                <a:latin typeface="Optimistic VF Medium"/>
                <a:ea typeface="Optimistic VF Medium"/>
                <a:cs typeface="Optimistic VF Medium"/>
              </a:defRPr>
            </a:lvl8pPr>
            <a:lvl9pPr>
              <a:defRPr sz="1350" b="0">
                <a:solidFill>
                  <a:srgbClr val="8DBBFF"/>
                </a:solidFill>
                <a:latin typeface="Optimistic VF Medium"/>
                <a:ea typeface="Optimistic VF Medium"/>
                <a:cs typeface="Optimistic VF Medium"/>
              </a:defRPr>
            </a:lvl9pPr>
          </a:lstStyle>
          <a:p xmlns:a="http://schemas.openxmlformats.org/drawingml/2006/main">
            <a:pPr>
              <a:defRPr sz="1350" b="0">
                <a:solidFill>
                  <a:srgbClr val="8DBBFF"/>
                </a:solidFill>
                <a:latin typeface="Optimistic VF Medium"/>
                <a:ea typeface="Optimistic VF Medium"/>
                <a:cs typeface="Optimistic VF Medium"/>
              </a:defRPr>
            </a:pPr>
            <a:r>
              <a:rPr sz="1350" b="0">
                <a:solidFill>
                  <a:srgbClr val="8DBBFF"/>
                </a:solidFill>
                <a:latin typeface="Optimistic VF Medium"/>
                <a:ea typeface="Optimistic VF Medium"/>
                <a:cs typeface="Optimistic VF Medium"/>
              </a:rPr>
              <a:t>THE GLASSES EXPERIENCE</a:t>
            </a:r>
          </a:p>
        </p:txBody>
      </p:sp>
      <p:sp>
        <p:nvSpPr>
          <p:cNvPr id="4" name="">
            <a:extLst xmlns:a="http://schemas.openxmlformats.org/drawingml/2006/main">
              <a:ext uri="{FF2B5EF4-FFF2-40B4-BE49-F238E27FC236}">
                <a16:creationId xmlns:a16="http://schemas.microsoft.com/office/drawing/2014/main" id="{B6ECA846-AC82-407A-832F-A68D7514DAFB}"/>
              </a:ext>
            </a:extLst>
          </p:cNvPr>
          <p:cNvSpPr>
            <a:spLocks xmlns:a="http://schemas.openxmlformats.org/drawingml/2006/main" noGrp="1"/>
          </p:cNvSpPr>
          <p:nvPr/>
        </p:nvSpPr>
        <p:spPr>
          <a:xfrm xmlns:a="http://schemas.openxmlformats.org/drawingml/2006/main">
            <a:off x="571500" y="1714500"/>
            <a:ext cx="56197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4125" b="1">
                <a:solidFill>
                  <a:srgbClr val="FFFFFF"/>
                </a:solidFill>
                <a:latin typeface="Optimistic VF"/>
                <a:ea typeface="Optimistic VF"/>
                <a:cs typeface="Optimistic VF"/>
              </a:defRPr>
            </a:defPPr>
            <a:lvl1pPr>
              <a:defRPr sz="4125" b="1">
                <a:solidFill>
                  <a:srgbClr val="FFFFFF"/>
                </a:solidFill>
                <a:latin typeface="Optimistic VF"/>
                <a:ea typeface="Optimistic VF"/>
                <a:cs typeface="Optimistic VF"/>
              </a:defRPr>
            </a:lvl1pPr>
            <a:lvl2pPr>
              <a:defRPr sz="4125" b="1">
                <a:solidFill>
                  <a:srgbClr val="FFFFFF"/>
                </a:solidFill>
                <a:latin typeface="Optimistic VF"/>
                <a:ea typeface="Optimistic VF"/>
                <a:cs typeface="Optimistic VF"/>
              </a:defRPr>
            </a:lvl2pPr>
            <a:lvl3pPr>
              <a:defRPr sz="4125" b="1">
                <a:solidFill>
                  <a:srgbClr val="FFFFFF"/>
                </a:solidFill>
                <a:latin typeface="Optimistic VF"/>
                <a:ea typeface="Optimistic VF"/>
                <a:cs typeface="Optimistic VF"/>
              </a:defRPr>
            </a:lvl3pPr>
            <a:lvl4pPr>
              <a:defRPr sz="4125" b="1">
                <a:solidFill>
                  <a:srgbClr val="FFFFFF"/>
                </a:solidFill>
                <a:latin typeface="Optimistic VF"/>
                <a:ea typeface="Optimistic VF"/>
                <a:cs typeface="Optimistic VF"/>
              </a:defRPr>
            </a:lvl4pPr>
            <a:lvl5pPr>
              <a:defRPr sz="4125" b="1">
                <a:solidFill>
                  <a:srgbClr val="FFFFFF"/>
                </a:solidFill>
                <a:latin typeface="Optimistic VF"/>
                <a:ea typeface="Optimistic VF"/>
                <a:cs typeface="Optimistic VF"/>
              </a:defRPr>
            </a:lvl5pPr>
            <a:lvl6pPr>
              <a:defRPr sz="4125" b="1">
                <a:solidFill>
                  <a:srgbClr val="FFFFFF"/>
                </a:solidFill>
                <a:latin typeface="Optimistic VF"/>
                <a:ea typeface="Optimistic VF"/>
                <a:cs typeface="Optimistic VF"/>
              </a:defRPr>
            </a:lvl6pPr>
            <a:lvl7pPr>
              <a:defRPr sz="4125" b="1">
                <a:solidFill>
                  <a:srgbClr val="FFFFFF"/>
                </a:solidFill>
                <a:latin typeface="Optimistic VF"/>
                <a:ea typeface="Optimistic VF"/>
                <a:cs typeface="Optimistic VF"/>
              </a:defRPr>
            </a:lvl7pPr>
            <a:lvl8pPr>
              <a:defRPr sz="4125" b="1">
                <a:solidFill>
                  <a:srgbClr val="FFFFFF"/>
                </a:solidFill>
                <a:latin typeface="Optimistic VF"/>
                <a:ea typeface="Optimistic VF"/>
                <a:cs typeface="Optimistic VF"/>
              </a:defRPr>
            </a:lvl8pPr>
            <a:lvl9pPr>
              <a:defRPr sz="4125" b="1">
                <a:solidFill>
                  <a:srgbClr val="FFFFFF"/>
                </a:solidFill>
                <a:latin typeface="Optimistic VF"/>
                <a:ea typeface="Optimistic VF"/>
                <a:cs typeface="Optimistic VF"/>
              </a:defRPr>
            </a:lvl9pPr>
          </a:lstStyle>
          <a:p xmlns:a="http://schemas.openxmlformats.org/drawingml/2006/main">
            <a:pPr>
              <a:defRPr sz="4125" b="1">
                <a:solidFill>
                  <a:srgbClr val="FFFFFF"/>
                </a:solidFill>
                <a:latin typeface="Optimistic VF"/>
                <a:ea typeface="Optimistic VF"/>
                <a:cs typeface="Optimistic VF"/>
              </a:defRPr>
            </a:pPr>
            <a:r>
              <a:rPr sz="4125" b="1">
                <a:solidFill>
                  <a:srgbClr val="FFFFFF"/>
                </a:solidFill>
                <a:latin typeface="Optimistic VF"/>
                <a:ea typeface="Optimistic VF"/>
                <a:cs typeface="Optimistic VF"/>
              </a:rPr>
              <a:t>Say it through</a:t>
            </a:r>
          </a:p>
          <a:p xmlns:a="http://schemas.openxmlformats.org/drawingml/2006/main">
            <a:pPr>
              <a:defRPr sz="4125" b="1">
                <a:solidFill>
                  <a:srgbClr val="FFFFFF"/>
                </a:solidFill>
                <a:latin typeface="Optimistic VF"/>
                <a:ea typeface="Optimistic VF"/>
                <a:cs typeface="Optimistic VF"/>
              </a:defRPr>
            </a:pPr>
            <a:r>
              <a:rPr sz="4125" b="1">
                <a:solidFill>
                  <a:srgbClr val="FFFFFF"/>
                </a:solidFill>
                <a:latin typeface="Optimistic VF"/>
                <a:ea typeface="Optimistic VF"/>
                <a:cs typeface="Optimistic VF"/>
              </a:rPr>
              <a:t>your glasses</a:t>
            </a:r>
          </a:p>
        </p:txBody>
      </p:sp>
      <p:sp>
        <p:nvSpPr>
          <p:cNvPr id="5" name="">
            <a:extLst xmlns:a="http://schemas.openxmlformats.org/drawingml/2006/main">
              <a:ext uri="{FF2B5EF4-FFF2-40B4-BE49-F238E27FC236}">
                <a16:creationId xmlns:a16="http://schemas.microsoft.com/office/drawing/2014/main" id="{5441569C-E2D6-4572-A496-A9633F7A1443}"/>
              </a:ext>
            </a:extLst>
          </p:cNvPr>
          <p:cNvSpPr>
            <a:spLocks xmlns:a="http://schemas.openxmlformats.org/drawingml/2006/main" noGrp="1"/>
          </p:cNvSpPr>
          <p:nvPr/>
        </p:nvSpPr>
        <p:spPr>
          <a:xfrm xmlns:a="http://schemas.openxmlformats.org/drawingml/2006/main">
            <a:off x="619125" y="3409950"/>
            <a:ext cx="4953000" cy="1609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FFFFFF"/>
                </a:solidFill>
                <a:latin typeface="Optimistic VF"/>
                <a:ea typeface="Optimistic VF"/>
                <a:cs typeface="Optimistic VF"/>
              </a:defRPr>
            </a:defPPr>
            <a:lvl1pPr>
              <a:defRPr sz="2025" b="0">
                <a:solidFill>
                  <a:srgbClr val="FFFFFF"/>
                </a:solidFill>
                <a:latin typeface="Optimistic VF"/>
                <a:ea typeface="Optimistic VF"/>
                <a:cs typeface="Optimistic VF"/>
              </a:defRPr>
            </a:lvl1pPr>
            <a:lvl2pPr>
              <a:defRPr sz="2025" b="0">
                <a:solidFill>
                  <a:srgbClr val="FFFFFF"/>
                </a:solidFill>
                <a:latin typeface="Optimistic VF"/>
                <a:ea typeface="Optimistic VF"/>
                <a:cs typeface="Optimistic VF"/>
              </a:defRPr>
            </a:lvl2pPr>
            <a:lvl3pPr>
              <a:defRPr sz="2025" b="0">
                <a:solidFill>
                  <a:srgbClr val="FFFFFF"/>
                </a:solidFill>
                <a:latin typeface="Optimistic VF"/>
                <a:ea typeface="Optimistic VF"/>
                <a:cs typeface="Optimistic VF"/>
              </a:defRPr>
            </a:lvl3pPr>
            <a:lvl4pPr>
              <a:defRPr sz="2025" b="0">
                <a:solidFill>
                  <a:srgbClr val="FFFFFF"/>
                </a:solidFill>
                <a:latin typeface="Optimistic VF"/>
                <a:ea typeface="Optimistic VF"/>
                <a:cs typeface="Optimistic VF"/>
              </a:defRPr>
            </a:lvl4pPr>
            <a:lvl5pPr>
              <a:defRPr sz="2025" b="0">
                <a:solidFill>
                  <a:srgbClr val="FFFFFF"/>
                </a:solidFill>
                <a:latin typeface="Optimistic VF"/>
                <a:ea typeface="Optimistic VF"/>
                <a:cs typeface="Optimistic VF"/>
              </a:defRPr>
            </a:lvl5pPr>
            <a:lvl6pPr>
              <a:defRPr sz="2025" b="0">
                <a:solidFill>
                  <a:srgbClr val="FFFFFF"/>
                </a:solidFill>
                <a:latin typeface="Optimistic VF"/>
                <a:ea typeface="Optimistic VF"/>
                <a:cs typeface="Optimistic VF"/>
              </a:defRPr>
            </a:lvl6pPr>
            <a:lvl7pPr>
              <a:defRPr sz="2025" b="0">
                <a:solidFill>
                  <a:srgbClr val="FFFFFF"/>
                </a:solidFill>
                <a:latin typeface="Optimistic VF"/>
                <a:ea typeface="Optimistic VF"/>
                <a:cs typeface="Optimistic VF"/>
              </a:defRPr>
            </a:lvl7pPr>
            <a:lvl8pPr>
              <a:defRPr sz="2025" b="0">
                <a:solidFill>
                  <a:srgbClr val="FFFFFF"/>
                </a:solidFill>
                <a:latin typeface="Optimistic VF"/>
                <a:ea typeface="Optimistic VF"/>
                <a:cs typeface="Optimistic VF"/>
              </a:defRPr>
            </a:lvl8pPr>
            <a:lvl9pPr>
              <a:defRPr sz="2025" b="0">
                <a:solidFill>
                  <a:srgbClr val="FFFFFF"/>
                </a:solidFill>
                <a:latin typeface="Optimistic VF"/>
                <a:ea typeface="Optimistic VF"/>
                <a:cs typeface="Optimistic VF"/>
              </a:defRPr>
            </a:lvl9pPr>
          </a:lstStyle>
          <a:p xmlns:a="http://schemas.openxmlformats.org/drawingml/2006/main">
            <a:pPr>
              <a:defRPr sz="2025" b="0">
                <a:solidFill>
                  <a:srgbClr val="FFFFFF"/>
                </a:solidFill>
                <a:latin typeface="Optimistic VF"/>
                <a:ea typeface="Optimistic VF"/>
                <a:cs typeface="Optimistic VF"/>
              </a:defRPr>
            </a:pPr>
            <a:r>
              <a:rPr sz="2025" b="0">
                <a:solidFill>
                  <a:srgbClr val="FFFFFF"/>
                </a:solidFill>
                <a:latin typeface="Optimistic VF"/>
                <a:ea typeface="Optimistic VF"/>
                <a:cs typeface="Optimistic VF"/>
              </a:rPr>
              <a:t>Look at a spot we’ve added and say “post note.” Say what’s on your mind, and AI turns your voice into a written note that stays there.</a:t>
            </a:r>
          </a:p>
        </p:txBody>
      </p:sp>
      <p:sp>
        <p:nvSpPr>
          <p:cNvPr id="6" name="">
            <a:extLst xmlns:a="http://schemas.openxmlformats.org/drawingml/2006/main">
              <a:ext uri="{FF2B5EF4-FFF2-40B4-BE49-F238E27FC236}">
                <a16:creationId xmlns:a16="http://schemas.microsoft.com/office/drawing/2014/main" id="{BEB6A3C2-6A54-4461-B6AF-F4C7DD8E5952}"/>
              </a:ext>
            </a:extLst>
          </p:cNvPr>
          <p:cNvSpPr>
            <a:spLocks xmlns:a="http://schemas.openxmlformats.org/drawingml/2006/main" noGrp="1"/>
          </p:cNvSpPr>
          <p:nvPr/>
        </p:nvSpPr>
        <p:spPr>
          <a:xfrm xmlns:a="http://schemas.openxmlformats.org/drawingml/2006/main">
            <a:off x="619125" y="5219700"/>
            <a:ext cx="49530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FFFFFF"/>
                </a:solidFill>
                <a:latin typeface="Optimistic VF"/>
                <a:ea typeface="Optimistic VF"/>
                <a:cs typeface="Optimistic VF"/>
              </a:defRPr>
            </a:defPPr>
            <a:lvl1pPr>
              <a:defRPr sz="1875" b="0">
                <a:solidFill>
                  <a:srgbClr val="FFFFFF"/>
                </a:solidFill>
                <a:latin typeface="Optimistic VF"/>
                <a:ea typeface="Optimistic VF"/>
                <a:cs typeface="Optimistic VF"/>
              </a:defRPr>
            </a:lvl1pPr>
            <a:lvl2pPr>
              <a:defRPr sz="1875" b="0">
                <a:solidFill>
                  <a:srgbClr val="FFFFFF"/>
                </a:solidFill>
                <a:latin typeface="Optimistic VF"/>
                <a:ea typeface="Optimistic VF"/>
                <a:cs typeface="Optimistic VF"/>
              </a:defRPr>
            </a:lvl2pPr>
            <a:lvl3pPr>
              <a:defRPr sz="1875" b="0">
                <a:solidFill>
                  <a:srgbClr val="FFFFFF"/>
                </a:solidFill>
                <a:latin typeface="Optimistic VF"/>
                <a:ea typeface="Optimistic VF"/>
                <a:cs typeface="Optimistic VF"/>
              </a:defRPr>
            </a:lvl3pPr>
            <a:lvl4pPr>
              <a:defRPr sz="1875" b="0">
                <a:solidFill>
                  <a:srgbClr val="FFFFFF"/>
                </a:solidFill>
                <a:latin typeface="Optimistic VF"/>
                <a:ea typeface="Optimistic VF"/>
                <a:cs typeface="Optimistic VF"/>
              </a:defRPr>
            </a:lvl4pPr>
            <a:lvl5pPr>
              <a:defRPr sz="1875" b="0">
                <a:solidFill>
                  <a:srgbClr val="FFFFFF"/>
                </a:solidFill>
                <a:latin typeface="Optimistic VF"/>
                <a:ea typeface="Optimistic VF"/>
                <a:cs typeface="Optimistic VF"/>
              </a:defRPr>
            </a:lvl5pPr>
            <a:lvl6pPr>
              <a:defRPr sz="1875" b="0">
                <a:solidFill>
                  <a:srgbClr val="FFFFFF"/>
                </a:solidFill>
                <a:latin typeface="Optimistic VF"/>
                <a:ea typeface="Optimistic VF"/>
                <a:cs typeface="Optimistic VF"/>
              </a:defRPr>
            </a:lvl6pPr>
            <a:lvl7pPr>
              <a:defRPr sz="1875" b="0">
                <a:solidFill>
                  <a:srgbClr val="FFFFFF"/>
                </a:solidFill>
                <a:latin typeface="Optimistic VF"/>
                <a:ea typeface="Optimistic VF"/>
                <a:cs typeface="Optimistic VF"/>
              </a:defRPr>
            </a:lvl7pPr>
            <a:lvl8pPr>
              <a:defRPr sz="1875" b="0">
                <a:solidFill>
                  <a:srgbClr val="FFFFFF"/>
                </a:solidFill>
                <a:latin typeface="Optimistic VF"/>
                <a:ea typeface="Optimistic VF"/>
                <a:cs typeface="Optimistic VF"/>
              </a:defRPr>
            </a:lvl8pPr>
            <a:lvl9pPr>
              <a:defRPr sz="1875" b="0">
                <a:solidFill>
                  <a:srgbClr val="FFFFFF"/>
                </a:solidFill>
                <a:latin typeface="Optimistic VF"/>
                <a:ea typeface="Optimistic VF"/>
                <a:cs typeface="Optimistic VF"/>
              </a:defRPr>
            </a:lvl9pPr>
          </a:lstStyle>
          <a:p xmlns:a="http://schemas.openxmlformats.org/drawingml/2006/main">
            <a:pPr>
              <a:defRPr sz="1875" b="0">
                <a:solidFill>
                  <a:srgbClr val="FFFFFF"/>
                </a:solidFill>
                <a:latin typeface="Optimistic VF"/>
                <a:ea typeface="Optimistic VF"/>
                <a:cs typeface="Optimistic VF"/>
              </a:defRPr>
            </a:pPr>
            <a:r>
              <a:rPr sz="1875" b="0">
                <a:solidFill>
                  <a:srgbClr val="FFFFFF"/>
                </a:solidFill>
                <a:latin typeface="Optimistic VF"/>
                <a:ea typeface="Optimistic VF"/>
                <a:cs typeface="Optimistic VF"/>
              </a:rPr>
              <a:t>On Meta Ray-Ban Display, we want you to read or hear your note, then say when you’re ready to share it.</a:t>
            </a:r>
          </a:p>
        </p:txBody>
      </p:sp>
      <p:sp>
        <p:nvSpPr>
          <p:cNvPr id="7" name="">
            <a:extLst xmlns:a="http://schemas.openxmlformats.org/drawingml/2006/main">
              <a:ext uri="{FF2B5EF4-FFF2-40B4-BE49-F238E27FC236}">
                <a16:creationId xmlns:a16="http://schemas.microsoft.com/office/drawing/2014/main" id="{49C33CF9-61D0-4555-8E99-2EF66040AE4A}"/>
              </a:ext>
            </a:extLst>
          </p:cNvPr>
          <p:cNvSpPr>
            <a:spLocks xmlns:a="http://schemas.openxmlformats.org/drawingml/2006/main" noGrp="1"/>
          </p:cNvSpPr>
          <p:nvPr/>
        </p:nvSpPr>
        <p:spPr>
          <a:xfrm xmlns:a="http://schemas.openxmlformats.org/drawingml/2006/main">
            <a:off x="619125" y="6429375"/>
            <a:ext cx="5048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A9BFCD"/>
                </a:solidFill>
                <a:latin typeface="Optimistic VF"/>
                <a:ea typeface="Optimistic VF"/>
                <a:cs typeface="Optimistic VF"/>
              </a:defRPr>
            </a:defPPr>
            <a:lvl1pPr>
              <a:defRPr sz="1200" b="0">
                <a:solidFill>
                  <a:srgbClr val="A9BFCD"/>
                </a:solidFill>
                <a:latin typeface="Optimistic VF"/>
                <a:ea typeface="Optimistic VF"/>
                <a:cs typeface="Optimistic VF"/>
              </a:defRPr>
            </a:lvl1pPr>
            <a:lvl2pPr>
              <a:defRPr sz="1200" b="0">
                <a:solidFill>
                  <a:srgbClr val="A9BFCD"/>
                </a:solidFill>
                <a:latin typeface="Optimistic VF"/>
                <a:ea typeface="Optimistic VF"/>
                <a:cs typeface="Optimistic VF"/>
              </a:defRPr>
            </a:lvl2pPr>
            <a:lvl3pPr>
              <a:defRPr sz="1200" b="0">
                <a:solidFill>
                  <a:srgbClr val="A9BFCD"/>
                </a:solidFill>
                <a:latin typeface="Optimistic VF"/>
                <a:ea typeface="Optimistic VF"/>
                <a:cs typeface="Optimistic VF"/>
              </a:defRPr>
            </a:lvl3pPr>
            <a:lvl4pPr>
              <a:defRPr sz="1200" b="0">
                <a:solidFill>
                  <a:srgbClr val="A9BFCD"/>
                </a:solidFill>
                <a:latin typeface="Optimistic VF"/>
                <a:ea typeface="Optimistic VF"/>
                <a:cs typeface="Optimistic VF"/>
              </a:defRPr>
            </a:lvl4pPr>
            <a:lvl5pPr>
              <a:defRPr sz="1200" b="0">
                <a:solidFill>
                  <a:srgbClr val="A9BFCD"/>
                </a:solidFill>
                <a:latin typeface="Optimistic VF"/>
                <a:ea typeface="Optimistic VF"/>
                <a:cs typeface="Optimistic VF"/>
              </a:defRPr>
            </a:lvl5pPr>
            <a:lvl6pPr>
              <a:defRPr sz="1200" b="0">
                <a:solidFill>
                  <a:srgbClr val="A9BFCD"/>
                </a:solidFill>
                <a:latin typeface="Optimistic VF"/>
                <a:ea typeface="Optimistic VF"/>
                <a:cs typeface="Optimistic VF"/>
              </a:defRPr>
            </a:lvl6pPr>
            <a:lvl7pPr>
              <a:defRPr sz="1200" b="0">
                <a:solidFill>
                  <a:srgbClr val="A9BFCD"/>
                </a:solidFill>
                <a:latin typeface="Optimistic VF"/>
                <a:ea typeface="Optimistic VF"/>
                <a:cs typeface="Optimistic VF"/>
              </a:defRPr>
            </a:lvl7pPr>
            <a:lvl8pPr>
              <a:defRPr sz="1200" b="0">
                <a:solidFill>
                  <a:srgbClr val="A9BFCD"/>
                </a:solidFill>
                <a:latin typeface="Optimistic VF"/>
                <a:ea typeface="Optimistic VF"/>
                <a:cs typeface="Optimistic VF"/>
              </a:defRPr>
            </a:lvl8pPr>
            <a:lvl9pPr>
              <a:defRPr sz="1200" b="0">
                <a:solidFill>
                  <a:srgbClr val="A9BFCD"/>
                </a:solidFill>
                <a:latin typeface="Optimistic VF"/>
                <a:ea typeface="Optimistic VF"/>
                <a:cs typeface="Optimistic VF"/>
              </a:defRPr>
            </a:lvl9pPr>
          </a:lstStyle>
          <a:p xmlns:a="http://schemas.openxmlformats.org/drawingml/2006/main">
            <a:pPr>
              <a:defRPr sz="1200" b="0">
                <a:solidFill>
                  <a:srgbClr val="A9BFCD"/>
                </a:solidFill>
                <a:latin typeface="Optimistic VF"/>
                <a:ea typeface="Optimistic VF"/>
                <a:cs typeface="Optimistic VF"/>
              </a:defRPr>
            </a:pPr>
            <a:r>
              <a:rPr sz="1200" b="0">
                <a:solidFill>
                  <a:srgbClr val="A9BFCD"/>
                </a:solidFill>
                <a:latin typeface="Optimistic VF"/>
                <a:ea typeface="Optimistic VF"/>
                <a:cs typeface="Optimistic VF"/>
              </a:rPr>
              <a:t>For now, the demo phone shows what we want you to do through the glasses.</a:t>
            </a:r>
          </a:p>
        </p:txBody>
      </p:sp>
    </p:spTree>
    <p:extLst>
      <p:ext uri="{BB962C8B-B14F-4D97-AF65-F5344CB8AC3E}">
        <p14:creationId xmlns:p14="http://schemas.microsoft.com/office/powerpoint/2010/main" val="1796133945"/>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5DB3DD08-28D9-48BF-B2CD-9DADC84DCFF8}"/>
              </a:ext>
            </a:extLst>
          </p:cNvPr>
          <p:cNvSpPr>
            <a:spLocks xmlns:a="http://schemas.openxmlformats.org/drawingml/2006/main" noGrp="1"/>
          </p:cNvSpPr>
          <p:nvPr/>
        </p:nvSpPr>
        <p:spPr>
          <a:xfrm xmlns:a="http://schemas.openxmlformats.org/drawingml/2006/main">
            <a:off x="609600" y="523875"/>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75" b="0">
                <a:solidFill>
                  <a:srgbClr val="142D38"/>
                </a:solidFill>
                <a:latin typeface="Optimistic VF Medium"/>
                <a:ea typeface="Optimistic VF Medium"/>
                <a:cs typeface="Optimistic VF Medium"/>
              </a:defRPr>
            </a:defPPr>
            <a:lvl1pPr>
              <a:defRPr sz="3675" b="0">
                <a:solidFill>
                  <a:srgbClr val="142D38"/>
                </a:solidFill>
                <a:latin typeface="Optimistic VF Medium"/>
                <a:ea typeface="Optimistic VF Medium"/>
                <a:cs typeface="Optimistic VF Medium"/>
              </a:defRPr>
            </a:lvl1pPr>
            <a:lvl2pPr>
              <a:defRPr sz="3675" b="0">
                <a:solidFill>
                  <a:srgbClr val="142D38"/>
                </a:solidFill>
                <a:latin typeface="Optimistic VF Medium"/>
                <a:ea typeface="Optimistic VF Medium"/>
                <a:cs typeface="Optimistic VF Medium"/>
              </a:defRPr>
            </a:lvl2pPr>
            <a:lvl3pPr>
              <a:defRPr sz="3675" b="0">
                <a:solidFill>
                  <a:srgbClr val="142D38"/>
                </a:solidFill>
                <a:latin typeface="Optimistic VF Medium"/>
                <a:ea typeface="Optimistic VF Medium"/>
                <a:cs typeface="Optimistic VF Medium"/>
              </a:defRPr>
            </a:lvl3pPr>
            <a:lvl4pPr>
              <a:defRPr sz="3675" b="0">
                <a:solidFill>
                  <a:srgbClr val="142D38"/>
                </a:solidFill>
                <a:latin typeface="Optimistic VF Medium"/>
                <a:ea typeface="Optimistic VF Medium"/>
                <a:cs typeface="Optimistic VF Medium"/>
              </a:defRPr>
            </a:lvl4pPr>
            <a:lvl5pPr>
              <a:defRPr sz="3675" b="0">
                <a:solidFill>
                  <a:srgbClr val="142D38"/>
                </a:solidFill>
                <a:latin typeface="Optimistic VF Medium"/>
                <a:ea typeface="Optimistic VF Medium"/>
                <a:cs typeface="Optimistic VF Medium"/>
              </a:defRPr>
            </a:lvl5pPr>
            <a:lvl6pPr>
              <a:defRPr sz="3675" b="0">
                <a:solidFill>
                  <a:srgbClr val="142D38"/>
                </a:solidFill>
                <a:latin typeface="Optimistic VF Medium"/>
                <a:ea typeface="Optimistic VF Medium"/>
                <a:cs typeface="Optimistic VF Medium"/>
              </a:defRPr>
            </a:lvl6pPr>
            <a:lvl7pPr>
              <a:defRPr sz="3675" b="0">
                <a:solidFill>
                  <a:srgbClr val="142D38"/>
                </a:solidFill>
                <a:latin typeface="Optimistic VF Medium"/>
                <a:ea typeface="Optimistic VF Medium"/>
                <a:cs typeface="Optimistic VF Medium"/>
              </a:defRPr>
            </a:lvl7pPr>
            <a:lvl8pPr>
              <a:defRPr sz="3675" b="0">
                <a:solidFill>
                  <a:srgbClr val="142D38"/>
                </a:solidFill>
                <a:latin typeface="Optimistic VF Medium"/>
                <a:ea typeface="Optimistic VF Medium"/>
                <a:cs typeface="Optimistic VF Medium"/>
              </a:defRPr>
            </a:lvl8pPr>
            <a:lvl9pPr>
              <a:defRPr sz="3675" b="0">
                <a:solidFill>
                  <a:srgbClr val="142D38"/>
                </a:solidFill>
                <a:latin typeface="Optimistic VF Medium"/>
                <a:ea typeface="Optimistic VF Medium"/>
                <a:cs typeface="Optimistic VF Medium"/>
              </a:defRPr>
            </a:lvl9pPr>
          </a:lstStyle>
          <a:p xmlns:a="http://schemas.openxmlformats.org/drawingml/2006/main">
            <a:pPr>
              <a:defRPr sz="3675" b="0">
                <a:solidFill>
                  <a:srgbClr val="142D38"/>
                </a:solidFill>
                <a:latin typeface="Optimistic VF Medium"/>
                <a:ea typeface="Optimistic VF Medium"/>
                <a:cs typeface="Optimistic VF Medium"/>
              </a:defRPr>
            </a:pPr>
            <a:r>
              <a:rPr sz="3675" b="0">
                <a:solidFill>
                  <a:srgbClr val="142D38"/>
                </a:solidFill>
                <a:latin typeface="Optimistic VF Medium"/>
                <a:ea typeface="Optimistic VF Medium"/>
                <a:cs typeface="Optimistic VF Medium"/>
              </a:rPr>
              <a:t>Technical architecture</a:t>
            </a:r>
          </a:p>
        </p:txBody>
      </p:sp>
      <p:sp>
        <p:nvSpPr>
          <p:cNvPr id="3" name="">
            <a:extLst xmlns:a="http://schemas.openxmlformats.org/drawingml/2006/main">
              <a:ext uri="{FF2B5EF4-FFF2-40B4-BE49-F238E27FC236}">
                <a16:creationId xmlns:a16="http://schemas.microsoft.com/office/drawing/2014/main" id="{AC29D67E-B4F0-4B11-972B-06BFB48FB2FF}"/>
              </a:ext>
            </a:extLst>
          </p:cNvPr>
          <p:cNvSpPr>
            <a:spLocks xmlns:a="http://schemas.openxmlformats.org/drawingml/2006/main" noGrp="1"/>
          </p:cNvSpPr>
          <p:nvPr/>
        </p:nvSpPr>
        <p:spPr>
          <a:xfrm xmlns:a="http://schemas.openxmlformats.org/drawingml/2006/main">
            <a:off x="647700" y="1457325"/>
            <a:ext cx="108966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4C6571"/>
                </a:solidFill>
                <a:latin typeface="Optimistic VF"/>
                <a:ea typeface="Optimistic VF"/>
                <a:cs typeface="Optimistic VF"/>
              </a:defRPr>
            </a:defPPr>
            <a:lvl1pPr>
              <a:defRPr sz="2025" b="0">
                <a:solidFill>
                  <a:srgbClr val="4C6571"/>
                </a:solidFill>
                <a:latin typeface="Optimistic VF"/>
                <a:ea typeface="Optimistic VF"/>
                <a:cs typeface="Optimistic VF"/>
              </a:defRPr>
            </a:lvl1pPr>
            <a:lvl2pPr>
              <a:defRPr sz="2025" b="0">
                <a:solidFill>
                  <a:srgbClr val="4C6571"/>
                </a:solidFill>
                <a:latin typeface="Optimistic VF"/>
                <a:ea typeface="Optimistic VF"/>
                <a:cs typeface="Optimistic VF"/>
              </a:defRPr>
            </a:lvl2pPr>
            <a:lvl3pPr>
              <a:defRPr sz="2025" b="0">
                <a:solidFill>
                  <a:srgbClr val="4C6571"/>
                </a:solidFill>
                <a:latin typeface="Optimistic VF"/>
                <a:ea typeface="Optimistic VF"/>
                <a:cs typeface="Optimistic VF"/>
              </a:defRPr>
            </a:lvl3pPr>
            <a:lvl4pPr>
              <a:defRPr sz="2025" b="0">
                <a:solidFill>
                  <a:srgbClr val="4C6571"/>
                </a:solidFill>
                <a:latin typeface="Optimistic VF"/>
                <a:ea typeface="Optimistic VF"/>
                <a:cs typeface="Optimistic VF"/>
              </a:defRPr>
            </a:lvl4pPr>
            <a:lvl5pPr>
              <a:defRPr sz="2025" b="0">
                <a:solidFill>
                  <a:srgbClr val="4C6571"/>
                </a:solidFill>
                <a:latin typeface="Optimistic VF"/>
                <a:ea typeface="Optimistic VF"/>
                <a:cs typeface="Optimistic VF"/>
              </a:defRPr>
            </a:lvl5pPr>
            <a:lvl6pPr>
              <a:defRPr sz="2025" b="0">
                <a:solidFill>
                  <a:srgbClr val="4C6571"/>
                </a:solidFill>
                <a:latin typeface="Optimistic VF"/>
                <a:ea typeface="Optimistic VF"/>
                <a:cs typeface="Optimistic VF"/>
              </a:defRPr>
            </a:lvl6pPr>
            <a:lvl7pPr>
              <a:defRPr sz="2025" b="0">
                <a:solidFill>
                  <a:srgbClr val="4C6571"/>
                </a:solidFill>
                <a:latin typeface="Optimistic VF"/>
                <a:ea typeface="Optimistic VF"/>
                <a:cs typeface="Optimistic VF"/>
              </a:defRPr>
            </a:lvl7pPr>
            <a:lvl8pPr>
              <a:defRPr sz="2025" b="0">
                <a:solidFill>
                  <a:srgbClr val="4C6571"/>
                </a:solidFill>
                <a:latin typeface="Optimistic VF"/>
                <a:ea typeface="Optimistic VF"/>
                <a:cs typeface="Optimistic VF"/>
              </a:defRPr>
            </a:lvl8pPr>
            <a:lvl9pPr>
              <a:defRPr sz="2025" b="0">
                <a:solidFill>
                  <a:srgbClr val="4C6571"/>
                </a:solidFill>
                <a:latin typeface="Optimistic VF"/>
                <a:ea typeface="Optimistic VF"/>
                <a:cs typeface="Optimistic VF"/>
              </a:defRPr>
            </a:lvl9pPr>
          </a:lstStyle>
          <a:p xmlns:a="http://schemas.openxmlformats.org/drawingml/2006/main">
            <a:pPr>
              <a:defRPr sz="2025" b="0">
                <a:solidFill>
                  <a:srgbClr val="4C6571"/>
                </a:solidFill>
                <a:latin typeface="Optimistic VF"/>
                <a:ea typeface="Optimistic VF"/>
                <a:cs typeface="Optimistic VF"/>
              </a:defRPr>
            </a:pPr>
            <a:r>
              <a:rPr sz="2025" b="0">
                <a:solidFill>
                  <a:srgbClr val="4C6571"/>
                </a:solidFill>
                <a:latin typeface="Optimistic VF"/>
                <a:ea typeface="Optimistic VF"/>
                <a:cs typeface="Optimistic VF"/>
              </a:rPr>
              <a:t>We start by saving a photo of the poster. When the camera sees it again, the app matches it to that photo and uses its saved ID to bring back the right conversation.</a:t>
            </a:r>
          </a:p>
        </p:txBody>
      </p:sp>
      <p:sp>
        <p:nvSpPr>
          <p:cNvPr id="4" name="">
            <a:extLst xmlns:a="http://schemas.openxmlformats.org/drawingml/2006/main">
              <a:ext uri="{FF2B5EF4-FFF2-40B4-BE49-F238E27FC236}">
                <a16:creationId xmlns:a16="http://schemas.microsoft.com/office/drawing/2014/main" id="{89EDA9B5-2DDE-4D29-894D-3378B8EBEFA5}"/>
              </a:ext>
            </a:extLst>
          </p:cNvPr>
          <p:cNvSpPr>
            <a:spLocks xmlns:a="http://schemas.openxmlformats.org/drawingml/2006/main" noGrp="1"/>
          </p:cNvSpPr>
          <p:nvPr/>
        </p:nvSpPr>
        <p:spPr>
          <a:xfrm xmlns:a="http://schemas.openxmlformats.org/drawingml/2006/main">
            <a:off x="619125" y="2714625"/>
            <a:ext cx="285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142D38"/>
                </a:solidFill>
                <a:latin typeface="Optimistic VF Medium"/>
                <a:ea typeface="Optimistic VF Medium"/>
                <a:cs typeface="Optimistic VF Medium"/>
              </a:defRPr>
            </a:defPPr>
            <a:lvl1pPr>
              <a:defRPr sz="2100" b="0">
                <a:solidFill>
                  <a:srgbClr val="142D38"/>
                </a:solidFill>
                <a:latin typeface="Optimistic VF Medium"/>
                <a:ea typeface="Optimistic VF Medium"/>
                <a:cs typeface="Optimistic VF Medium"/>
              </a:defRPr>
            </a:lvl1pPr>
            <a:lvl2pPr>
              <a:defRPr sz="2100" b="0">
                <a:solidFill>
                  <a:srgbClr val="142D38"/>
                </a:solidFill>
                <a:latin typeface="Optimistic VF Medium"/>
                <a:ea typeface="Optimistic VF Medium"/>
                <a:cs typeface="Optimistic VF Medium"/>
              </a:defRPr>
            </a:lvl2pPr>
            <a:lvl3pPr>
              <a:defRPr sz="2100" b="0">
                <a:solidFill>
                  <a:srgbClr val="142D38"/>
                </a:solidFill>
                <a:latin typeface="Optimistic VF Medium"/>
                <a:ea typeface="Optimistic VF Medium"/>
                <a:cs typeface="Optimistic VF Medium"/>
              </a:defRPr>
            </a:lvl3pPr>
            <a:lvl4pPr>
              <a:defRPr sz="2100" b="0">
                <a:solidFill>
                  <a:srgbClr val="142D38"/>
                </a:solidFill>
                <a:latin typeface="Optimistic VF Medium"/>
                <a:ea typeface="Optimistic VF Medium"/>
                <a:cs typeface="Optimistic VF Medium"/>
              </a:defRPr>
            </a:lvl4pPr>
            <a:lvl5pPr>
              <a:defRPr sz="2100" b="0">
                <a:solidFill>
                  <a:srgbClr val="142D38"/>
                </a:solidFill>
                <a:latin typeface="Optimistic VF Medium"/>
                <a:ea typeface="Optimistic VF Medium"/>
                <a:cs typeface="Optimistic VF Medium"/>
              </a:defRPr>
            </a:lvl5pPr>
            <a:lvl6pPr>
              <a:defRPr sz="2100" b="0">
                <a:solidFill>
                  <a:srgbClr val="142D38"/>
                </a:solidFill>
                <a:latin typeface="Optimistic VF Medium"/>
                <a:ea typeface="Optimistic VF Medium"/>
                <a:cs typeface="Optimistic VF Medium"/>
              </a:defRPr>
            </a:lvl6pPr>
            <a:lvl7pPr>
              <a:defRPr sz="2100" b="0">
                <a:solidFill>
                  <a:srgbClr val="142D38"/>
                </a:solidFill>
                <a:latin typeface="Optimistic VF Medium"/>
                <a:ea typeface="Optimistic VF Medium"/>
                <a:cs typeface="Optimistic VF Medium"/>
              </a:defRPr>
            </a:lvl7pPr>
            <a:lvl8pPr>
              <a:defRPr sz="2100" b="0">
                <a:solidFill>
                  <a:srgbClr val="142D38"/>
                </a:solidFill>
                <a:latin typeface="Optimistic VF Medium"/>
                <a:ea typeface="Optimistic VF Medium"/>
                <a:cs typeface="Optimistic VF Medium"/>
              </a:defRPr>
            </a:lvl8pPr>
            <a:lvl9pPr>
              <a:defRPr sz="2100" b="0">
                <a:solidFill>
                  <a:srgbClr val="142D38"/>
                </a:solidFill>
                <a:latin typeface="Optimistic VF Medium"/>
                <a:ea typeface="Optimistic VF Medium"/>
                <a:cs typeface="Optimistic VF Medium"/>
              </a:defRPr>
            </a:lvl9pPr>
          </a:lstStyle>
          <a:p xmlns:a="http://schemas.openxmlformats.org/drawingml/2006/main">
            <a:pPr>
              <a:defRPr sz="2100" b="0">
                <a:solidFill>
                  <a:srgbClr val="142D38"/>
                </a:solidFill>
                <a:latin typeface="Optimistic VF Medium"/>
                <a:ea typeface="Optimistic VF Medium"/>
                <a:cs typeface="Optimistic VF Medium"/>
              </a:defRPr>
            </a:pPr>
            <a:r>
              <a:rPr sz="2100" b="0">
                <a:solidFill>
                  <a:srgbClr val="142D38"/>
                </a:solidFill>
                <a:latin typeface="Optimistic VF Medium"/>
                <a:ea typeface="Optimistic VF Medium"/>
                <a:cs typeface="Optimistic VF Medium"/>
              </a:rPr>
              <a:t>Camera match</a:t>
            </a:r>
          </a:p>
        </p:txBody>
      </p:sp>
      <p:pic>
        <p:nvPicPr>
          <p:cNvPr id="5" name="">
            <a:extLst xmlns:a="http://schemas.openxmlformats.org/drawingml/2006/main">
              <a:ext uri="{FF2B5EF4-FFF2-40B4-BE49-F238E27FC236}">
                <a16:creationId xmlns:a16="http://schemas.microsoft.com/office/drawing/2014/main" id="{48A0E91F-FC95-458A-8188-3FE8F966E1C6}"/>
              </a:ext>
            </a:extLst>
          </p:cNvPr>
          <p:cNvPicPr>
            <a:picLocks xmlns:a="http://schemas.openxmlformats.org/drawingml/2006/main" noChangeAspect="1"/>
          </p:cNvPicPr>
          <p:nvPr/>
        </p:nvPicPr>
        <p:blipFill>
          <a:blip xmlns:r="http://schemas.openxmlformats.org/officeDocument/2006/relationships" xmlns:a="http://schemas.openxmlformats.org/drawingml/2006/main" r:embed="R705654098ef64732"/>
          <a:stretch xmlns:a="http://schemas.openxmlformats.org/drawingml/2006/main"/>
        </p:blipFill>
        <p:spPr>
          <a:xfrm xmlns:a="http://schemas.openxmlformats.org/drawingml/2006/main">
            <a:off x="1256348" y="3238500"/>
            <a:ext cx="1592580" cy="20955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7E995B27-B6A7-4AB2-9D8E-400B29A66DB5}"/>
              </a:ext>
            </a:extLst>
          </p:cNvPr>
          <p:cNvSpPr>
            <a:spLocks xmlns:a="http://schemas.openxmlformats.org/drawingml/2006/main" noGrp="1"/>
          </p:cNvSpPr>
          <p:nvPr/>
        </p:nvSpPr>
        <p:spPr>
          <a:xfrm xmlns:a="http://schemas.openxmlformats.org/drawingml/2006/main">
            <a:off x="3724275" y="4362450"/>
            <a:ext cx="590550" cy="76200"/>
          </a:xfrm>
          <a:prstGeom xmlns:a="http://schemas.openxmlformats.org/drawingml/2006/main" prst="rightArrow">
            <a:avLst/>
          </a:prstGeom>
          <a:solidFill xmlns:a="http://schemas.openxmlformats.org/drawingml/2006/main">
            <a:srgbClr val="0866FF"/>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64CB213D-8B08-404C-B38D-7EB20438C312}"/>
              </a:ext>
            </a:extLst>
          </p:cNvPr>
          <p:cNvSpPr>
            <a:spLocks xmlns:a="http://schemas.openxmlformats.org/drawingml/2006/main" noGrp="1"/>
          </p:cNvSpPr>
          <p:nvPr/>
        </p:nvSpPr>
        <p:spPr>
          <a:xfrm xmlns:a="http://schemas.openxmlformats.org/drawingml/2006/main">
            <a:off x="4667250" y="2714625"/>
            <a:ext cx="285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142D38"/>
                </a:solidFill>
                <a:latin typeface="Optimistic VF Medium"/>
                <a:ea typeface="Optimistic VF Medium"/>
                <a:cs typeface="Optimistic VF Medium"/>
              </a:defRPr>
            </a:defPPr>
            <a:lvl1pPr>
              <a:defRPr sz="2100" b="0">
                <a:solidFill>
                  <a:srgbClr val="142D38"/>
                </a:solidFill>
                <a:latin typeface="Optimistic VF Medium"/>
                <a:ea typeface="Optimistic VF Medium"/>
                <a:cs typeface="Optimistic VF Medium"/>
              </a:defRPr>
            </a:lvl1pPr>
            <a:lvl2pPr>
              <a:defRPr sz="2100" b="0">
                <a:solidFill>
                  <a:srgbClr val="142D38"/>
                </a:solidFill>
                <a:latin typeface="Optimistic VF Medium"/>
                <a:ea typeface="Optimistic VF Medium"/>
                <a:cs typeface="Optimistic VF Medium"/>
              </a:defRPr>
            </a:lvl2pPr>
            <a:lvl3pPr>
              <a:defRPr sz="2100" b="0">
                <a:solidFill>
                  <a:srgbClr val="142D38"/>
                </a:solidFill>
                <a:latin typeface="Optimistic VF Medium"/>
                <a:ea typeface="Optimistic VF Medium"/>
                <a:cs typeface="Optimistic VF Medium"/>
              </a:defRPr>
            </a:lvl3pPr>
            <a:lvl4pPr>
              <a:defRPr sz="2100" b="0">
                <a:solidFill>
                  <a:srgbClr val="142D38"/>
                </a:solidFill>
                <a:latin typeface="Optimistic VF Medium"/>
                <a:ea typeface="Optimistic VF Medium"/>
                <a:cs typeface="Optimistic VF Medium"/>
              </a:defRPr>
            </a:lvl4pPr>
            <a:lvl5pPr>
              <a:defRPr sz="2100" b="0">
                <a:solidFill>
                  <a:srgbClr val="142D38"/>
                </a:solidFill>
                <a:latin typeface="Optimistic VF Medium"/>
                <a:ea typeface="Optimistic VF Medium"/>
                <a:cs typeface="Optimistic VF Medium"/>
              </a:defRPr>
            </a:lvl5pPr>
            <a:lvl6pPr>
              <a:defRPr sz="2100" b="0">
                <a:solidFill>
                  <a:srgbClr val="142D38"/>
                </a:solidFill>
                <a:latin typeface="Optimistic VF Medium"/>
                <a:ea typeface="Optimistic VF Medium"/>
                <a:cs typeface="Optimistic VF Medium"/>
              </a:defRPr>
            </a:lvl6pPr>
            <a:lvl7pPr>
              <a:defRPr sz="2100" b="0">
                <a:solidFill>
                  <a:srgbClr val="142D38"/>
                </a:solidFill>
                <a:latin typeface="Optimistic VF Medium"/>
                <a:ea typeface="Optimistic VF Medium"/>
                <a:cs typeface="Optimistic VF Medium"/>
              </a:defRPr>
            </a:lvl7pPr>
            <a:lvl8pPr>
              <a:defRPr sz="2100" b="0">
                <a:solidFill>
                  <a:srgbClr val="142D38"/>
                </a:solidFill>
                <a:latin typeface="Optimistic VF Medium"/>
                <a:ea typeface="Optimistic VF Medium"/>
                <a:cs typeface="Optimistic VF Medium"/>
              </a:defRPr>
            </a:lvl8pPr>
            <a:lvl9pPr>
              <a:defRPr sz="2100" b="0">
                <a:solidFill>
                  <a:srgbClr val="142D38"/>
                </a:solidFill>
                <a:latin typeface="Optimistic VF Medium"/>
                <a:ea typeface="Optimistic VF Medium"/>
                <a:cs typeface="Optimistic VF Medium"/>
              </a:defRPr>
            </a:lvl9pPr>
          </a:lstStyle>
          <a:p xmlns:a="http://schemas.openxmlformats.org/drawingml/2006/main">
            <a:pPr>
              <a:defRPr sz="2100" b="0">
                <a:solidFill>
                  <a:srgbClr val="142D38"/>
                </a:solidFill>
                <a:latin typeface="Optimistic VF Medium"/>
                <a:ea typeface="Optimistic VF Medium"/>
                <a:cs typeface="Optimistic VF Medium"/>
              </a:defRPr>
            </a:pPr>
            <a:r>
              <a:rPr sz="2100" b="0">
                <a:solidFill>
                  <a:srgbClr val="142D38"/>
                </a:solidFill>
                <a:latin typeface="Optimistic VF Medium"/>
                <a:ea typeface="Optimistic VF Medium"/>
                <a:cs typeface="Optimistic VF Medium"/>
              </a:rPr>
              <a:t>Saved poster ID</a:t>
            </a:r>
          </a:p>
        </p:txBody>
      </p:sp>
      <p:sp>
        <p:nvSpPr>
          <p:cNvPr id="8" name="">
            <a:extLst xmlns:a="http://schemas.openxmlformats.org/drawingml/2006/main">
              <a:ext uri="{FF2B5EF4-FFF2-40B4-BE49-F238E27FC236}">
                <a16:creationId xmlns:a16="http://schemas.microsoft.com/office/drawing/2014/main" id="{40F9323A-E4FA-4CA8-AACB-E00B8EDCC852}"/>
              </a:ext>
            </a:extLst>
          </p:cNvPr>
          <p:cNvSpPr>
            <a:spLocks xmlns:a="http://schemas.openxmlformats.org/drawingml/2006/main" noGrp="1"/>
          </p:cNvSpPr>
          <p:nvPr/>
        </p:nvSpPr>
        <p:spPr>
          <a:xfrm xmlns:a="http://schemas.openxmlformats.org/drawingml/2006/main">
            <a:off x="4667250" y="3429000"/>
            <a:ext cx="2857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4C6571"/>
                </a:solidFill>
                <a:latin typeface="Optimistic VF"/>
                <a:ea typeface="Optimistic VF"/>
                <a:cs typeface="Optimistic VF"/>
              </a:defRPr>
            </a:defPPr>
            <a:lvl1pPr>
              <a:defRPr sz="1650" b="0">
                <a:solidFill>
                  <a:srgbClr val="4C6571"/>
                </a:solidFill>
                <a:latin typeface="Optimistic VF"/>
                <a:ea typeface="Optimistic VF"/>
                <a:cs typeface="Optimistic VF"/>
              </a:defRPr>
            </a:lvl1pPr>
            <a:lvl2pPr>
              <a:defRPr sz="1650" b="0">
                <a:solidFill>
                  <a:srgbClr val="4C6571"/>
                </a:solidFill>
                <a:latin typeface="Optimistic VF"/>
                <a:ea typeface="Optimistic VF"/>
                <a:cs typeface="Optimistic VF"/>
              </a:defRPr>
            </a:lvl2pPr>
            <a:lvl3pPr>
              <a:defRPr sz="1650" b="0">
                <a:solidFill>
                  <a:srgbClr val="4C6571"/>
                </a:solidFill>
                <a:latin typeface="Optimistic VF"/>
                <a:ea typeface="Optimistic VF"/>
                <a:cs typeface="Optimistic VF"/>
              </a:defRPr>
            </a:lvl3pPr>
            <a:lvl4pPr>
              <a:defRPr sz="1650" b="0">
                <a:solidFill>
                  <a:srgbClr val="4C6571"/>
                </a:solidFill>
                <a:latin typeface="Optimistic VF"/>
                <a:ea typeface="Optimistic VF"/>
                <a:cs typeface="Optimistic VF"/>
              </a:defRPr>
            </a:lvl4pPr>
            <a:lvl5pPr>
              <a:defRPr sz="1650" b="0">
                <a:solidFill>
                  <a:srgbClr val="4C6571"/>
                </a:solidFill>
                <a:latin typeface="Optimistic VF"/>
                <a:ea typeface="Optimistic VF"/>
                <a:cs typeface="Optimistic VF"/>
              </a:defRPr>
            </a:lvl5pPr>
            <a:lvl6pPr>
              <a:defRPr sz="1650" b="0">
                <a:solidFill>
                  <a:srgbClr val="4C6571"/>
                </a:solidFill>
                <a:latin typeface="Optimistic VF"/>
                <a:ea typeface="Optimistic VF"/>
                <a:cs typeface="Optimistic VF"/>
              </a:defRPr>
            </a:lvl6pPr>
            <a:lvl7pPr>
              <a:defRPr sz="1650" b="0">
                <a:solidFill>
                  <a:srgbClr val="4C6571"/>
                </a:solidFill>
                <a:latin typeface="Optimistic VF"/>
                <a:ea typeface="Optimistic VF"/>
                <a:cs typeface="Optimistic VF"/>
              </a:defRPr>
            </a:lvl7pPr>
            <a:lvl8pPr>
              <a:defRPr sz="1650" b="0">
                <a:solidFill>
                  <a:srgbClr val="4C6571"/>
                </a:solidFill>
                <a:latin typeface="Optimistic VF"/>
                <a:ea typeface="Optimistic VF"/>
                <a:cs typeface="Optimistic VF"/>
              </a:defRPr>
            </a:lvl8pPr>
            <a:lvl9pPr>
              <a:defRPr sz="1650" b="0">
                <a:solidFill>
                  <a:srgbClr val="4C6571"/>
                </a:solidFill>
                <a:latin typeface="Optimistic VF"/>
                <a:ea typeface="Optimistic VF"/>
                <a:cs typeface="Optimistic VF"/>
              </a:defRPr>
            </a:lvl9pPr>
          </a:lstStyle>
          <a:p xmlns:a="http://schemas.openxmlformats.org/drawingml/2006/main">
            <a:pPr>
              <a:defRPr sz="1650" b="0">
                <a:solidFill>
                  <a:srgbClr val="4C6571"/>
                </a:solidFill>
                <a:latin typeface="Optimistic VF"/>
                <a:ea typeface="Optimistic VF"/>
                <a:cs typeface="Optimistic VF"/>
              </a:defRPr>
            </a:pPr>
            <a:r>
              <a:rPr sz="1650" b="0">
                <a:solidFill>
                  <a:srgbClr val="4C6571"/>
                </a:solidFill>
                <a:latin typeface="Optimistic VF"/>
                <a:ea typeface="Optimistic VF"/>
                <a:cs typeface="Optimistic VF"/>
              </a:rPr>
              <a:t>object_id</a:t>
            </a:r>
          </a:p>
        </p:txBody>
      </p:sp>
      <p:sp>
        <p:nvSpPr>
          <p:cNvPr id="9" name="">
            <a:extLst xmlns:a="http://schemas.openxmlformats.org/drawingml/2006/main">
              <a:ext uri="{FF2B5EF4-FFF2-40B4-BE49-F238E27FC236}">
                <a16:creationId xmlns:a16="http://schemas.microsoft.com/office/drawing/2014/main" id="{EF2DA903-5BFD-465F-A085-5E2799825883}"/>
              </a:ext>
            </a:extLst>
          </p:cNvPr>
          <p:cNvSpPr>
            <a:spLocks xmlns:a="http://schemas.openxmlformats.org/drawingml/2006/main" noGrp="1"/>
          </p:cNvSpPr>
          <p:nvPr/>
        </p:nvSpPr>
        <p:spPr>
          <a:xfrm xmlns:a="http://schemas.openxmlformats.org/drawingml/2006/main">
            <a:off x="4667250" y="4038600"/>
            <a:ext cx="285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0">
                <a:solidFill>
                  <a:srgbClr val="0866FF"/>
                </a:solidFill>
                <a:latin typeface="Optimistic VF Medium"/>
                <a:ea typeface="Optimistic VF Medium"/>
                <a:cs typeface="Optimistic VF Medium"/>
              </a:defRPr>
            </a:defPPr>
            <a:lvl1pPr>
              <a:defRPr sz="2700" b="0">
                <a:solidFill>
                  <a:srgbClr val="0866FF"/>
                </a:solidFill>
                <a:latin typeface="Optimistic VF Medium"/>
                <a:ea typeface="Optimistic VF Medium"/>
                <a:cs typeface="Optimistic VF Medium"/>
              </a:defRPr>
            </a:lvl1pPr>
            <a:lvl2pPr>
              <a:defRPr sz="2700" b="0">
                <a:solidFill>
                  <a:srgbClr val="0866FF"/>
                </a:solidFill>
                <a:latin typeface="Optimistic VF Medium"/>
                <a:ea typeface="Optimistic VF Medium"/>
                <a:cs typeface="Optimistic VF Medium"/>
              </a:defRPr>
            </a:lvl2pPr>
            <a:lvl3pPr>
              <a:defRPr sz="2700" b="0">
                <a:solidFill>
                  <a:srgbClr val="0866FF"/>
                </a:solidFill>
                <a:latin typeface="Optimistic VF Medium"/>
                <a:ea typeface="Optimistic VF Medium"/>
                <a:cs typeface="Optimistic VF Medium"/>
              </a:defRPr>
            </a:lvl3pPr>
            <a:lvl4pPr>
              <a:defRPr sz="2700" b="0">
                <a:solidFill>
                  <a:srgbClr val="0866FF"/>
                </a:solidFill>
                <a:latin typeface="Optimistic VF Medium"/>
                <a:ea typeface="Optimistic VF Medium"/>
                <a:cs typeface="Optimistic VF Medium"/>
              </a:defRPr>
            </a:lvl4pPr>
            <a:lvl5pPr>
              <a:defRPr sz="2700" b="0">
                <a:solidFill>
                  <a:srgbClr val="0866FF"/>
                </a:solidFill>
                <a:latin typeface="Optimistic VF Medium"/>
                <a:ea typeface="Optimistic VF Medium"/>
                <a:cs typeface="Optimistic VF Medium"/>
              </a:defRPr>
            </a:lvl5pPr>
            <a:lvl6pPr>
              <a:defRPr sz="2700" b="0">
                <a:solidFill>
                  <a:srgbClr val="0866FF"/>
                </a:solidFill>
                <a:latin typeface="Optimistic VF Medium"/>
                <a:ea typeface="Optimistic VF Medium"/>
                <a:cs typeface="Optimistic VF Medium"/>
              </a:defRPr>
            </a:lvl6pPr>
            <a:lvl7pPr>
              <a:defRPr sz="2700" b="0">
                <a:solidFill>
                  <a:srgbClr val="0866FF"/>
                </a:solidFill>
                <a:latin typeface="Optimistic VF Medium"/>
                <a:ea typeface="Optimistic VF Medium"/>
                <a:cs typeface="Optimistic VF Medium"/>
              </a:defRPr>
            </a:lvl7pPr>
            <a:lvl8pPr>
              <a:defRPr sz="2700" b="0">
                <a:solidFill>
                  <a:srgbClr val="0866FF"/>
                </a:solidFill>
                <a:latin typeface="Optimistic VF Medium"/>
                <a:ea typeface="Optimistic VF Medium"/>
                <a:cs typeface="Optimistic VF Medium"/>
              </a:defRPr>
            </a:lvl8pPr>
            <a:lvl9pPr>
              <a:defRPr sz="2700" b="0">
                <a:solidFill>
                  <a:srgbClr val="0866FF"/>
                </a:solidFill>
                <a:latin typeface="Optimistic VF Medium"/>
                <a:ea typeface="Optimistic VF Medium"/>
                <a:cs typeface="Optimistic VF Medium"/>
              </a:defRPr>
            </a:lvl9pPr>
          </a:lstStyle>
          <a:p xmlns:a="http://schemas.openxmlformats.org/drawingml/2006/main">
            <a:pPr>
              <a:defRPr sz="2700" b="0">
                <a:solidFill>
                  <a:srgbClr val="0866FF"/>
                </a:solidFill>
                <a:latin typeface="Optimistic VF Medium"/>
                <a:ea typeface="Optimistic VF Medium"/>
                <a:cs typeface="Optimistic VF Medium"/>
              </a:defRPr>
            </a:pPr>
            <a:r>
              <a:rPr sz="2700" b="0">
                <a:solidFill>
                  <a:srgbClr val="0866FF"/>
                </a:solidFill>
                <a:latin typeface="Optimistic VF Medium"/>
                <a:ea typeface="Optimistic VF Medium"/>
                <a:cs typeface="Optimistic VF Medium"/>
              </a:rPr>
              <a:t>concert-poster</a:t>
            </a:r>
          </a:p>
        </p:txBody>
      </p:sp>
      <p:sp>
        <p:nvSpPr>
          <p:cNvPr id="10" name="">
            <a:extLst xmlns:a="http://schemas.openxmlformats.org/drawingml/2006/main">
              <a:ext uri="{FF2B5EF4-FFF2-40B4-BE49-F238E27FC236}">
                <a16:creationId xmlns:a16="http://schemas.microsoft.com/office/drawing/2014/main" id="{EC8D8FC4-F139-45E9-8386-BD0A80C86A80}"/>
              </a:ext>
            </a:extLst>
          </p:cNvPr>
          <p:cNvSpPr>
            <a:spLocks xmlns:a="http://schemas.openxmlformats.org/drawingml/2006/main" noGrp="1"/>
          </p:cNvSpPr>
          <p:nvPr/>
        </p:nvSpPr>
        <p:spPr>
          <a:xfrm xmlns:a="http://schemas.openxmlformats.org/drawingml/2006/main">
            <a:off x="4667250" y="5524500"/>
            <a:ext cx="285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142D38"/>
                </a:solidFill>
                <a:latin typeface="Optimistic VF"/>
                <a:ea typeface="Optimistic VF"/>
                <a:cs typeface="Optimistic VF"/>
              </a:defRPr>
            </a:defPPr>
            <a:lvl1pPr>
              <a:defRPr sz="1875" b="0">
                <a:solidFill>
                  <a:srgbClr val="142D38"/>
                </a:solidFill>
                <a:latin typeface="Optimistic VF"/>
                <a:ea typeface="Optimistic VF"/>
                <a:cs typeface="Optimistic VF"/>
              </a:defRPr>
            </a:lvl1pPr>
            <a:lvl2pPr>
              <a:defRPr sz="1875" b="0">
                <a:solidFill>
                  <a:srgbClr val="142D38"/>
                </a:solidFill>
                <a:latin typeface="Optimistic VF"/>
                <a:ea typeface="Optimistic VF"/>
                <a:cs typeface="Optimistic VF"/>
              </a:defRPr>
            </a:lvl2pPr>
            <a:lvl3pPr>
              <a:defRPr sz="1875" b="0">
                <a:solidFill>
                  <a:srgbClr val="142D38"/>
                </a:solidFill>
                <a:latin typeface="Optimistic VF"/>
                <a:ea typeface="Optimistic VF"/>
                <a:cs typeface="Optimistic VF"/>
              </a:defRPr>
            </a:lvl3pPr>
            <a:lvl4pPr>
              <a:defRPr sz="1875" b="0">
                <a:solidFill>
                  <a:srgbClr val="142D38"/>
                </a:solidFill>
                <a:latin typeface="Optimistic VF"/>
                <a:ea typeface="Optimistic VF"/>
                <a:cs typeface="Optimistic VF"/>
              </a:defRPr>
            </a:lvl4pPr>
            <a:lvl5pPr>
              <a:defRPr sz="1875" b="0">
                <a:solidFill>
                  <a:srgbClr val="142D38"/>
                </a:solidFill>
                <a:latin typeface="Optimistic VF"/>
                <a:ea typeface="Optimistic VF"/>
                <a:cs typeface="Optimistic VF"/>
              </a:defRPr>
            </a:lvl5pPr>
            <a:lvl6pPr>
              <a:defRPr sz="1875" b="0">
                <a:solidFill>
                  <a:srgbClr val="142D38"/>
                </a:solidFill>
                <a:latin typeface="Optimistic VF"/>
                <a:ea typeface="Optimistic VF"/>
                <a:cs typeface="Optimistic VF"/>
              </a:defRPr>
            </a:lvl6pPr>
            <a:lvl7pPr>
              <a:defRPr sz="1875" b="0">
                <a:solidFill>
                  <a:srgbClr val="142D38"/>
                </a:solidFill>
                <a:latin typeface="Optimistic VF"/>
                <a:ea typeface="Optimistic VF"/>
                <a:cs typeface="Optimistic VF"/>
              </a:defRPr>
            </a:lvl7pPr>
            <a:lvl8pPr>
              <a:defRPr sz="1875" b="0">
                <a:solidFill>
                  <a:srgbClr val="142D38"/>
                </a:solidFill>
                <a:latin typeface="Optimistic VF"/>
                <a:ea typeface="Optimistic VF"/>
                <a:cs typeface="Optimistic VF"/>
              </a:defRPr>
            </a:lvl8pPr>
            <a:lvl9pPr>
              <a:defRPr sz="1875" b="0">
                <a:solidFill>
                  <a:srgbClr val="142D38"/>
                </a:solidFill>
                <a:latin typeface="Optimistic VF"/>
                <a:ea typeface="Optimistic VF"/>
                <a:cs typeface="Optimistic VF"/>
              </a:defRPr>
            </a:lvl9pPr>
          </a:lstStyle>
          <a:p xmlns:a="http://schemas.openxmlformats.org/drawingml/2006/main">
            <a:pPr>
              <a:defRPr sz="1875" b="0">
                <a:solidFill>
                  <a:srgbClr val="142D38"/>
                </a:solidFill>
                <a:latin typeface="Optimistic VF"/>
                <a:ea typeface="Optimistic VF"/>
                <a:cs typeface="Optimistic VF"/>
              </a:defRPr>
            </a:pPr>
            <a:r>
              <a:rPr sz="1875" b="0">
                <a:solidFill>
                  <a:srgbClr val="142D38"/>
                </a:solidFill>
                <a:latin typeface="Optimistic VF"/>
                <a:ea typeface="Optimistic VF"/>
                <a:cs typeface="Optimistic VF"/>
              </a:rPr>
              <a:t>FastAPI + SQLite</a:t>
            </a:r>
          </a:p>
        </p:txBody>
      </p:sp>
      <p:sp>
        <p:nvSpPr>
          <p:cNvPr id="11" name="">
            <a:extLst xmlns:a="http://schemas.openxmlformats.org/drawingml/2006/main">
              <a:ext uri="{FF2B5EF4-FFF2-40B4-BE49-F238E27FC236}">
                <a16:creationId xmlns:a16="http://schemas.microsoft.com/office/drawing/2014/main" id="{8680FB0C-DDD1-459B-9E8F-CA51A904737D}"/>
              </a:ext>
            </a:extLst>
          </p:cNvPr>
          <p:cNvSpPr>
            <a:spLocks xmlns:a="http://schemas.openxmlformats.org/drawingml/2006/main" noGrp="1"/>
          </p:cNvSpPr>
          <p:nvPr/>
        </p:nvSpPr>
        <p:spPr>
          <a:xfrm xmlns:a="http://schemas.openxmlformats.org/drawingml/2006/main">
            <a:off x="7762875" y="4362450"/>
            <a:ext cx="590550" cy="76200"/>
          </a:xfrm>
          <a:prstGeom xmlns:a="http://schemas.openxmlformats.org/drawingml/2006/main" prst="rightArrow">
            <a:avLst/>
          </a:prstGeom>
          <a:solidFill xmlns:a="http://schemas.openxmlformats.org/drawingml/2006/main">
            <a:srgbClr val="0866FF"/>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248556BC-FF67-470F-A5D3-616BD4B7C10D}"/>
              </a:ext>
            </a:extLst>
          </p:cNvPr>
          <p:cNvSpPr>
            <a:spLocks xmlns:a="http://schemas.openxmlformats.org/drawingml/2006/main" noGrp="1"/>
          </p:cNvSpPr>
          <p:nvPr/>
        </p:nvSpPr>
        <p:spPr>
          <a:xfrm xmlns:a="http://schemas.openxmlformats.org/drawingml/2006/main">
            <a:off x="8715375" y="2714625"/>
            <a:ext cx="285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142D38"/>
                </a:solidFill>
                <a:latin typeface="Optimistic VF Medium"/>
                <a:ea typeface="Optimistic VF Medium"/>
                <a:cs typeface="Optimistic VF Medium"/>
              </a:defRPr>
            </a:defPPr>
            <a:lvl1pPr>
              <a:defRPr sz="2100" b="0">
                <a:solidFill>
                  <a:srgbClr val="142D38"/>
                </a:solidFill>
                <a:latin typeface="Optimistic VF Medium"/>
                <a:ea typeface="Optimistic VF Medium"/>
                <a:cs typeface="Optimistic VF Medium"/>
              </a:defRPr>
            </a:lvl1pPr>
            <a:lvl2pPr>
              <a:defRPr sz="2100" b="0">
                <a:solidFill>
                  <a:srgbClr val="142D38"/>
                </a:solidFill>
                <a:latin typeface="Optimistic VF Medium"/>
                <a:ea typeface="Optimistic VF Medium"/>
                <a:cs typeface="Optimistic VF Medium"/>
              </a:defRPr>
            </a:lvl2pPr>
            <a:lvl3pPr>
              <a:defRPr sz="2100" b="0">
                <a:solidFill>
                  <a:srgbClr val="142D38"/>
                </a:solidFill>
                <a:latin typeface="Optimistic VF Medium"/>
                <a:ea typeface="Optimistic VF Medium"/>
                <a:cs typeface="Optimistic VF Medium"/>
              </a:defRPr>
            </a:lvl3pPr>
            <a:lvl4pPr>
              <a:defRPr sz="2100" b="0">
                <a:solidFill>
                  <a:srgbClr val="142D38"/>
                </a:solidFill>
                <a:latin typeface="Optimistic VF Medium"/>
                <a:ea typeface="Optimistic VF Medium"/>
                <a:cs typeface="Optimistic VF Medium"/>
              </a:defRPr>
            </a:lvl4pPr>
            <a:lvl5pPr>
              <a:defRPr sz="2100" b="0">
                <a:solidFill>
                  <a:srgbClr val="142D38"/>
                </a:solidFill>
                <a:latin typeface="Optimistic VF Medium"/>
                <a:ea typeface="Optimistic VF Medium"/>
                <a:cs typeface="Optimistic VF Medium"/>
              </a:defRPr>
            </a:lvl5pPr>
            <a:lvl6pPr>
              <a:defRPr sz="2100" b="0">
                <a:solidFill>
                  <a:srgbClr val="142D38"/>
                </a:solidFill>
                <a:latin typeface="Optimistic VF Medium"/>
                <a:ea typeface="Optimistic VF Medium"/>
                <a:cs typeface="Optimistic VF Medium"/>
              </a:defRPr>
            </a:lvl6pPr>
            <a:lvl7pPr>
              <a:defRPr sz="2100" b="0">
                <a:solidFill>
                  <a:srgbClr val="142D38"/>
                </a:solidFill>
                <a:latin typeface="Optimistic VF Medium"/>
                <a:ea typeface="Optimistic VF Medium"/>
                <a:cs typeface="Optimistic VF Medium"/>
              </a:defRPr>
            </a:lvl7pPr>
            <a:lvl8pPr>
              <a:defRPr sz="2100" b="0">
                <a:solidFill>
                  <a:srgbClr val="142D38"/>
                </a:solidFill>
                <a:latin typeface="Optimistic VF Medium"/>
                <a:ea typeface="Optimistic VF Medium"/>
                <a:cs typeface="Optimistic VF Medium"/>
              </a:defRPr>
            </a:lvl8pPr>
            <a:lvl9pPr>
              <a:defRPr sz="2100" b="0">
                <a:solidFill>
                  <a:srgbClr val="142D38"/>
                </a:solidFill>
                <a:latin typeface="Optimistic VF Medium"/>
                <a:ea typeface="Optimistic VF Medium"/>
                <a:cs typeface="Optimistic VF Medium"/>
              </a:defRPr>
            </a:lvl9pPr>
          </a:lstStyle>
          <a:p xmlns:a="http://schemas.openxmlformats.org/drawingml/2006/main">
            <a:pPr>
              <a:defRPr sz="2100" b="0">
                <a:solidFill>
                  <a:srgbClr val="142D38"/>
                </a:solidFill>
                <a:latin typeface="Optimistic VF Medium"/>
                <a:ea typeface="Optimistic VF Medium"/>
                <a:cs typeface="Optimistic VF Medium"/>
              </a:defRPr>
            </a:pPr>
            <a:r>
              <a:rPr sz="2100" b="0">
                <a:solidFill>
                  <a:srgbClr val="142D38"/>
                </a:solidFill>
                <a:latin typeface="Optimistic VF Medium"/>
                <a:ea typeface="Optimistic VF Medium"/>
                <a:cs typeface="Optimistic VF Medium"/>
              </a:rPr>
              <a:t>Shared conversation</a:t>
            </a:r>
          </a:p>
        </p:txBody>
      </p:sp>
      <p:sp>
        <p:nvSpPr>
          <p:cNvPr id="13" name="">
            <a:extLst xmlns:a="http://schemas.openxmlformats.org/drawingml/2006/main">
              <a:ext uri="{FF2B5EF4-FFF2-40B4-BE49-F238E27FC236}">
                <a16:creationId xmlns:a16="http://schemas.microsoft.com/office/drawing/2014/main" id="{6D4994F9-AAF0-4477-A7E4-B7AF69ED51C4}"/>
              </a:ext>
            </a:extLst>
          </p:cNvPr>
          <p:cNvSpPr>
            <a:spLocks xmlns:a="http://schemas.openxmlformats.org/drawingml/2006/main" noGrp="1"/>
          </p:cNvSpPr>
          <p:nvPr/>
        </p:nvSpPr>
        <p:spPr>
          <a:xfrm xmlns:a="http://schemas.openxmlformats.org/drawingml/2006/main">
            <a:off x="8715375" y="3514725"/>
            <a:ext cx="28575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625" b="0">
                <a:solidFill>
                  <a:srgbClr val="142D38"/>
                </a:solidFill>
                <a:latin typeface="Optimistic VF Medium"/>
                <a:ea typeface="Optimistic VF Medium"/>
                <a:cs typeface="Optimistic VF Medium"/>
              </a:defRPr>
            </a:defPPr>
            <a:lvl1pPr>
              <a:defRPr sz="2625" b="0">
                <a:solidFill>
                  <a:srgbClr val="142D38"/>
                </a:solidFill>
                <a:latin typeface="Optimistic VF Medium"/>
                <a:ea typeface="Optimistic VF Medium"/>
                <a:cs typeface="Optimistic VF Medium"/>
              </a:defRPr>
            </a:lvl1pPr>
            <a:lvl2pPr>
              <a:defRPr sz="2625" b="0">
                <a:solidFill>
                  <a:srgbClr val="142D38"/>
                </a:solidFill>
                <a:latin typeface="Optimistic VF Medium"/>
                <a:ea typeface="Optimistic VF Medium"/>
                <a:cs typeface="Optimistic VF Medium"/>
              </a:defRPr>
            </a:lvl2pPr>
            <a:lvl3pPr>
              <a:defRPr sz="2625" b="0">
                <a:solidFill>
                  <a:srgbClr val="142D38"/>
                </a:solidFill>
                <a:latin typeface="Optimistic VF Medium"/>
                <a:ea typeface="Optimistic VF Medium"/>
                <a:cs typeface="Optimistic VF Medium"/>
              </a:defRPr>
            </a:lvl3pPr>
            <a:lvl4pPr>
              <a:defRPr sz="2625" b="0">
                <a:solidFill>
                  <a:srgbClr val="142D38"/>
                </a:solidFill>
                <a:latin typeface="Optimistic VF Medium"/>
                <a:ea typeface="Optimistic VF Medium"/>
                <a:cs typeface="Optimistic VF Medium"/>
              </a:defRPr>
            </a:lvl4pPr>
            <a:lvl5pPr>
              <a:defRPr sz="2625" b="0">
                <a:solidFill>
                  <a:srgbClr val="142D38"/>
                </a:solidFill>
                <a:latin typeface="Optimistic VF Medium"/>
                <a:ea typeface="Optimistic VF Medium"/>
                <a:cs typeface="Optimistic VF Medium"/>
              </a:defRPr>
            </a:lvl5pPr>
            <a:lvl6pPr>
              <a:defRPr sz="2625" b="0">
                <a:solidFill>
                  <a:srgbClr val="142D38"/>
                </a:solidFill>
                <a:latin typeface="Optimistic VF Medium"/>
                <a:ea typeface="Optimistic VF Medium"/>
                <a:cs typeface="Optimistic VF Medium"/>
              </a:defRPr>
            </a:lvl6pPr>
            <a:lvl7pPr>
              <a:defRPr sz="2625" b="0">
                <a:solidFill>
                  <a:srgbClr val="142D38"/>
                </a:solidFill>
                <a:latin typeface="Optimistic VF Medium"/>
                <a:ea typeface="Optimistic VF Medium"/>
                <a:cs typeface="Optimistic VF Medium"/>
              </a:defRPr>
            </a:lvl7pPr>
            <a:lvl8pPr>
              <a:defRPr sz="2625" b="0">
                <a:solidFill>
                  <a:srgbClr val="142D38"/>
                </a:solidFill>
                <a:latin typeface="Optimistic VF Medium"/>
                <a:ea typeface="Optimistic VF Medium"/>
                <a:cs typeface="Optimistic VF Medium"/>
              </a:defRPr>
            </a:lvl8pPr>
            <a:lvl9pPr>
              <a:defRPr sz="2625" b="0">
                <a:solidFill>
                  <a:srgbClr val="142D38"/>
                </a:solidFill>
                <a:latin typeface="Optimistic VF Medium"/>
                <a:ea typeface="Optimistic VF Medium"/>
                <a:cs typeface="Optimistic VF Medium"/>
              </a:defRPr>
            </a:lvl9pPr>
          </a:lstStyle>
          <a:p xmlns:a="http://schemas.openxmlformats.org/drawingml/2006/main">
            <a:pPr>
              <a:defRPr sz="2625" b="0">
                <a:solidFill>
                  <a:srgbClr val="142D38"/>
                </a:solidFill>
                <a:latin typeface="Optimistic VF Medium"/>
                <a:ea typeface="Optimistic VF Medium"/>
                <a:cs typeface="Optimistic VF Medium"/>
              </a:defRPr>
            </a:pPr>
            <a:r>
              <a:rPr sz="2625" b="0">
                <a:solidFill>
                  <a:srgbClr val="142D38"/>
                </a:solidFill>
                <a:latin typeface="Optimistic VF Medium"/>
                <a:ea typeface="Optimistic VF Medium"/>
                <a:cs typeface="Optimistic VF Medium"/>
              </a:rPr>
              <a:t>“Anyone want</a:t>
            </a:r>
          </a:p>
          <a:p xmlns:a="http://schemas.openxmlformats.org/drawingml/2006/main">
            <a:pPr>
              <a:defRPr sz="2625" b="0">
                <a:solidFill>
                  <a:srgbClr val="142D38"/>
                </a:solidFill>
                <a:latin typeface="Optimistic VF Medium"/>
                <a:ea typeface="Optimistic VF Medium"/>
                <a:cs typeface="Optimistic VF Medium"/>
              </a:defRPr>
            </a:pPr>
            <a:r>
              <a:rPr sz="2625" b="0">
                <a:solidFill>
                  <a:srgbClr val="142D38"/>
                </a:solidFill>
                <a:latin typeface="Optimistic VF Medium"/>
                <a:ea typeface="Optimistic VF Medium"/>
                <a:cs typeface="Optimistic VF Medium"/>
              </a:rPr>
              <a:t>to go Friday?”</a:t>
            </a:r>
          </a:p>
        </p:txBody>
      </p:sp>
      <p:sp>
        <p:nvSpPr>
          <p:cNvPr id="14" name="">
            <a:extLst xmlns:a="http://schemas.openxmlformats.org/drawingml/2006/main">
              <a:ext uri="{FF2B5EF4-FFF2-40B4-BE49-F238E27FC236}">
                <a16:creationId xmlns:a16="http://schemas.microsoft.com/office/drawing/2014/main" id="{7B4FB5BC-098B-4E09-A2CD-CC5BE0CF335D}"/>
              </a:ext>
            </a:extLst>
          </p:cNvPr>
          <p:cNvSpPr>
            <a:spLocks xmlns:a="http://schemas.openxmlformats.org/drawingml/2006/main" noGrp="1"/>
          </p:cNvSpPr>
          <p:nvPr/>
        </p:nvSpPr>
        <p:spPr>
          <a:xfrm xmlns:a="http://schemas.openxmlformats.org/drawingml/2006/main">
            <a:off x="8715375" y="5524500"/>
            <a:ext cx="285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4C6571"/>
                </a:solidFill>
                <a:latin typeface="Optimistic VF"/>
                <a:ea typeface="Optimistic VF"/>
                <a:cs typeface="Optimistic VF"/>
              </a:defRPr>
            </a:defPPr>
            <a:lvl1pPr>
              <a:defRPr sz="1800" b="0">
                <a:solidFill>
                  <a:srgbClr val="4C6571"/>
                </a:solidFill>
                <a:latin typeface="Optimistic VF"/>
                <a:ea typeface="Optimistic VF"/>
                <a:cs typeface="Optimistic VF"/>
              </a:defRPr>
            </a:lvl1pPr>
            <a:lvl2pPr>
              <a:defRPr sz="1800" b="0">
                <a:solidFill>
                  <a:srgbClr val="4C6571"/>
                </a:solidFill>
                <a:latin typeface="Optimistic VF"/>
                <a:ea typeface="Optimistic VF"/>
                <a:cs typeface="Optimistic VF"/>
              </a:defRPr>
            </a:lvl2pPr>
            <a:lvl3pPr>
              <a:defRPr sz="1800" b="0">
                <a:solidFill>
                  <a:srgbClr val="4C6571"/>
                </a:solidFill>
                <a:latin typeface="Optimistic VF"/>
                <a:ea typeface="Optimistic VF"/>
                <a:cs typeface="Optimistic VF"/>
              </a:defRPr>
            </a:lvl3pPr>
            <a:lvl4pPr>
              <a:defRPr sz="1800" b="0">
                <a:solidFill>
                  <a:srgbClr val="4C6571"/>
                </a:solidFill>
                <a:latin typeface="Optimistic VF"/>
                <a:ea typeface="Optimistic VF"/>
                <a:cs typeface="Optimistic VF"/>
              </a:defRPr>
            </a:lvl4pPr>
            <a:lvl5pPr>
              <a:defRPr sz="1800" b="0">
                <a:solidFill>
                  <a:srgbClr val="4C6571"/>
                </a:solidFill>
                <a:latin typeface="Optimistic VF"/>
                <a:ea typeface="Optimistic VF"/>
                <a:cs typeface="Optimistic VF"/>
              </a:defRPr>
            </a:lvl5pPr>
            <a:lvl6pPr>
              <a:defRPr sz="1800" b="0">
                <a:solidFill>
                  <a:srgbClr val="4C6571"/>
                </a:solidFill>
                <a:latin typeface="Optimistic VF"/>
                <a:ea typeface="Optimistic VF"/>
                <a:cs typeface="Optimistic VF"/>
              </a:defRPr>
            </a:lvl6pPr>
            <a:lvl7pPr>
              <a:defRPr sz="1800" b="0">
                <a:solidFill>
                  <a:srgbClr val="4C6571"/>
                </a:solidFill>
                <a:latin typeface="Optimistic VF"/>
                <a:ea typeface="Optimistic VF"/>
                <a:cs typeface="Optimistic VF"/>
              </a:defRPr>
            </a:lvl7pPr>
            <a:lvl8pPr>
              <a:defRPr sz="1800" b="0">
                <a:solidFill>
                  <a:srgbClr val="4C6571"/>
                </a:solidFill>
                <a:latin typeface="Optimistic VF"/>
                <a:ea typeface="Optimistic VF"/>
                <a:cs typeface="Optimistic VF"/>
              </a:defRPr>
            </a:lvl8pPr>
            <a:lvl9pPr>
              <a:defRPr sz="1800" b="0">
                <a:solidFill>
                  <a:srgbClr val="4C6571"/>
                </a:solidFill>
                <a:latin typeface="Optimistic VF"/>
                <a:ea typeface="Optimistic VF"/>
                <a:cs typeface="Optimistic VF"/>
              </a:defRPr>
            </a:lvl9pPr>
          </a:lstStyle>
          <a:p xmlns:a="http://schemas.openxmlformats.org/drawingml/2006/main">
            <a:pPr>
              <a:defRPr sz="1800" b="0">
                <a:solidFill>
                  <a:srgbClr val="4C6571"/>
                </a:solidFill>
                <a:latin typeface="Optimistic VF"/>
                <a:ea typeface="Optimistic VF"/>
                <a:cs typeface="Optimistic VF"/>
              </a:defRPr>
            </a:pPr>
            <a:r>
              <a:rPr sz="1800" b="0">
                <a:solidFill>
                  <a:srgbClr val="4C6571"/>
                </a:solidFill>
                <a:latin typeface="Optimistic VF"/>
                <a:ea typeface="Optimistic VF"/>
                <a:cs typeface="Optimistic VF"/>
              </a:rPr>
              <a:t>React loads the thread</a:t>
            </a:r>
          </a:p>
        </p:txBody>
      </p:sp>
      <p:sp>
        <p:nvSpPr>
          <p:cNvPr id="15" name="">
            <a:extLst xmlns:a="http://schemas.openxmlformats.org/drawingml/2006/main">
              <a:ext uri="{FF2B5EF4-FFF2-40B4-BE49-F238E27FC236}">
                <a16:creationId xmlns:a16="http://schemas.microsoft.com/office/drawing/2014/main" id="{0E39F792-658E-405B-B7C2-1AB6D8EA9EC8}"/>
              </a:ext>
            </a:extLst>
          </p:cNvPr>
          <p:cNvSpPr>
            <a:spLocks xmlns:a="http://schemas.openxmlformats.org/drawingml/2006/main" noGrp="1"/>
          </p:cNvSpPr>
          <p:nvPr/>
        </p:nvSpPr>
        <p:spPr>
          <a:xfrm xmlns:a="http://schemas.openxmlformats.org/drawingml/2006/main">
            <a:off x="619125" y="5524500"/>
            <a:ext cx="285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142D38"/>
                </a:solidFill>
                <a:latin typeface="Optimistic VF"/>
                <a:ea typeface="Optimistic VF"/>
                <a:cs typeface="Optimistic VF"/>
              </a:defRPr>
            </a:defPPr>
            <a:lvl1pPr>
              <a:defRPr sz="1875" b="0">
                <a:solidFill>
                  <a:srgbClr val="142D38"/>
                </a:solidFill>
                <a:latin typeface="Optimistic VF"/>
                <a:ea typeface="Optimistic VF"/>
                <a:cs typeface="Optimistic VF"/>
              </a:defRPr>
            </a:lvl1pPr>
            <a:lvl2pPr>
              <a:defRPr sz="1875" b="0">
                <a:solidFill>
                  <a:srgbClr val="142D38"/>
                </a:solidFill>
                <a:latin typeface="Optimistic VF"/>
                <a:ea typeface="Optimistic VF"/>
                <a:cs typeface="Optimistic VF"/>
              </a:defRPr>
            </a:lvl2pPr>
            <a:lvl3pPr>
              <a:defRPr sz="1875" b="0">
                <a:solidFill>
                  <a:srgbClr val="142D38"/>
                </a:solidFill>
                <a:latin typeface="Optimistic VF"/>
                <a:ea typeface="Optimistic VF"/>
                <a:cs typeface="Optimistic VF"/>
              </a:defRPr>
            </a:lvl3pPr>
            <a:lvl4pPr>
              <a:defRPr sz="1875" b="0">
                <a:solidFill>
                  <a:srgbClr val="142D38"/>
                </a:solidFill>
                <a:latin typeface="Optimistic VF"/>
                <a:ea typeface="Optimistic VF"/>
                <a:cs typeface="Optimistic VF"/>
              </a:defRPr>
            </a:lvl4pPr>
            <a:lvl5pPr>
              <a:defRPr sz="1875" b="0">
                <a:solidFill>
                  <a:srgbClr val="142D38"/>
                </a:solidFill>
                <a:latin typeface="Optimistic VF"/>
                <a:ea typeface="Optimistic VF"/>
                <a:cs typeface="Optimistic VF"/>
              </a:defRPr>
            </a:lvl5pPr>
            <a:lvl6pPr>
              <a:defRPr sz="1875" b="0">
                <a:solidFill>
                  <a:srgbClr val="142D38"/>
                </a:solidFill>
                <a:latin typeface="Optimistic VF"/>
                <a:ea typeface="Optimistic VF"/>
                <a:cs typeface="Optimistic VF"/>
              </a:defRPr>
            </a:lvl6pPr>
            <a:lvl7pPr>
              <a:defRPr sz="1875" b="0">
                <a:solidFill>
                  <a:srgbClr val="142D38"/>
                </a:solidFill>
                <a:latin typeface="Optimistic VF"/>
                <a:ea typeface="Optimistic VF"/>
                <a:cs typeface="Optimistic VF"/>
              </a:defRPr>
            </a:lvl7pPr>
            <a:lvl8pPr>
              <a:defRPr sz="1875" b="0">
                <a:solidFill>
                  <a:srgbClr val="142D38"/>
                </a:solidFill>
                <a:latin typeface="Optimistic VF"/>
                <a:ea typeface="Optimistic VF"/>
                <a:cs typeface="Optimistic VF"/>
              </a:defRPr>
            </a:lvl8pPr>
            <a:lvl9pPr>
              <a:defRPr sz="1875" b="0">
                <a:solidFill>
                  <a:srgbClr val="142D38"/>
                </a:solidFill>
                <a:latin typeface="Optimistic VF"/>
                <a:ea typeface="Optimistic VF"/>
                <a:cs typeface="Optimistic VF"/>
              </a:defRPr>
            </a:lvl9pPr>
          </a:lstStyle>
          <a:p xmlns:a="http://schemas.openxmlformats.org/drawingml/2006/main">
            <a:pPr>
              <a:defRPr sz="1875" b="0">
                <a:solidFill>
                  <a:srgbClr val="142D38"/>
                </a:solidFill>
                <a:latin typeface="Optimistic VF"/>
                <a:ea typeface="Optimistic VF"/>
                <a:cs typeface="Optimistic VF"/>
              </a:defRPr>
            </a:pPr>
            <a:r>
              <a:rPr sz="1875" b="0">
                <a:solidFill>
                  <a:srgbClr val="142D38"/>
                </a:solidFill>
                <a:latin typeface="Optimistic VF"/>
                <a:ea typeface="Optimistic VF"/>
                <a:cs typeface="Optimistic VF"/>
              </a:rPr>
              <a:t>SIFT / ORB</a:t>
            </a:r>
          </a:p>
        </p:txBody>
      </p:sp>
      <p:sp>
        <p:nvSpPr>
          <p:cNvPr id="16" name="">
            <a:extLst xmlns:a="http://schemas.openxmlformats.org/drawingml/2006/main">
              <a:ext uri="{FF2B5EF4-FFF2-40B4-BE49-F238E27FC236}">
                <a16:creationId xmlns:a16="http://schemas.microsoft.com/office/drawing/2014/main" id="{D906606C-439A-47B2-B4CA-19AC2BDA5335}"/>
              </a:ext>
            </a:extLst>
          </p:cNvPr>
          <p:cNvSpPr>
            <a:spLocks xmlns:a="http://schemas.openxmlformats.org/drawingml/2006/main" noGrp="1"/>
          </p:cNvSpPr>
          <p:nvPr/>
        </p:nvSpPr>
        <p:spPr>
          <a:xfrm xmlns:a="http://schemas.openxmlformats.org/drawingml/2006/main">
            <a:off x="647700" y="6105525"/>
            <a:ext cx="1087755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4C6571"/>
                </a:solidFill>
                <a:latin typeface="Optimistic VF"/>
                <a:ea typeface="Optimistic VF"/>
                <a:cs typeface="Optimistic VF"/>
              </a:defRPr>
            </a:defPPr>
            <a:lvl1pPr>
              <a:defRPr sz="1875" b="0">
                <a:solidFill>
                  <a:srgbClr val="4C6571"/>
                </a:solidFill>
                <a:latin typeface="Optimistic VF"/>
                <a:ea typeface="Optimistic VF"/>
                <a:cs typeface="Optimistic VF"/>
              </a:defRPr>
            </a:lvl1pPr>
            <a:lvl2pPr>
              <a:defRPr sz="1875" b="0">
                <a:solidFill>
                  <a:srgbClr val="4C6571"/>
                </a:solidFill>
                <a:latin typeface="Optimistic VF"/>
                <a:ea typeface="Optimistic VF"/>
                <a:cs typeface="Optimistic VF"/>
              </a:defRPr>
            </a:lvl2pPr>
            <a:lvl3pPr>
              <a:defRPr sz="1875" b="0">
                <a:solidFill>
                  <a:srgbClr val="4C6571"/>
                </a:solidFill>
                <a:latin typeface="Optimistic VF"/>
                <a:ea typeface="Optimistic VF"/>
                <a:cs typeface="Optimistic VF"/>
              </a:defRPr>
            </a:lvl3pPr>
            <a:lvl4pPr>
              <a:defRPr sz="1875" b="0">
                <a:solidFill>
                  <a:srgbClr val="4C6571"/>
                </a:solidFill>
                <a:latin typeface="Optimistic VF"/>
                <a:ea typeface="Optimistic VF"/>
                <a:cs typeface="Optimistic VF"/>
              </a:defRPr>
            </a:lvl4pPr>
            <a:lvl5pPr>
              <a:defRPr sz="1875" b="0">
                <a:solidFill>
                  <a:srgbClr val="4C6571"/>
                </a:solidFill>
                <a:latin typeface="Optimistic VF"/>
                <a:ea typeface="Optimistic VF"/>
                <a:cs typeface="Optimistic VF"/>
              </a:defRPr>
            </a:lvl5pPr>
            <a:lvl6pPr>
              <a:defRPr sz="1875" b="0">
                <a:solidFill>
                  <a:srgbClr val="4C6571"/>
                </a:solidFill>
                <a:latin typeface="Optimistic VF"/>
                <a:ea typeface="Optimistic VF"/>
                <a:cs typeface="Optimistic VF"/>
              </a:defRPr>
            </a:lvl6pPr>
            <a:lvl7pPr>
              <a:defRPr sz="1875" b="0">
                <a:solidFill>
                  <a:srgbClr val="4C6571"/>
                </a:solidFill>
                <a:latin typeface="Optimistic VF"/>
                <a:ea typeface="Optimistic VF"/>
                <a:cs typeface="Optimistic VF"/>
              </a:defRPr>
            </a:lvl7pPr>
            <a:lvl8pPr>
              <a:defRPr sz="1875" b="0">
                <a:solidFill>
                  <a:srgbClr val="4C6571"/>
                </a:solidFill>
                <a:latin typeface="Optimistic VF"/>
                <a:ea typeface="Optimistic VF"/>
                <a:cs typeface="Optimistic VF"/>
              </a:defRPr>
            </a:lvl8pPr>
            <a:lvl9pPr>
              <a:defRPr sz="1875" b="0">
                <a:solidFill>
                  <a:srgbClr val="4C6571"/>
                </a:solidFill>
                <a:latin typeface="Optimistic VF"/>
                <a:ea typeface="Optimistic VF"/>
                <a:cs typeface="Optimistic VF"/>
              </a:defRPr>
            </a:lvl9pPr>
          </a:lstStyle>
          <a:p xmlns:a="http://schemas.openxmlformats.org/drawingml/2006/main">
            <a:pPr>
              <a:defRPr sz="1875" b="0">
                <a:solidFill>
                  <a:srgbClr val="4C6571"/>
                </a:solidFill>
                <a:latin typeface="Optimistic VF"/>
                <a:ea typeface="Optimistic VF"/>
                <a:cs typeface="Optimistic VF"/>
              </a:defRPr>
            </a:pPr>
            <a:r>
              <a:rPr sz="1875" b="0">
                <a:solidFill>
                  <a:srgbClr val="4C6571"/>
                </a:solidFill>
                <a:latin typeface="Optimistic VF"/>
                <a:ea typeface="Optimistic VF"/>
                <a:cs typeface="Optimistic VF"/>
              </a:rPr>
              <a:t>AI turns your recording into text. In the glasses experience we’re building toward, you’d hear your note and confirm it by voice before it’s saved.</a:t>
            </a:r>
          </a:p>
        </p:txBody>
      </p:sp>
    </p:spTree>
    <p:extLst>
      <p:ext uri="{BB962C8B-B14F-4D97-AF65-F5344CB8AC3E}">
        <p14:creationId xmlns:p14="http://schemas.microsoft.com/office/powerpoint/2010/main" val="1012065665"/>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55E06F40-1E4C-4501-B61D-8102BABC8672}"/>
              </a:ext>
            </a:extLst>
          </p:cNvPr>
          <p:cNvSpPr>
            <a:spLocks xmlns:a="http://schemas.openxmlformats.org/drawingml/2006/main" noGrp="1"/>
          </p:cNvSpPr>
          <p:nvPr/>
        </p:nvSpPr>
        <p:spPr>
          <a:xfrm xmlns:a="http://schemas.openxmlformats.org/drawingml/2006/main">
            <a:off x="638175" y="533400"/>
            <a:ext cx="619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0866FF"/>
                </a:solidFill>
                <a:latin typeface="Optimistic VF Medium"/>
                <a:ea typeface="Optimistic VF Medium"/>
                <a:cs typeface="Optimistic VF Medium"/>
              </a:defRPr>
            </a:defPPr>
            <a:lvl1pPr>
              <a:defRPr sz="1425" b="0">
                <a:solidFill>
                  <a:srgbClr val="0866FF"/>
                </a:solidFill>
                <a:latin typeface="Optimistic VF Medium"/>
                <a:ea typeface="Optimistic VF Medium"/>
                <a:cs typeface="Optimistic VF Medium"/>
              </a:defRPr>
            </a:lvl1pPr>
            <a:lvl2pPr>
              <a:defRPr sz="1425" b="0">
                <a:solidFill>
                  <a:srgbClr val="0866FF"/>
                </a:solidFill>
                <a:latin typeface="Optimistic VF Medium"/>
                <a:ea typeface="Optimistic VF Medium"/>
                <a:cs typeface="Optimistic VF Medium"/>
              </a:defRPr>
            </a:lvl2pPr>
            <a:lvl3pPr>
              <a:defRPr sz="1425" b="0">
                <a:solidFill>
                  <a:srgbClr val="0866FF"/>
                </a:solidFill>
                <a:latin typeface="Optimistic VF Medium"/>
                <a:ea typeface="Optimistic VF Medium"/>
                <a:cs typeface="Optimistic VF Medium"/>
              </a:defRPr>
            </a:lvl3pPr>
            <a:lvl4pPr>
              <a:defRPr sz="1425" b="0">
                <a:solidFill>
                  <a:srgbClr val="0866FF"/>
                </a:solidFill>
                <a:latin typeface="Optimistic VF Medium"/>
                <a:ea typeface="Optimistic VF Medium"/>
                <a:cs typeface="Optimistic VF Medium"/>
              </a:defRPr>
            </a:lvl4pPr>
            <a:lvl5pPr>
              <a:defRPr sz="1425" b="0">
                <a:solidFill>
                  <a:srgbClr val="0866FF"/>
                </a:solidFill>
                <a:latin typeface="Optimistic VF Medium"/>
                <a:ea typeface="Optimistic VF Medium"/>
                <a:cs typeface="Optimistic VF Medium"/>
              </a:defRPr>
            </a:lvl5pPr>
            <a:lvl6pPr>
              <a:defRPr sz="1425" b="0">
                <a:solidFill>
                  <a:srgbClr val="0866FF"/>
                </a:solidFill>
                <a:latin typeface="Optimistic VF Medium"/>
                <a:ea typeface="Optimistic VF Medium"/>
                <a:cs typeface="Optimistic VF Medium"/>
              </a:defRPr>
            </a:lvl6pPr>
            <a:lvl7pPr>
              <a:defRPr sz="1425" b="0">
                <a:solidFill>
                  <a:srgbClr val="0866FF"/>
                </a:solidFill>
                <a:latin typeface="Optimistic VF Medium"/>
                <a:ea typeface="Optimistic VF Medium"/>
                <a:cs typeface="Optimistic VF Medium"/>
              </a:defRPr>
            </a:lvl7pPr>
            <a:lvl8pPr>
              <a:defRPr sz="1425" b="0">
                <a:solidFill>
                  <a:srgbClr val="0866FF"/>
                </a:solidFill>
                <a:latin typeface="Optimistic VF Medium"/>
                <a:ea typeface="Optimistic VF Medium"/>
                <a:cs typeface="Optimistic VF Medium"/>
              </a:defRPr>
            </a:lvl8pPr>
            <a:lvl9pPr>
              <a:defRPr sz="1425" b="0">
                <a:solidFill>
                  <a:srgbClr val="0866FF"/>
                </a:solidFill>
                <a:latin typeface="Optimistic VF Medium"/>
                <a:ea typeface="Optimistic VF Medium"/>
                <a:cs typeface="Optimistic VF Medium"/>
              </a:defRPr>
            </a:lvl9pPr>
          </a:lstStyle>
          <a:p xmlns:a="http://schemas.openxmlformats.org/drawingml/2006/main">
            <a:pPr>
              <a:defRPr sz="1425" b="0">
                <a:solidFill>
                  <a:srgbClr val="0866FF"/>
                </a:solidFill>
                <a:latin typeface="Optimistic VF Medium"/>
                <a:ea typeface="Optimistic VF Medium"/>
                <a:cs typeface="Optimistic VF Medium"/>
              </a:defRPr>
            </a:pPr>
            <a:r>
              <a:rPr sz="1425" b="0">
                <a:solidFill>
                  <a:srgbClr val="0866FF"/>
                </a:solidFill>
                <a:latin typeface="Optimistic VF Medium"/>
                <a:ea typeface="Optimistic VF Medium"/>
                <a:cs typeface="Optimistic VF Medium"/>
              </a:rPr>
              <a:t>NEXT STAGES</a:t>
            </a:r>
          </a:p>
        </p:txBody>
      </p:sp>
      <p:sp>
        <p:nvSpPr>
          <p:cNvPr id="3" name="">
            <a:extLst xmlns:a="http://schemas.openxmlformats.org/drawingml/2006/main">
              <a:ext uri="{FF2B5EF4-FFF2-40B4-BE49-F238E27FC236}">
                <a16:creationId xmlns:a16="http://schemas.microsoft.com/office/drawing/2014/main" id="{F426A16E-2DCA-4F1C-AA57-C57C72B2458D}"/>
              </a:ext>
            </a:extLst>
          </p:cNvPr>
          <p:cNvSpPr>
            <a:spLocks xmlns:a="http://schemas.openxmlformats.org/drawingml/2006/main" noGrp="1"/>
          </p:cNvSpPr>
          <p:nvPr/>
        </p:nvSpPr>
        <p:spPr>
          <a:xfrm xmlns:a="http://schemas.openxmlformats.org/drawingml/2006/main">
            <a:off x="609600" y="1704975"/>
            <a:ext cx="6191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825" b="0">
                <a:solidFill>
                  <a:srgbClr val="142D38"/>
                </a:solidFill>
                <a:latin typeface="Optimistic VF Medium"/>
                <a:ea typeface="Optimistic VF Medium"/>
                <a:cs typeface="Optimistic VF Medium"/>
              </a:defRPr>
            </a:defPPr>
            <a:lvl1pPr>
              <a:defRPr sz="3825" b="0">
                <a:solidFill>
                  <a:srgbClr val="142D38"/>
                </a:solidFill>
                <a:latin typeface="Optimistic VF Medium"/>
                <a:ea typeface="Optimistic VF Medium"/>
                <a:cs typeface="Optimistic VF Medium"/>
              </a:defRPr>
            </a:lvl1pPr>
            <a:lvl2pPr>
              <a:defRPr sz="3825" b="0">
                <a:solidFill>
                  <a:srgbClr val="142D38"/>
                </a:solidFill>
                <a:latin typeface="Optimistic VF Medium"/>
                <a:ea typeface="Optimistic VF Medium"/>
                <a:cs typeface="Optimistic VF Medium"/>
              </a:defRPr>
            </a:lvl2pPr>
            <a:lvl3pPr>
              <a:defRPr sz="3825" b="0">
                <a:solidFill>
                  <a:srgbClr val="142D38"/>
                </a:solidFill>
                <a:latin typeface="Optimistic VF Medium"/>
                <a:ea typeface="Optimistic VF Medium"/>
                <a:cs typeface="Optimistic VF Medium"/>
              </a:defRPr>
            </a:lvl3pPr>
            <a:lvl4pPr>
              <a:defRPr sz="3825" b="0">
                <a:solidFill>
                  <a:srgbClr val="142D38"/>
                </a:solidFill>
                <a:latin typeface="Optimistic VF Medium"/>
                <a:ea typeface="Optimistic VF Medium"/>
                <a:cs typeface="Optimistic VF Medium"/>
              </a:defRPr>
            </a:lvl4pPr>
            <a:lvl5pPr>
              <a:defRPr sz="3825" b="0">
                <a:solidFill>
                  <a:srgbClr val="142D38"/>
                </a:solidFill>
                <a:latin typeface="Optimistic VF Medium"/>
                <a:ea typeface="Optimistic VF Medium"/>
                <a:cs typeface="Optimistic VF Medium"/>
              </a:defRPr>
            </a:lvl5pPr>
            <a:lvl6pPr>
              <a:defRPr sz="3825" b="0">
                <a:solidFill>
                  <a:srgbClr val="142D38"/>
                </a:solidFill>
                <a:latin typeface="Optimistic VF Medium"/>
                <a:ea typeface="Optimistic VF Medium"/>
                <a:cs typeface="Optimistic VF Medium"/>
              </a:defRPr>
            </a:lvl6pPr>
            <a:lvl7pPr>
              <a:defRPr sz="3825" b="0">
                <a:solidFill>
                  <a:srgbClr val="142D38"/>
                </a:solidFill>
                <a:latin typeface="Optimistic VF Medium"/>
                <a:ea typeface="Optimistic VF Medium"/>
                <a:cs typeface="Optimistic VF Medium"/>
              </a:defRPr>
            </a:lvl7pPr>
            <a:lvl8pPr>
              <a:defRPr sz="3825" b="0">
                <a:solidFill>
                  <a:srgbClr val="142D38"/>
                </a:solidFill>
                <a:latin typeface="Optimistic VF Medium"/>
                <a:ea typeface="Optimistic VF Medium"/>
                <a:cs typeface="Optimistic VF Medium"/>
              </a:defRPr>
            </a:lvl8pPr>
            <a:lvl9pPr>
              <a:defRPr sz="3825" b="0">
                <a:solidFill>
                  <a:srgbClr val="142D38"/>
                </a:solidFill>
                <a:latin typeface="Optimistic VF Medium"/>
                <a:ea typeface="Optimistic VF Medium"/>
                <a:cs typeface="Optimistic VF Medium"/>
              </a:defRPr>
            </a:lvl9pPr>
          </a:lstStyle>
          <a:p xmlns:a="http://schemas.openxmlformats.org/drawingml/2006/main">
            <a:pPr>
              <a:defRPr sz="3825" b="0">
                <a:solidFill>
                  <a:srgbClr val="142D38"/>
                </a:solidFill>
                <a:latin typeface="Optimistic VF Medium"/>
                <a:ea typeface="Optimistic VF Medium"/>
                <a:cs typeface="Optimistic VF Medium"/>
              </a:defRPr>
            </a:pPr>
            <a:r>
              <a:rPr sz="3825" b="0">
                <a:solidFill>
                  <a:srgbClr val="142D38"/>
                </a:solidFill>
                <a:latin typeface="Optimistic VF Medium"/>
                <a:ea typeface="Optimistic VF Medium"/>
                <a:cs typeface="Optimistic VF Medium"/>
              </a:rPr>
              <a:t>What comes next</a:t>
            </a:r>
          </a:p>
        </p:txBody>
      </p:sp>
      <p:sp>
        <p:nvSpPr>
          <p:cNvPr id="4" name="">
            <a:extLst xmlns:a="http://schemas.openxmlformats.org/drawingml/2006/main">
              <a:ext uri="{FF2B5EF4-FFF2-40B4-BE49-F238E27FC236}">
                <a16:creationId xmlns:a16="http://schemas.microsoft.com/office/drawing/2014/main" id="{E0BDE97F-929A-4285-AD90-B1083A17D806}"/>
              </a:ext>
            </a:extLst>
          </p:cNvPr>
          <p:cNvSpPr>
            <a:spLocks xmlns:a="http://schemas.openxmlformats.org/drawingml/2006/main" noGrp="1"/>
          </p:cNvSpPr>
          <p:nvPr/>
        </p:nvSpPr>
        <p:spPr>
          <a:xfrm xmlns:a="http://schemas.openxmlformats.org/drawingml/2006/main">
            <a:off x="647700" y="3305175"/>
            <a:ext cx="5991225"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4C6571"/>
                </a:solidFill>
                <a:latin typeface="Optimistic VF"/>
                <a:ea typeface="Optimistic VF"/>
                <a:cs typeface="Optimistic VF"/>
              </a:defRPr>
            </a:defPPr>
            <a:lvl1pPr>
              <a:defRPr sz="2175" b="0">
                <a:solidFill>
                  <a:srgbClr val="4C6571"/>
                </a:solidFill>
                <a:latin typeface="Optimistic VF"/>
                <a:ea typeface="Optimistic VF"/>
                <a:cs typeface="Optimistic VF"/>
              </a:defRPr>
            </a:lvl1pPr>
            <a:lvl2pPr>
              <a:defRPr sz="2175" b="0">
                <a:solidFill>
                  <a:srgbClr val="4C6571"/>
                </a:solidFill>
                <a:latin typeface="Optimistic VF"/>
                <a:ea typeface="Optimistic VF"/>
                <a:cs typeface="Optimistic VF"/>
              </a:defRPr>
            </a:lvl2pPr>
            <a:lvl3pPr>
              <a:defRPr sz="2175" b="0">
                <a:solidFill>
                  <a:srgbClr val="4C6571"/>
                </a:solidFill>
                <a:latin typeface="Optimistic VF"/>
                <a:ea typeface="Optimistic VF"/>
                <a:cs typeface="Optimistic VF"/>
              </a:defRPr>
            </a:lvl3pPr>
            <a:lvl4pPr>
              <a:defRPr sz="2175" b="0">
                <a:solidFill>
                  <a:srgbClr val="4C6571"/>
                </a:solidFill>
                <a:latin typeface="Optimistic VF"/>
                <a:ea typeface="Optimistic VF"/>
                <a:cs typeface="Optimistic VF"/>
              </a:defRPr>
            </a:lvl4pPr>
            <a:lvl5pPr>
              <a:defRPr sz="2175" b="0">
                <a:solidFill>
                  <a:srgbClr val="4C6571"/>
                </a:solidFill>
                <a:latin typeface="Optimistic VF"/>
                <a:ea typeface="Optimistic VF"/>
                <a:cs typeface="Optimistic VF"/>
              </a:defRPr>
            </a:lvl5pPr>
            <a:lvl6pPr>
              <a:defRPr sz="2175" b="0">
                <a:solidFill>
                  <a:srgbClr val="4C6571"/>
                </a:solidFill>
                <a:latin typeface="Optimistic VF"/>
                <a:ea typeface="Optimistic VF"/>
                <a:cs typeface="Optimistic VF"/>
              </a:defRPr>
            </a:lvl6pPr>
            <a:lvl7pPr>
              <a:defRPr sz="2175" b="0">
                <a:solidFill>
                  <a:srgbClr val="4C6571"/>
                </a:solidFill>
                <a:latin typeface="Optimistic VF"/>
                <a:ea typeface="Optimistic VF"/>
                <a:cs typeface="Optimistic VF"/>
              </a:defRPr>
            </a:lvl7pPr>
            <a:lvl8pPr>
              <a:defRPr sz="2175" b="0">
                <a:solidFill>
                  <a:srgbClr val="4C6571"/>
                </a:solidFill>
                <a:latin typeface="Optimistic VF"/>
                <a:ea typeface="Optimistic VF"/>
                <a:cs typeface="Optimistic VF"/>
              </a:defRPr>
            </a:lvl8pPr>
            <a:lvl9pPr>
              <a:defRPr sz="2175" b="0">
                <a:solidFill>
                  <a:srgbClr val="4C6571"/>
                </a:solidFill>
                <a:latin typeface="Optimistic VF"/>
                <a:ea typeface="Optimistic VF"/>
                <a:cs typeface="Optimistic VF"/>
              </a:defRPr>
            </a:lvl9pPr>
          </a:lstStyle>
          <a:p xmlns:a="http://schemas.openxmlformats.org/drawingml/2006/main">
            <a:pPr>
              <a:defRPr sz="2175" b="0">
                <a:solidFill>
                  <a:srgbClr val="4C6571"/>
                </a:solidFill>
                <a:latin typeface="Optimistic VF"/>
                <a:ea typeface="Optimistic VF"/>
                <a:cs typeface="Optimistic VF"/>
              </a:defRPr>
            </a:pPr>
            <a:r>
              <a:rPr sz="2175" b="0">
                <a:solidFill>
                  <a:srgbClr val="4C6571"/>
                </a:solidFill>
                <a:latin typeface="Optimistic VF"/>
                <a:ea typeface="Optimistic VF"/>
                <a:cs typeface="Optimistic VF"/>
              </a:rPr>
              <a:t>Next, we want to help you meet people who share your interests or keep coming back to the same spots, if you’re open to it. Maybe a note leads to a chat, then a plan to hang out. We also want to bring the experience onto Meta Ray-Ban Display.</a:t>
            </a:r>
          </a:p>
        </p:txBody>
      </p:sp>
      <p:sp>
        <p:nvSpPr>
          <p:cNvPr id="5" name="">
            <a:extLst xmlns:a="http://schemas.openxmlformats.org/drawingml/2006/main">
              <a:ext uri="{FF2B5EF4-FFF2-40B4-BE49-F238E27FC236}">
                <a16:creationId xmlns:a16="http://schemas.microsoft.com/office/drawing/2014/main" id="{35BA654F-438F-46B5-8FC3-5CC7326B9CA1}"/>
              </a:ext>
            </a:extLst>
          </p:cNvPr>
          <p:cNvSpPr>
            <a:spLocks xmlns:a="http://schemas.openxmlformats.org/drawingml/2006/main" noGrp="1"/>
          </p:cNvSpPr>
          <p:nvPr/>
        </p:nvSpPr>
        <p:spPr>
          <a:xfrm xmlns:a="http://schemas.openxmlformats.org/drawingml/2006/main">
            <a:off x="7115175" y="581025"/>
            <a:ext cx="4467225" cy="5476875"/>
          </a:xfrm>
          <a:prstGeom xmlns:a="http://schemas.openxmlformats.org/drawingml/2006/main" prst="roundRect">
            <a:avLst>
              <a:gd name="adj" fmla="val 5970"/>
            </a:avLst>
          </a:prstGeom>
          <a:solidFill xmlns:a="http://schemas.openxmlformats.org/drawingml/2006/main">
            <a:srgbClr val="F1F5F7"/>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3C9CE09A-12C3-4196-886F-74A68DA22A35}"/>
              </a:ext>
            </a:extLst>
          </p:cNvPr>
          <p:cNvSpPr>
            <a:spLocks xmlns:a="http://schemas.openxmlformats.org/drawingml/2006/main" noGrp="1"/>
          </p:cNvSpPr>
          <p:nvPr/>
        </p:nvSpPr>
        <p:spPr>
          <a:xfrm xmlns:a="http://schemas.openxmlformats.org/drawingml/2006/main">
            <a:off x="7372350" y="781050"/>
            <a:ext cx="3952875" cy="49434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2E986A5C-5396-4702-8B16-5E14293D3358}"/>
              </a:ext>
            </a:extLst>
          </p:cNvPr>
          <p:cNvSpPr>
            <a:spLocks xmlns:a="http://schemas.openxmlformats.org/drawingml/2006/main" noGrp="1"/>
          </p:cNvSpPr>
          <p:nvPr/>
        </p:nvSpPr>
        <p:spPr>
          <a:xfrm xmlns:a="http://schemas.openxmlformats.org/drawingml/2006/main">
            <a:off x="7620000" y="962025"/>
            <a:ext cx="3429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142D38"/>
                </a:solidFill>
                <a:latin typeface="Optimistic VF Medium"/>
                <a:ea typeface="Optimistic VF Medium"/>
                <a:cs typeface="Optimistic VF Medium"/>
              </a:defRPr>
            </a:defPPr>
            <a:lvl1pPr>
              <a:defRPr sz="2100" b="0">
                <a:solidFill>
                  <a:srgbClr val="142D38"/>
                </a:solidFill>
                <a:latin typeface="Optimistic VF Medium"/>
                <a:ea typeface="Optimistic VF Medium"/>
                <a:cs typeface="Optimistic VF Medium"/>
              </a:defRPr>
            </a:lvl1pPr>
            <a:lvl2pPr>
              <a:defRPr sz="2100" b="0">
                <a:solidFill>
                  <a:srgbClr val="142D38"/>
                </a:solidFill>
                <a:latin typeface="Optimistic VF Medium"/>
                <a:ea typeface="Optimistic VF Medium"/>
                <a:cs typeface="Optimistic VF Medium"/>
              </a:defRPr>
            </a:lvl2pPr>
            <a:lvl3pPr>
              <a:defRPr sz="2100" b="0">
                <a:solidFill>
                  <a:srgbClr val="142D38"/>
                </a:solidFill>
                <a:latin typeface="Optimistic VF Medium"/>
                <a:ea typeface="Optimistic VF Medium"/>
                <a:cs typeface="Optimistic VF Medium"/>
              </a:defRPr>
            </a:lvl3pPr>
            <a:lvl4pPr>
              <a:defRPr sz="2100" b="0">
                <a:solidFill>
                  <a:srgbClr val="142D38"/>
                </a:solidFill>
                <a:latin typeface="Optimistic VF Medium"/>
                <a:ea typeface="Optimistic VF Medium"/>
                <a:cs typeface="Optimistic VF Medium"/>
              </a:defRPr>
            </a:lvl4pPr>
            <a:lvl5pPr>
              <a:defRPr sz="2100" b="0">
                <a:solidFill>
                  <a:srgbClr val="142D38"/>
                </a:solidFill>
                <a:latin typeface="Optimistic VF Medium"/>
                <a:ea typeface="Optimistic VF Medium"/>
                <a:cs typeface="Optimistic VF Medium"/>
              </a:defRPr>
            </a:lvl5pPr>
            <a:lvl6pPr>
              <a:defRPr sz="2100" b="0">
                <a:solidFill>
                  <a:srgbClr val="142D38"/>
                </a:solidFill>
                <a:latin typeface="Optimistic VF Medium"/>
                <a:ea typeface="Optimistic VF Medium"/>
                <a:cs typeface="Optimistic VF Medium"/>
              </a:defRPr>
            </a:lvl6pPr>
            <a:lvl7pPr>
              <a:defRPr sz="2100" b="0">
                <a:solidFill>
                  <a:srgbClr val="142D38"/>
                </a:solidFill>
                <a:latin typeface="Optimistic VF Medium"/>
                <a:ea typeface="Optimistic VF Medium"/>
                <a:cs typeface="Optimistic VF Medium"/>
              </a:defRPr>
            </a:lvl7pPr>
            <a:lvl8pPr>
              <a:defRPr sz="2100" b="0">
                <a:solidFill>
                  <a:srgbClr val="142D38"/>
                </a:solidFill>
                <a:latin typeface="Optimistic VF Medium"/>
                <a:ea typeface="Optimistic VF Medium"/>
                <a:cs typeface="Optimistic VF Medium"/>
              </a:defRPr>
            </a:lvl8pPr>
            <a:lvl9pPr>
              <a:defRPr sz="2100" b="0">
                <a:solidFill>
                  <a:srgbClr val="142D38"/>
                </a:solidFill>
                <a:latin typeface="Optimistic VF Medium"/>
                <a:ea typeface="Optimistic VF Medium"/>
                <a:cs typeface="Optimistic VF Medium"/>
              </a:defRPr>
            </a:lvl9pPr>
          </a:lstStyle>
          <a:p xmlns:a="http://schemas.openxmlformats.org/drawingml/2006/main">
            <a:pPr>
              <a:defRPr sz="2100" b="0">
                <a:solidFill>
                  <a:srgbClr val="142D38"/>
                </a:solidFill>
                <a:latin typeface="Optimistic VF Medium"/>
                <a:ea typeface="Optimistic VF Medium"/>
                <a:cs typeface="Optimistic VF Medium"/>
              </a:defRPr>
            </a:pPr>
            <a:r>
              <a:rPr sz="2100" b="0">
                <a:solidFill>
                  <a:srgbClr val="142D38"/>
                </a:solidFill>
                <a:latin typeface="Optimistic VF Medium"/>
                <a:ea typeface="Optimistic VF Medium"/>
                <a:cs typeface="Optimistic VF Medium"/>
              </a:rPr>
              <a:t>Spots</a:t>
            </a:r>
          </a:p>
        </p:txBody>
      </p:sp>
      <p:sp>
        <p:nvSpPr>
          <p:cNvPr id="8" name="">
            <a:extLst xmlns:a="http://schemas.openxmlformats.org/drawingml/2006/main">
              <a:ext uri="{FF2B5EF4-FFF2-40B4-BE49-F238E27FC236}">
                <a16:creationId xmlns:a16="http://schemas.microsoft.com/office/drawing/2014/main" id="{4BD4F863-00AB-4339-A3F4-F767DCA0689B}"/>
              </a:ext>
            </a:extLst>
          </p:cNvPr>
          <p:cNvSpPr>
            <a:spLocks xmlns:a="http://schemas.openxmlformats.org/drawingml/2006/main" noGrp="1"/>
          </p:cNvSpPr>
          <p:nvPr/>
        </p:nvSpPr>
        <p:spPr>
          <a:xfrm xmlns:a="http://schemas.openxmlformats.org/drawingml/2006/main">
            <a:off x="7620000" y="1562100"/>
            <a:ext cx="3429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0866FF"/>
                </a:solidFill>
                <a:latin typeface="Optimistic VF Medium"/>
                <a:ea typeface="Optimistic VF Medium"/>
                <a:cs typeface="Optimistic VF Medium"/>
              </a:defRPr>
            </a:defPPr>
            <a:lvl1pPr>
              <a:defRPr sz="1125" b="0">
                <a:solidFill>
                  <a:srgbClr val="0866FF"/>
                </a:solidFill>
                <a:latin typeface="Optimistic VF Medium"/>
                <a:ea typeface="Optimistic VF Medium"/>
                <a:cs typeface="Optimistic VF Medium"/>
              </a:defRPr>
            </a:lvl1pPr>
            <a:lvl2pPr>
              <a:defRPr sz="1125" b="0">
                <a:solidFill>
                  <a:srgbClr val="0866FF"/>
                </a:solidFill>
                <a:latin typeface="Optimistic VF Medium"/>
                <a:ea typeface="Optimistic VF Medium"/>
                <a:cs typeface="Optimistic VF Medium"/>
              </a:defRPr>
            </a:lvl2pPr>
            <a:lvl3pPr>
              <a:defRPr sz="1125" b="0">
                <a:solidFill>
                  <a:srgbClr val="0866FF"/>
                </a:solidFill>
                <a:latin typeface="Optimistic VF Medium"/>
                <a:ea typeface="Optimistic VF Medium"/>
                <a:cs typeface="Optimistic VF Medium"/>
              </a:defRPr>
            </a:lvl3pPr>
            <a:lvl4pPr>
              <a:defRPr sz="1125" b="0">
                <a:solidFill>
                  <a:srgbClr val="0866FF"/>
                </a:solidFill>
                <a:latin typeface="Optimistic VF Medium"/>
                <a:ea typeface="Optimistic VF Medium"/>
                <a:cs typeface="Optimistic VF Medium"/>
              </a:defRPr>
            </a:lvl4pPr>
            <a:lvl5pPr>
              <a:defRPr sz="1125" b="0">
                <a:solidFill>
                  <a:srgbClr val="0866FF"/>
                </a:solidFill>
                <a:latin typeface="Optimistic VF Medium"/>
                <a:ea typeface="Optimistic VF Medium"/>
                <a:cs typeface="Optimistic VF Medium"/>
              </a:defRPr>
            </a:lvl5pPr>
            <a:lvl6pPr>
              <a:defRPr sz="1125" b="0">
                <a:solidFill>
                  <a:srgbClr val="0866FF"/>
                </a:solidFill>
                <a:latin typeface="Optimistic VF Medium"/>
                <a:ea typeface="Optimistic VF Medium"/>
                <a:cs typeface="Optimistic VF Medium"/>
              </a:defRPr>
            </a:lvl6pPr>
            <a:lvl7pPr>
              <a:defRPr sz="1125" b="0">
                <a:solidFill>
                  <a:srgbClr val="0866FF"/>
                </a:solidFill>
                <a:latin typeface="Optimistic VF Medium"/>
                <a:ea typeface="Optimistic VF Medium"/>
                <a:cs typeface="Optimistic VF Medium"/>
              </a:defRPr>
            </a:lvl7pPr>
            <a:lvl8pPr>
              <a:defRPr sz="1125" b="0">
                <a:solidFill>
                  <a:srgbClr val="0866FF"/>
                </a:solidFill>
                <a:latin typeface="Optimistic VF Medium"/>
                <a:ea typeface="Optimistic VF Medium"/>
                <a:cs typeface="Optimistic VF Medium"/>
              </a:defRPr>
            </a:lvl8pPr>
            <a:lvl9pPr>
              <a:defRPr sz="1125" b="0">
                <a:solidFill>
                  <a:srgbClr val="0866FF"/>
                </a:solidFill>
                <a:latin typeface="Optimistic VF Medium"/>
                <a:ea typeface="Optimistic VF Medium"/>
                <a:cs typeface="Optimistic VF Medium"/>
              </a:defRPr>
            </a:lvl9pPr>
          </a:lstStyle>
          <a:p xmlns:a="http://schemas.openxmlformats.org/drawingml/2006/main">
            <a:pPr>
              <a:defRPr sz="1125" b="0">
                <a:solidFill>
                  <a:srgbClr val="0866FF"/>
                </a:solidFill>
                <a:latin typeface="Optimistic VF Medium"/>
                <a:ea typeface="Optimistic VF Medium"/>
                <a:cs typeface="Optimistic VF Medium"/>
              </a:defRPr>
            </a:pPr>
            <a:r>
              <a:rPr sz="1125" b="0">
                <a:solidFill>
                  <a:srgbClr val="0866FF"/>
                </a:solidFill>
                <a:latin typeface="Optimistic VF Medium"/>
                <a:ea typeface="Optimistic VF Medium"/>
                <a:cs typeface="Optimistic VF Medium"/>
              </a:rPr>
              <a:t>PLANNED · OPT-IN</a:t>
            </a:r>
          </a:p>
        </p:txBody>
      </p:sp>
      <p:sp>
        <p:nvSpPr>
          <p:cNvPr id="9" name="">
            <a:extLst xmlns:a="http://schemas.openxmlformats.org/drawingml/2006/main">
              <a:ext uri="{FF2B5EF4-FFF2-40B4-BE49-F238E27FC236}">
                <a16:creationId xmlns:a16="http://schemas.microsoft.com/office/drawing/2014/main" id="{6C67090B-DAD9-45D7-B360-B8AEED33FFC8}"/>
              </a:ext>
            </a:extLst>
          </p:cNvPr>
          <p:cNvSpPr>
            <a:spLocks xmlns:a="http://schemas.openxmlformats.org/drawingml/2006/main" noGrp="1"/>
          </p:cNvSpPr>
          <p:nvPr/>
        </p:nvSpPr>
        <p:spPr>
          <a:xfrm xmlns:a="http://schemas.openxmlformats.org/drawingml/2006/main">
            <a:off x="7620000" y="1971675"/>
            <a:ext cx="3429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0">
                <a:solidFill>
                  <a:srgbClr val="142D38"/>
                </a:solidFill>
                <a:latin typeface="Optimistic VF Medium"/>
                <a:ea typeface="Optimistic VF Medium"/>
                <a:cs typeface="Optimistic VF Medium"/>
              </a:defRPr>
            </a:defPPr>
            <a:lvl1pPr>
              <a:defRPr sz="2400" b="0">
                <a:solidFill>
                  <a:srgbClr val="142D38"/>
                </a:solidFill>
                <a:latin typeface="Optimistic VF Medium"/>
                <a:ea typeface="Optimistic VF Medium"/>
                <a:cs typeface="Optimistic VF Medium"/>
              </a:defRPr>
            </a:lvl1pPr>
            <a:lvl2pPr>
              <a:defRPr sz="2400" b="0">
                <a:solidFill>
                  <a:srgbClr val="142D38"/>
                </a:solidFill>
                <a:latin typeface="Optimistic VF Medium"/>
                <a:ea typeface="Optimistic VF Medium"/>
                <a:cs typeface="Optimistic VF Medium"/>
              </a:defRPr>
            </a:lvl2pPr>
            <a:lvl3pPr>
              <a:defRPr sz="2400" b="0">
                <a:solidFill>
                  <a:srgbClr val="142D38"/>
                </a:solidFill>
                <a:latin typeface="Optimistic VF Medium"/>
                <a:ea typeface="Optimistic VF Medium"/>
                <a:cs typeface="Optimistic VF Medium"/>
              </a:defRPr>
            </a:lvl3pPr>
            <a:lvl4pPr>
              <a:defRPr sz="2400" b="0">
                <a:solidFill>
                  <a:srgbClr val="142D38"/>
                </a:solidFill>
                <a:latin typeface="Optimistic VF Medium"/>
                <a:ea typeface="Optimistic VF Medium"/>
                <a:cs typeface="Optimistic VF Medium"/>
              </a:defRPr>
            </a:lvl4pPr>
            <a:lvl5pPr>
              <a:defRPr sz="2400" b="0">
                <a:solidFill>
                  <a:srgbClr val="142D38"/>
                </a:solidFill>
                <a:latin typeface="Optimistic VF Medium"/>
                <a:ea typeface="Optimistic VF Medium"/>
                <a:cs typeface="Optimistic VF Medium"/>
              </a:defRPr>
            </a:lvl5pPr>
            <a:lvl6pPr>
              <a:defRPr sz="2400" b="0">
                <a:solidFill>
                  <a:srgbClr val="142D38"/>
                </a:solidFill>
                <a:latin typeface="Optimistic VF Medium"/>
                <a:ea typeface="Optimistic VF Medium"/>
                <a:cs typeface="Optimistic VF Medium"/>
              </a:defRPr>
            </a:lvl6pPr>
            <a:lvl7pPr>
              <a:defRPr sz="2400" b="0">
                <a:solidFill>
                  <a:srgbClr val="142D38"/>
                </a:solidFill>
                <a:latin typeface="Optimistic VF Medium"/>
                <a:ea typeface="Optimistic VF Medium"/>
                <a:cs typeface="Optimistic VF Medium"/>
              </a:defRPr>
            </a:lvl7pPr>
            <a:lvl8pPr>
              <a:defRPr sz="2400" b="0">
                <a:solidFill>
                  <a:srgbClr val="142D38"/>
                </a:solidFill>
                <a:latin typeface="Optimistic VF Medium"/>
                <a:ea typeface="Optimistic VF Medium"/>
                <a:cs typeface="Optimistic VF Medium"/>
              </a:defRPr>
            </a:lvl8pPr>
            <a:lvl9pPr>
              <a:defRPr sz="2400" b="0">
                <a:solidFill>
                  <a:srgbClr val="142D38"/>
                </a:solidFill>
                <a:latin typeface="Optimistic VF Medium"/>
                <a:ea typeface="Optimistic VF Medium"/>
                <a:cs typeface="Optimistic VF Medium"/>
              </a:defRPr>
            </a:lvl9pPr>
          </a:lstStyle>
          <a:p xmlns:a="http://schemas.openxmlformats.org/drawingml/2006/main">
            <a:pPr>
              <a:defRPr sz="2400" b="0">
                <a:solidFill>
                  <a:srgbClr val="142D38"/>
                </a:solidFill>
                <a:latin typeface="Optimistic VF Medium"/>
                <a:ea typeface="Optimistic VF Medium"/>
                <a:cs typeface="Optimistic VF Medium"/>
              </a:defRPr>
            </a:pPr>
            <a:r>
              <a:rPr sz="2400" b="0">
                <a:solidFill>
                  <a:srgbClr val="142D38"/>
                </a:solidFill>
                <a:latin typeface="Optimistic VF Medium"/>
                <a:ea typeface="Optimistic VF Medium"/>
                <a:cs typeface="Optimistic VF Medium"/>
              </a:rPr>
              <a:t>Someone shares</a:t>
            </a:r>
          </a:p>
          <a:p xmlns:a="http://schemas.openxmlformats.org/drawingml/2006/main">
            <a:pPr>
              <a:defRPr sz="2400" b="0">
                <a:solidFill>
                  <a:srgbClr val="142D38"/>
                </a:solidFill>
                <a:latin typeface="Optimistic VF Medium"/>
                <a:ea typeface="Optimistic VF Medium"/>
                <a:cs typeface="Optimistic VF Medium"/>
              </a:defRPr>
            </a:pPr>
            <a:r>
              <a:rPr sz="2400" b="0">
                <a:solidFill>
                  <a:srgbClr val="142D38"/>
                </a:solidFill>
                <a:latin typeface="Optimistic VF Medium"/>
                <a:ea typeface="Optimistic VF Medium"/>
                <a:cs typeface="Optimistic VF Medium"/>
              </a:rPr>
              <a:t>your interests</a:t>
            </a:r>
          </a:p>
        </p:txBody>
      </p:sp>
      <p:sp>
        <p:nvSpPr>
          <p:cNvPr id="10" name="">
            <a:extLst xmlns:a="http://schemas.openxmlformats.org/drawingml/2006/main">
              <a:ext uri="{FF2B5EF4-FFF2-40B4-BE49-F238E27FC236}">
                <a16:creationId xmlns:a16="http://schemas.microsoft.com/office/drawing/2014/main" id="{884103A8-4333-4BCE-AF9D-1E602F7B0694}"/>
              </a:ext>
            </a:extLst>
          </p:cNvPr>
          <p:cNvSpPr>
            <a:spLocks xmlns:a="http://schemas.openxmlformats.org/drawingml/2006/main" noGrp="1"/>
          </p:cNvSpPr>
          <p:nvPr/>
        </p:nvSpPr>
        <p:spPr>
          <a:xfrm xmlns:a="http://schemas.openxmlformats.org/drawingml/2006/main">
            <a:off x="7620000" y="3048000"/>
            <a:ext cx="3429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142D38"/>
                </a:solidFill>
                <a:latin typeface="Optimistic VF Medium"/>
                <a:ea typeface="Optimistic VF Medium"/>
                <a:cs typeface="Optimistic VF Medium"/>
              </a:defRPr>
            </a:defPPr>
            <a:lvl1pPr>
              <a:defRPr sz="2175" b="0">
                <a:solidFill>
                  <a:srgbClr val="142D38"/>
                </a:solidFill>
                <a:latin typeface="Optimistic VF Medium"/>
                <a:ea typeface="Optimistic VF Medium"/>
                <a:cs typeface="Optimistic VF Medium"/>
              </a:defRPr>
            </a:lvl1pPr>
            <a:lvl2pPr>
              <a:defRPr sz="2175" b="0">
                <a:solidFill>
                  <a:srgbClr val="142D38"/>
                </a:solidFill>
                <a:latin typeface="Optimistic VF Medium"/>
                <a:ea typeface="Optimistic VF Medium"/>
                <a:cs typeface="Optimistic VF Medium"/>
              </a:defRPr>
            </a:lvl2pPr>
            <a:lvl3pPr>
              <a:defRPr sz="2175" b="0">
                <a:solidFill>
                  <a:srgbClr val="142D38"/>
                </a:solidFill>
                <a:latin typeface="Optimistic VF Medium"/>
                <a:ea typeface="Optimistic VF Medium"/>
                <a:cs typeface="Optimistic VF Medium"/>
              </a:defRPr>
            </a:lvl3pPr>
            <a:lvl4pPr>
              <a:defRPr sz="2175" b="0">
                <a:solidFill>
                  <a:srgbClr val="142D38"/>
                </a:solidFill>
                <a:latin typeface="Optimistic VF Medium"/>
                <a:ea typeface="Optimistic VF Medium"/>
                <a:cs typeface="Optimistic VF Medium"/>
              </a:defRPr>
            </a:lvl4pPr>
            <a:lvl5pPr>
              <a:defRPr sz="2175" b="0">
                <a:solidFill>
                  <a:srgbClr val="142D38"/>
                </a:solidFill>
                <a:latin typeface="Optimistic VF Medium"/>
                <a:ea typeface="Optimistic VF Medium"/>
                <a:cs typeface="Optimistic VF Medium"/>
              </a:defRPr>
            </a:lvl5pPr>
            <a:lvl6pPr>
              <a:defRPr sz="2175" b="0">
                <a:solidFill>
                  <a:srgbClr val="142D38"/>
                </a:solidFill>
                <a:latin typeface="Optimistic VF Medium"/>
                <a:ea typeface="Optimistic VF Medium"/>
                <a:cs typeface="Optimistic VF Medium"/>
              </a:defRPr>
            </a:lvl6pPr>
            <a:lvl7pPr>
              <a:defRPr sz="2175" b="0">
                <a:solidFill>
                  <a:srgbClr val="142D38"/>
                </a:solidFill>
                <a:latin typeface="Optimistic VF Medium"/>
                <a:ea typeface="Optimistic VF Medium"/>
                <a:cs typeface="Optimistic VF Medium"/>
              </a:defRPr>
            </a:lvl7pPr>
            <a:lvl8pPr>
              <a:defRPr sz="2175" b="0">
                <a:solidFill>
                  <a:srgbClr val="142D38"/>
                </a:solidFill>
                <a:latin typeface="Optimistic VF Medium"/>
                <a:ea typeface="Optimistic VF Medium"/>
                <a:cs typeface="Optimistic VF Medium"/>
              </a:defRPr>
            </a:lvl8pPr>
            <a:lvl9pPr>
              <a:defRPr sz="2175" b="0">
                <a:solidFill>
                  <a:srgbClr val="142D38"/>
                </a:solidFill>
                <a:latin typeface="Optimistic VF Medium"/>
                <a:ea typeface="Optimistic VF Medium"/>
                <a:cs typeface="Optimistic VF Medium"/>
              </a:defRPr>
            </a:lvl9pPr>
          </a:lstStyle>
          <a:p xmlns:a="http://schemas.openxmlformats.org/drawingml/2006/main">
            <a:pPr>
              <a:defRPr sz="2175" b="0">
                <a:solidFill>
                  <a:srgbClr val="142D38"/>
                </a:solidFill>
                <a:latin typeface="Optimistic VF Medium"/>
                <a:ea typeface="Optimistic VF Medium"/>
                <a:cs typeface="Optimistic VF Medium"/>
              </a:defRPr>
            </a:pPr>
            <a:r>
              <a:rPr sz="2175" b="0">
                <a:solidFill>
                  <a:srgbClr val="142D38"/>
                </a:solidFill>
                <a:latin typeface="Optimistic VF Medium"/>
                <a:ea typeface="Optimistic VF Medium"/>
                <a:cs typeface="Optimistic VF Medium"/>
              </a:rPr>
              <a:t>Sam</a:t>
            </a:r>
          </a:p>
        </p:txBody>
      </p:sp>
      <p:sp>
        <p:nvSpPr>
          <p:cNvPr id="11" name="">
            <a:extLst xmlns:a="http://schemas.openxmlformats.org/drawingml/2006/main">
              <a:ext uri="{FF2B5EF4-FFF2-40B4-BE49-F238E27FC236}">
                <a16:creationId xmlns:a16="http://schemas.microsoft.com/office/drawing/2014/main" id="{120F613C-7C74-4345-86EB-64EAFC72598E}"/>
              </a:ext>
            </a:extLst>
          </p:cNvPr>
          <p:cNvSpPr>
            <a:spLocks xmlns:a="http://schemas.openxmlformats.org/drawingml/2006/main" noGrp="1"/>
          </p:cNvSpPr>
          <p:nvPr/>
        </p:nvSpPr>
        <p:spPr>
          <a:xfrm xmlns:a="http://schemas.openxmlformats.org/drawingml/2006/main">
            <a:off x="7620000" y="3581400"/>
            <a:ext cx="3429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142D38"/>
                </a:solidFill>
                <a:latin typeface="Optimistic VF"/>
                <a:ea typeface="Optimistic VF"/>
                <a:cs typeface="Optimistic VF"/>
              </a:defRPr>
            </a:defPPr>
            <a:lvl1pPr>
              <a:defRPr sz="1800" b="0">
                <a:solidFill>
                  <a:srgbClr val="142D38"/>
                </a:solidFill>
                <a:latin typeface="Optimistic VF"/>
                <a:ea typeface="Optimistic VF"/>
                <a:cs typeface="Optimistic VF"/>
              </a:defRPr>
            </a:lvl1pPr>
            <a:lvl2pPr>
              <a:defRPr sz="1800" b="0">
                <a:solidFill>
                  <a:srgbClr val="142D38"/>
                </a:solidFill>
                <a:latin typeface="Optimistic VF"/>
                <a:ea typeface="Optimistic VF"/>
                <a:cs typeface="Optimistic VF"/>
              </a:defRPr>
            </a:lvl2pPr>
            <a:lvl3pPr>
              <a:defRPr sz="1800" b="0">
                <a:solidFill>
                  <a:srgbClr val="142D38"/>
                </a:solidFill>
                <a:latin typeface="Optimistic VF"/>
                <a:ea typeface="Optimistic VF"/>
                <a:cs typeface="Optimistic VF"/>
              </a:defRPr>
            </a:lvl3pPr>
            <a:lvl4pPr>
              <a:defRPr sz="1800" b="0">
                <a:solidFill>
                  <a:srgbClr val="142D38"/>
                </a:solidFill>
                <a:latin typeface="Optimistic VF"/>
                <a:ea typeface="Optimistic VF"/>
                <a:cs typeface="Optimistic VF"/>
              </a:defRPr>
            </a:lvl4pPr>
            <a:lvl5pPr>
              <a:defRPr sz="1800" b="0">
                <a:solidFill>
                  <a:srgbClr val="142D38"/>
                </a:solidFill>
                <a:latin typeface="Optimistic VF"/>
                <a:ea typeface="Optimistic VF"/>
                <a:cs typeface="Optimistic VF"/>
              </a:defRPr>
            </a:lvl5pPr>
            <a:lvl6pPr>
              <a:defRPr sz="1800" b="0">
                <a:solidFill>
                  <a:srgbClr val="142D38"/>
                </a:solidFill>
                <a:latin typeface="Optimistic VF"/>
                <a:ea typeface="Optimistic VF"/>
                <a:cs typeface="Optimistic VF"/>
              </a:defRPr>
            </a:lvl6pPr>
            <a:lvl7pPr>
              <a:defRPr sz="1800" b="0">
                <a:solidFill>
                  <a:srgbClr val="142D38"/>
                </a:solidFill>
                <a:latin typeface="Optimistic VF"/>
                <a:ea typeface="Optimistic VF"/>
                <a:cs typeface="Optimistic VF"/>
              </a:defRPr>
            </a:lvl7pPr>
            <a:lvl8pPr>
              <a:defRPr sz="1800" b="0">
                <a:solidFill>
                  <a:srgbClr val="142D38"/>
                </a:solidFill>
                <a:latin typeface="Optimistic VF"/>
                <a:ea typeface="Optimistic VF"/>
                <a:cs typeface="Optimistic VF"/>
              </a:defRPr>
            </a:lvl8pPr>
            <a:lvl9pPr>
              <a:defRPr sz="1800" b="0">
                <a:solidFill>
                  <a:srgbClr val="142D38"/>
                </a:solidFill>
                <a:latin typeface="Optimistic VF"/>
                <a:ea typeface="Optimistic VF"/>
                <a:cs typeface="Optimistic VF"/>
              </a:defRPr>
            </a:lvl9pPr>
          </a:lstStyle>
          <a:p xmlns:a="http://schemas.openxmlformats.org/drawingml/2006/main">
            <a:pPr>
              <a:defRPr sz="1800" b="0">
                <a:solidFill>
                  <a:srgbClr val="142D38"/>
                </a:solidFill>
                <a:latin typeface="Optimistic VF"/>
                <a:ea typeface="Optimistic VF"/>
                <a:cs typeface="Optimistic VF"/>
              </a:defRPr>
            </a:pPr>
            <a:r>
              <a:rPr sz="1800" b="0">
                <a:solidFill>
                  <a:srgbClr val="142D38"/>
                </a:solidFill>
                <a:latin typeface="Optimistic VF"/>
                <a:ea typeface="Optimistic VF"/>
                <a:cs typeface="Optimistic VF"/>
              </a:rPr>
              <a:t>You’re both into street art and left notes at this mural.</a:t>
            </a:r>
          </a:p>
        </p:txBody>
      </p:sp>
      <p:sp>
        <p:nvSpPr>
          <p:cNvPr id="12" name="">
            <a:extLst xmlns:a="http://schemas.openxmlformats.org/drawingml/2006/main">
              <a:ext uri="{FF2B5EF4-FFF2-40B4-BE49-F238E27FC236}">
                <a16:creationId xmlns:a16="http://schemas.microsoft.com/office/drawing/2014/main" id="{55B6D960-1EE9-4838-AB96-478E2D5D4013}"/>
              </a:ext>
            </a:extLst>
          </p:cNvPr>
          <p:cNvSpPr>
            <a:spLocks xmlns:a="http://schemas.openxmlformats.org/drawingml/2006/main" noGrp="1"/>
          </p:cNvSpPr>
          <p:nvPr/>
        </p:nvSpPr>
        <p:spPr>
          <a:xfrm xmlns:a="http://schemas.openxmlformats.org/drawingml/2006/main">
            <a:off x="7620000" y="4791075"/>
            <a:ext cx="3429000" cy="523875"/>
          </a:xfrm>
          <a:prstGeom xmlns:a="http://schemas.openxmlformats.org/drawingml/2006/main" prst="roundRect">
            <a:avLst>
              <a:gd name="adj" fmla="val 49091"/>
            </a:avLst>
          </a:prstGeom>
          <a:solidFill xmlns:a="http://schemas.openxmlformats.org/drawingml/2006/main">
            <a:srgbClr val="0866FF"/>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33CE610D-6345-464E-B610-C3857BF27457}"/>
              </a:ext>
            </a:extLst>
          </p:cNvPr>
          <p:cNvSpPr>
            <a:spLocks xmlns:a="http://schemas.openxmlformats.org/drawingml/2006/main" noGrp="1"/>
          </p:cNvSpPr>
          <p:nvPr/>
        </p:nvSpPr>
        <p:spPr>
          <a:xfrm xmlns:a="http://schemas.openxmlformats.org/drawingml/2006/main">
            <a:off x="8667750" y="4914900"/>
            <a:ext cx="2286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FFFFFF"/>
                </a:solidFill>
                <a:latin typeface="Optimistic VF Medium"/>
                <a:ea typeface="Optimistic VF Medium"/>
                <a:cs typeface="Optimistic VF Medium"/>
              </a:defRPr>
            </a:defPPr>
            <a:lvl1pPr>
              <a:defRPr sz="1800" b="0">
                <a:solidFill>
                  <a:srgbClr val="FFFFFF"/>
                </a:solidFill>
                <a:latin typeface="Optimistic VF Medium"/>
                <a:ea typeface="Optimistic VF Medium"/>
                <a:cs typeface="Optimistic VF Medium"/>
              </a:defRPr>
            </a:lvl1pPr>
            <a:lvl2pPr>
              <a:defRPr sz="1800" b="0">
                <a:solidFill>
                  <a:srgbClr val="FFFFFF"/>
                </a:solidFill>
                <a:latin typeface="Optimistic VF Medium"/>
                <a:ea typeface="Optimistic VF Medium"/>
                <a:cs typeface="Optimistic VF Medium"/>
              </a:defRPr>
            </a:lvl2pPr>
            <a:lvl3pPr>
              <a:defRPr sz="1800" b="0">
                <a:solidFill>
                  <a:srgbClr val="FFFFFF"/>
                </a:solidFill>
                <a:latin typeface="Optimistic VF Medium"/>
                <a:ea typeface="Optimistic VF Medium"/>
                <a:cs typeface="Optimistic VF Medium"/>
              </a:defRPr>
            </a:lvl3pPr>
            <a:lvl4pPr>
              <a:defRPr sz="1800" b="0">
                <a:solidFill>
                  <a:srgbClr val="FFFFFF"/>
                </a:solidFill>
                <a:latin typeface="Optimistic VF Medium"/>
                <a:ea typeface="Optimistic VF Medium"/>
                <a:cs typeface="Optimistic VF Medium"/>
              </a:defRPr>
            </a:lvl4pPr>
            <a:lvl5pPr>
              <a:defRPr sz="1800" b="0">
                <a:solidFill>
                  <a:srgbClr val="FFFFFF"/>
                </a:solidFill>
                <a:latin typeface="Optimistic VF Medium"/>
                <a:ea typeface="Optimistic VF Medium"/>
                <a:cs typeface="Optimistic VF Medium"/>
              </a:defRPr>
            </a:lvl5pPr>
            <a:lvl6pPr>
              <a:defRPr sz="1800" b="0">
                <a:solidFill>
                  <a:srgbClr val="FFFFFF"/>
                </a:solidFill>
                <a:latin typeface="Optimistic VF Medium"/>
                <a:ea typeface="Optimistic VF Medium"/>
                <a:cs typeface="Optimistic VF Medium"/>
              </a:defRPr>
            </a:lvl6pPr>
            <a:lvl7pPr>
              <a:defRPr sz="1800" b="0">
                <a:solidFill>
                  <a:srgbClr val="FFFFFF"/>
                </a:solidFill>
                <a:latin typeface="Optimistic VF Medium"/>
                <a:ea typeface="Optimistic VF Medium"/>
                <a:cs typeface="Optimistic VF Medium"/>
              </a:defRPr>
            </a:lvl7pPr>
            <a:lvl8pPr>
              <a:defRPr sz="1800" b="0">
                <a:solidFill>
                  <a:srgbClr val="FFFFFF"/>
                </a:solidFill>
                <a:latin typeface="Optimistic VF Medium"/>
                <a:ea typeface="Optimistic VF Medium"/>
                <a:cs typeface="Optimistic VF Medium"/>
              </a:defRPr>
            </a:lvl8pPr>
            <a:lvl9pPr>
              <a:defRPr sz="1800" b="0">
                <a:solidFill>
                  <a:srgbClr val="FFFFFF"/>
                </a:solidFill>
                <a:latin typeface="Optimistic VF Medium"/>
                <a:ea typeface="Optimistic VF Medium"/>
                <a:cs typeface="Optimistic VF Medium"/>
              </a:defRPr>
            </a:lvl9pPr>
          </a:lstStyle>
          <a:p xmlns:a="http://schemas.openxmlformats.org/drawingml/2006/main">
            <a:pPr>
              <a:defRPr sz="1800" b="0">
                <a:solidFill>
                  <a:srgbClr val="FFFFFF"/>
                </a:solidFill>
                <a:latin typeface="Optimistic VF Medium"/>
                <a:ea typeface="Optimistic VF Medium"/>
                <a:cs typeface="Optimistic VF Medium"/>
              </a:defRPr>
            </a:pPr>
            <a:r>
              <a:rPr sz="1800" b="0">
                <a:solidFill>
                  <a:srgbClr val="FFFFFF"/>
                </a:solidFill>
                <a:latin typeface="Optimistic VF Medium"/>
                <a:ea typeface="Optimistic VF Medium"/>
                <a:cs typeface="Optimistic VF Medium"/>
              </a:rPr>
              <a:t>Say hello</a:t>
            </a:r>
          </a:p>
        </p:txBody>
      </p:sp>
      <p:sp>
        <p:nvSpPr>
          <p:cNvPr id="14" name="">
            <a:extLst xmlns:a="http://schemas.openxmlformats.org/drawingml/2006/main">
              <a:ext uri="{FF2B5EF4-FFF2-40B4-BE49-F238E27FC236}">
                <a16:creationId xmlns:a16="http://schemas.microsoft.com/office/drawing/2014/main" id="{DB1394B5-8425-45D2-92CA-B7CD5B3DE63B}"/>
              </a:ext>
            </a:extLst>
          </p:cNvPr>
          <p:cNvSpPr>
            <a:spLocks xmlns:a="http://schemas.openxmlformats.org/drawingml/2006/main" noGrp="1"/>
          </p:cNvSpPr>
          <p:nvPr/>
        </p:nvSpPr>
        <p:spPr>
          <a:xfrm xmlns:a="http://schemas.openxmlformats.org/drawingml/2006/main">
            <a:off x="7620000" y="5476875"/>
            <a:ext cx="3429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4C6571"/>
                </a:solidFill>
                <a:latin typeface="Optimistic VF"/>
                <a:ea typeface="Optimistic VF"/>
                <a:cs typeface="Optimistic VF"/>
              </a:defRPr>
            </a:defPPr>
            <a:lvl1pPr>
              <a:defRPr sz="1200" b="0">
                <a:solidFill>
                  <a:srgbClr val="4C6571"/>
                </a:solidFill>
                <a:latin typeface="Optimistic VF"/>
                <a:ea typeface="Optimistic VF"/>
                <a:cs typeface="Optimistic VF"/>
              </a:defRPr>
            </a:lvl1pPr>
            <a:lvl2pPr>
              <a:defRPr sz="1200" b="0">
                <a:solidFill>
                  <a:srgbClr val="4C6571"/>
                </a:solidFill>
                <a:latin typeface="Optimistic VF"/>
                <a:ea typeface="Optimistic VF"/>
                <a:cs typeface="Optimistic VF"/>
              </a:defRPr>
            </a:lvl2pPr>
            <a:lvl3pPr>
              <a:defRPr sz="1200" b="0">
                <a:solidFill>
                  <a:srgbClr val="4C6571"/>
                </a:solidFill>
                <a:latin typeface="Optimistic VF"/>
                <a:ea typeface="Optimistic VF"/>
                <a:cs typeface="Optimistic VF"/>
              </a:defRPr>
            </a:lvl3pPr>
            <a:lvl4pPr>
              <a:defRPr sz="1200" b="0">
                <a:solidFill>
                  <a:srgbClr val="4C6571"/>
                </a:solidFill>
                <a:latin typeface="Optimistic VF"/>
                <a:ea typeface="Optimistic VF"/>
                <a:cs typeface="Optimistic VF"/>
              </a:defRPr>
            </a:lvl4pPr>
            <a:lvl5pPr>
              <a:defRPr sz="1200" b="0">
                <a:solidFill>
                  <a:srgbClr val="4C6571"/>
                </a:solidFill>
                <a:latin typeface="Optimistic VF"/>
                <a:ea typeface="Optimistic VF"/>
                <a:cs typeface="Optimistic VF"/>
              </a:defRPr>
            </a:lvl5pPr>
            <a:lvl6pPr>
              <a:defRPr sz="1200" b="0">
                <a:solidFill>
                  <a:srgbClr val="4C6571"/>
                </a:solidFill>
                <a:latin typeface="Optimistic VF"/>
                <a:ea typeface="Optimistic VF"/>
                <a:cs typeface="Optimistic VF"/>
              </a:defRPr>
            </a:lvl6pPr>
            <a:lvl7pPr>
              <a:defRPr sz="1200" b="0">
                <a:solidFill>
                  <a:srgbClr val="4C6571"/>
                </a:solidFill>
                <a:latin typeface="Optimistic VF"/>
                <a:ea typeface="Optimistic VF"/>
                <a:cs typeface="Optimistic VF"/>
              </a:defRPr>
            </a:lvl7pPr>
            <a:lvl8pPr>
              <a:defRPr sz="1200" b="0">
                <a:solidFill>
                  <a:srgbClr val="4C6571"/>
                </a:solidFill>
                <a:latin typeface="Optimistic VF"/>
                <a:ea typeface="Optimistic VF"/>
                <a:cs typeface="Optimistic VF"/>
              </a:defRPr>
            </a:lvl8pPr>
            <a:lvl9pPr>
              <a:defRPr sz="1200" b="0">
                <a:solidFill>
                  <a:srgbClr val="4C6571"/>
                </a:solidFill>
                <a:latin typeface="Optimistic VF"/>
                <a:ea typeface="Optimistic VF"/>
                <a:cs typeface="Optimistic VF"/>
              </a:defRPr>
            </a:lvl9pPr>
          </a:lstStyle>
          <a:p xmlns:a="http://schemas.openxmlformats.org/drawingml/2006/main">
            <a:pPr>
              <a:defRPr sz="1200" b="0">
                <a:solidFill>
                  <a:srgbClr val="4C6571"/>
                </a:solidFill>
                <a:latin typeface="Optimistic VF"/>
                <a:ea typeface="Optimistic VF"/>
                <a:cs typeface="Optimistic VF"/>
              </a:defRPr>
            </a:pPr>
            <a:r>
              <a:rPr sz="1200" b="0">
                <a:solidFill>
                  <a:srgbClr val="4C6571"/>
                </a:solidFill>
                <a:latin typeface="Optimistic VF"/>
                <a:ea typeface="Optimistic VF"/>
                <a:cs typeface="Optimistic VF"/>
              </a:rPr>
              <a:t>Simulated profile · Example only</a:t>
            </a:r>
          </a:p>
        </p:txBody>
      </p:sp>
      <p:sp>
        <p:nvSpPr>
          <p:cNvPr id="15" name="">
            <a:extLst xmlns:a="http://schemas.openxmlformats.org/drawingml/2006/main">
              <a:ext uri="{FF2B5EF4-FFF2-40B4-BE49-F238E27FC236}">
                <a16:creationId xmlns:a16="http://schemas.microsoft.com/office/drawing/2014/main" id="{4265F4D2-8D61-4DDD-92FC-07CA3542BB82}"/>
              </a:ext>
            </a:extLst>
          </p:cNvPr>
          <p:cNvSpPr>
            <a:spLocks xmlns:a="http://schemas.openxmlformats.org/drawingml/2006/main" noGrp="1"/>
          </p:cNvSpPr>
          <p:nvPr/>
        </p:nvSpPr>
        <p:spPr>
          <a:xfrm xmlns:a="http://schemas.openxmlformats.org/drawingml/2006/main">
            <a:off x="647700" y="6315075"/>
            <a:ext cx="108775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4C6571"/>
                </a:solidFill>
                <a:latin typeface="Optimistic VF"/>
                <a:ea typeface="Optimistic VF"/>
                <a:cs typeface="Optimistic VF"/>
              </a:defRPr>
            </a:defPPr>
            <a:lvl1pPr>
              <a:defRPr sz="1350" b="0">
                <a:solidFill>
                  <a:srgbClr val="4C6571"/>
                </a:solidFill>
                <a:latin typeface="Optimistic VF"/>
                <a:ea typeface="Optimistic VF"/>
                <a:cs typeface="Optimistic VF"/>
              </a:defRPr>
            </a:lvl1pPr>
            <a:lvl2pPr>
              <a:defRPr sz="1350" b="0">
                <a:solidFill>
                  <a:srgbClr val="4C6571"/>
                </a:solidFill>
                <a:latin typeface="Optimistic VF"/>
                <a:ea typeface="Optimistic VF"/>
                <a:cs typeface="Optimistic VF"/>
              </a:defRPr>
            </a:lvl2pPr>
            <a:lvl3pPr>
              <a:defRPr sz="1350" b="0">
                <a:solidFill>
                  <a:srgbClr val="4C6571"/>
                </a:solidFill>
                <a:latin typeface="Optimistic VF"/>
                <a:ea typeface="Optimistic VF"/>
                <a:cs typeface="Optimistic VF"/>
              </a:defRPr>
            </a:lvl3pPr>
            <a:lvl4pPr>
              <a:defRPr sz="1350" b="0">
                <a:solidFill>
                  <a:srgbClr val="4C6571"/>
                </a:solidFill>
                <a:latin typeface="Optimistic VF"/>
                <a:ea typeface="Optimistic VF"/>
                <a:cs typeface="Optimistic VF"/>
              </a:defRPr>
            </a:lvl4pPr>
            <a:lvl5pPr>
              <a:defRPr sz="1350" b="0">
                <a:solidFill>
                  <a:srgbClr val="4C6571"/>
                </a:solidFill>
                <a:latin typeface="Optimistic VF"/>
                <a:ea typeface="Optimistic VF"/>
                <a:cs typeface="Optimistic VF"/>
              </a:defRPr>
            </a:lvl5pPr>
            <a:lvl6pPr>
              <a:defRPr sz="1350" b="0">
                <a:solidFill>
                  <a:srgbClr val="4C6571"/>
                </a:solidFill>
                <a:latin typeface="Optimistic VF"/>
                <a:ea typeface="Optimistic VF"/>
                <a:cs typeface="Optimistic VF"/>
              </a:defRPr>
            </a:lvl6pPr>
            <a:lvl7pPr>
              <a:defRPr sz="1350" b="0">
                <a:solidFill>
                  <a:srgbClr val="4C6571"/>
                </a:solidFill>
                <a:latin typeface="Optimistic VF"/>
                <a:ea typeface="Optimistic VF"/>
                <a:cs typeface="Optimistic VF"/>
              </a:defRPr>
            </a:lvl7pPr>
            <a:lvl8pPr>
              <a:defRPr sz="1350" b="0">
                <a:solidFill>
                  <a:srgbClr val="4C6571"/>
                </a:solidFill>
                <a:latin typeface="Optimistic VF"/>
                <a:ea typeface="Optimistic VF"/>
                <a:cs typeface="Optimistic VF"/>
              </a:defRPr>
            </a:lvl8pPr>
            <a:lvl9pPr>
              <a:defRPr sz="1350" b="0">
                <a:solidFill>
                  <a:srgbClr val="4C6571"/>
                </a:solidFill>
                <a:latin typeface="Optimistic VF"/>
                <a:ea typeface="Optimistic VF"/>
                <a:cs typeface="Optimistic VF"/>
              </a:defRPr>
            </a:lvl9pPr>
          </a:lstStyle>
          <a:p xmlns:a="http://schemas.openxmlformats.org/drawingml/2006/main">
            <a:pPr>
              <a:defRPr sz="1350" b="0">
                <a:solidFill>
                  <a:srgbClr val="4C6571"/>
                </a:solidFill>
                <a:latin typeface="Optimistic VF"/>
                <a:ea typeface="Optimistic VF"/>
                <a:cs typeface="Optimistic VF"/>
              </a:defRPr>
            </a:pPr>
            <a:r>
              <a:rPr sz="1350" b="0">
                <a:solidFill>
                  <a:srgbClr val="4C6571"/>
                </a:solidFill>
                <a:latin typeface="Optimistic VF"/>
                <a:ea typeface="Optimistic VF"/>
                <a:cs typeface="Optimistic VF"/>
              </a:rPr>
              <a:t>These recommendations are something we want to build next.</a:t>
            </a:r>
          </a:p>
        </p:txBody>
      </p:sp>
    </p:spTree>
    <p:extLst>
      <p:ext uri="{BB962C8B-B14F-4D97-AF65-F5344CB8AC3E}">
        <p14:creationId xmlns:p14="http://schemas.microsoft.com/office/powerpoint/2010/main" val="893409475"/>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9B0ACAFB-6437-4FCE-852A-8AB3DD9D5EAF}"/>
              </a:ext>
            </a:extLst>
          </p:cNvPr>
          <p:cNvSpPr>
            <a:spLocks xmlns:a="http://schemas.openxmlformats.org/drawingml/2006/main" noGrp="1"/>
          </p:cNvSpPr>
          <p:nvPr/>
        </p:nvSpPr>
        <p:spPr>
          <a:xfrm xmlns:a="http://schemas.openxmlformats.org/drawingml/2006/main">
            <a:off x="628650" y="381000"/>
            <a:ext cx="1095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0866FF"/>
                </a:solidFill>
                <a:latin typeface="Optimistic VF Medium"/>
                <a:ea typeface="Optimistic VF Medium"/>
                <a:cs typeface="Optimistic VF Medium"/>
              </a:defRPr>
            </a:defPPr>
            <a:lvl1pPr>
              <a:defRPr sz="1350" b="0">
                <a:solidFill>
                  <a:srgbClr val="0866FF"/>
                </a:solidFill>
                <a:latin typeface="Optimistic VF Medium"/>
                <a:ea typeface="Optimistic VF Medium"/>
                <a:cs typeface="Optimistic VF Medium"/>
              </a:defRPr>
            </a:lvl1pPr>
            <a:lvl2pPr>
              <a:defRPr sz="1350" b="0">
                <a:solidFill>
                  <a:srgbClr val="0866FF"/>
                </a:solidFill>
                <a:latin typeface="Optimistic VF Medium"/>
                <a:ea typeface="Optimistic VF Medium"/>
                <a:cs typeface="Optimistic VF Medium"/>
              </a:defRPr>
            </a:lvl2pPr>
            <a:lvl3pPr>
              <a:defRPr sz="1350" b="0">
                <a:solidFill>
                  <a:srgbClr val="0866FF"/>
                </a:solidFill>
                <a:latin typeface="Optimistic VF Medium"/>
                <a:ea typeface="Optimistic VF Medium"/>
                <a:cs typeface="Optimistic VF Medium"/>
              </a:defRPr>
            </a:lvl3pPr>
            <a:lvl4pPr>
              <a:defRPr sz="1350" b="0">
                <a:solidFill>
                  <a:srgbClr val="0866FF"/>
                </a:solidFill>
                <a:latin typeface="Optimistic VF Medium"/>
                <a:ea typeface="Optimistic VF Medium"/>
                <a:cs typeface="Optimistic VF Medium"/>
              </a:defRPr>
            </a:lvl4pPr>
            <a:lvl5pPr>
              <a:defRPr sz="1350" b="0">
                <a:solidFill>
                  <a:srgbClr val="0866FF"/>
                </a:solidFill>
                <a:latin typeface="Optimistic VF Medium"/>
                <a:ea typeface="Optimistic VF Medium"/>
                <a:cs typeface="Optimistic VF Medium"/>
              </a:defRPr>
            </a:lvl5pPr>
            <a:lvl6pPr>
              <a:defRPr sz="1350" b="0">
                <a:solidFill>
                  <a:srgbClr val="0866FF"/>
                </a:solidFill>
                <a:latin typeface="Optimistic VF Medium"/>
                <a:ea typeface="Optimistic VF Medium"/>
                <a:cs typeface="Optimistic VF Medium"/>
              </a:defRPr>
            </a:lvl6pPr>
            <a:lvl7pPr>
              <a:defRPr sz="1350" b="0">
                <a:solidFill>
                  <a:srgbClr val="0866FF"/>
                </a:solidFill>
                <a:latin typeface="Optimistic VF Medium"/>
                <a:ea typeface="Optimistic VF Medium"/>
                <a:cs typeface="Optimistic VF Medium"/>
              </a:defRPr>
            </a:lvl7pPr>
            <a:lvl8pPr>
              <a:defRPr sz="1350" b="0">
                <a:solidFill>
                  <a:srgbClr val="0866FF"/>
                </a:solidFill>
                <a:latin typeface="Optimistic VF Medium"/>
                <a:ea typeface="Optimistic VF Medium"/>
                <a:cs typeface="Optimistic VF Medium"/>
              </a:defRPr>
            </a:lvl8pPr>
            <a:lvl9pPr>
              <a:defRPr sz="1350" b="0">
                <a:solidFill>
                  <a:srgbClr val="0866FF"/>
                </a:solidFill>
                <a:latin typeface="Optimistic VF Medium"/>
                <a:ea typeface="Optimistic VF Medium"/>
                <a:cs typeface="Optimistic VF Medium"/>
              </a:defRPr>
            </a:lvl9pPr>
          </a:lstStyle>
          <a:p xmlns:a="http://schemas.openxmlformats.org/drawingml/2006/main">
            <a:pPr>
              <a:defRPr sz="1350" b="0">
                <a:solidFill>
                  <a:srgbClr val="0866FF"/>
                </a:solidFill>
                <a:latin typeface="Optimistic VF Medium"/>
                <a:ea typeface="Optimistic VF Medium"/>
                <a:cs typeface="Optimistic VF Medium"/>
              </a:defRPr>
            </a:pPr>
            <a:r>
              <a:rPr sz="1350" b="0">
                <a:solidFill>
                  <a:srgbClr val="0866FF"/>
                </a:solidFill>
                <a:latin typeface="Optimistic VF Medium"/>
                <a:ea typeface="Optimistic VF Medium"/>
                <a:cs typeface="Optimistic VF Medium"/>
              </a:rPr>
              <a:t>KEY FEATURES</a:t>
            </a:r>
          </a:p>
        </p:txBody>
      </p:sp>
      <p:sp>
        <p:nvSpPr>
          <p:cNvPr id="3" name="">
            <a:extLst xmlns:a="http://schemas.openxmlformats.org/drawingml/2006/main">
              <a:ext uri="{FF2B5EF4-FFF2-40B4-BE49-F238E27FC236}">
                <a16:creationId xmlns:a16="http://schemas.microsoft.com/office/drawing/2014/main" id="{745AF67B-1281-4BE6-AD3F-27BB6115E411}"/>
              </a:ext>
            </a:extLst>
          </p:cNvPr>
          <p:cNvSpPr>
            <a:spLocks xmlns:a="http://schemas.openxmlformats.org/drawingml/2006/main" noGrp="1"/>
          </p:cNvSpPr>
          <p:nvPr/>
        </p:nvSpPr>
        <p:spPr>
          <a:xfrm xmlns:a="http://schemas.openxmlformats.org/drawingml/2006/main">
            <a:off x="609600" y="80010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750" b="0">
                <a:solidFill>
                  <a:srgbClr val="142D38"/>
                </a:solidFill>
                <a:latin typeface="Optimistic VF Medium"/>
                <a:ea typeface="Optimistic VF Medium"/>
                <a:cs typeface="Optimistic VF Medium"/>
              </a:defRPr>
            </a:defPPr>
            <a:lvl1pPr>
              <a:defRPr sz="3750" b="0">
                <a:solidFill>
                  <a:srgbClr val="142D38"/>
                </a:solidFill>
                <a:latin typeface="Optimistic VF Medium"/>
                <a:ea typeface="Optimistic VF Medium"/>
                <a:cs typeface="Optimistic VF Medium"/>
              </a:defRPr>
            </a:lvl1pPr>
            <a:lvl2pPr>
              <a:defRPr sz="3750" b="0">
                <a:solidFill>
                  <a:srgbClr val="142D38"/>
                </a:solidFill>
                <a:latin typeface="Optimistic VF Medium"/>
                <a:ea typeface="Optimistic VF Medium"/>
                <a:cs typeface="Optimistic VF Medium"/>
              </a:defRPr>
            </a:lvl2pPr>
            <a:lvl3pPr>
              <a:defRPr sz="3750" b="0">
                <a:solidFill>
                  <a:srgbClr val="142D38"/>
                </a:solidFill>
                <a:latin typeface="Optimistic VF Medium"/>
                <a:ea typeface="Optimistic VF Medium"/>
                <a:cs typeface="Optimistic VF Medium"/>
              </a:defRPr>
            </a:lvl3pPr>
            <a:lvl4pPr>
              <a:defRPr sz="3750" b="0">
                <a:solidFill>
                  <a:srgbClr val="142D38"/>
                </a:solidFill>
                <a:latin typeface="Optimistic VF Medium"/>
                <a:ea typeface="Optimistic VF Medium"/>
                <a:cs typeface="Optimistic VF Medium"/>
              </a:defRPr>
            </a:lvl4pPr>
            <a:lvl5pPr>
              <a:defRPr sz="3750" b="0">
                <a:solidFill>
                  <a:srgbClr val="142D38"/>
                </a:solidFill>
                <a:latin typeface="Optimistic VF Medium"/>
                <a:ea typeface="Optimistic VF Medium"/>
                <a:cs typeface="Optimistic VF Medium"/>
              </a:defRPr>
            </a:lvl5pPr>
            <a:lvl6pPr>
              <a:defRPr sz="3750" b="0">
                <a:solidFill>
                  <a:srgbClr val="142D38"/>
                </a:solidFill>
                <a:latin typeface="Optimistic VF Medium"/>
                <a:ea typeface="Optimistic VF Medium"/>
                <a:cs typeface="Optimistic VF Medium"/>
              </a:defRPr>
            </a:lvl6pPr>
            <a:lvl7pPr>
              <a:defRPr sz="3750" b="0">
                <a:solidFill>
                  <a:srgbClr val="142D38"/>
                </a:solidFill>
                <a:latin typeface="Optimistic VF Medium"/>
                <a:ea typeface="Optimistic VF Medium"/>
                <a:cs typeface="Optimistic VF Medium"/>
              </a:defRPr>
            </a:lvl7pPr>
            <a:lvl8pPr>
              <a:defRPr sz="3750" b="0">
                <a:solidFill>
                  <a:srgbClr val="142D38"/>
                </a:solidFill>
                <a:latin typeface="Optimistic VF Medium"/>
                <a:ea typeface="Optimistic VF Medium"/>
                <a:cs typeface="Optimistic VF Medium"/>
              </a:defRPr>
            </a:lvl8pPr>
            <a:lvl9pPr>
              <a:defRPr sz="3750" b="0">
                <a:solidFill>
                  <a:srgbClr val="142D38"/>
                </a:solidFill>
                <a:latin typeface="Optimistic VF Medium"/>
                <a:ea typeface="Optimistic VF Medium"/>
                <a:cs typeface="Optimistic VF Medium"/>
              </a:defRPr>
            </a:lvl9pPr>
          </a:lstStyle>
          <a:p xmlns:a="http://schemas.openxmlformats.org/drawingml/2006/main">
            <a:pPr>
              <a:defRPr sz="3750" b="0">
                <a:solidFill>
                  <a:srgbClr val="142D38"/>
                </a:solidFill>
                <a:latin typeface="Optimistic VF Medium"/>
                <a:ea typeface="Optimistic VF Medium"/>
                <a:cs typeface="Optimistic VF Medium"/>
              </a:defRPr>
            </a:pPr>
            <a:r>
              <a:rPr sz="3750" b="0">
                <a:solidFill>
                  <a:srgbClr val="142D38"/>
                </a:solidFill>
                <a:latin typeface="Optimistic VF Medium"/>
                <a:ea typeface="Optimistic VF Medium"/>
                <a:cs typeface="Optimistic VF Medium"/>
              </a:rPr>
              <a:t>Here’s what you can do</a:t>
            </a:r>
          </a:p>
        </p:txBody>
      </p:sp>
      <p:sp>
        <p:nvSpPr>
          <p:cNvPr id="4" name="">
            <a:extLst xmlns:a="http://schemas.openxmlformats.org/drawingml/2006/main">
              <a:ext uri="{FF2B5EF4-FFF2-40B4-BE49-F238E27FC236}">
                <a16:creationId xmlns:a16="http://schemas.microsoft.com/office/drawing/2014/main" id="{AD79FA1B-0461-4720-B4FD-3E8EDE83C403}"/>
              </a:ext>
            </a:extLst>
          </p:cNvPr>
          <p:cNvSpPr>
            <a:spLocks xmlns:a="http://schemas.openxmlformats.org/drawingml/2006/main" noGrp="1"/>
          </p:cNvSpPr>
          <p:nvPr/>
        </p:nvSpPr>
        <p:spPr>
          <a:xfrm xmlns:a="http://schemas.openxmlformats.org/drawingml/2006/main">
            <a:off x="647700" y="1657350"/>
            <a:ext cx="108870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4C6571"/>
                </a:solidFill>
                <a:latin typeface="Optimistic VF"/>
                <a:ea typeface="Optimistic VF"/>
                <a:cs typeface="Optimistic VF"/>
              </a:defRPr>
            </a:defPPr>
            <a:lvl1pPr>
              <a:defRPr sz="2025" b="0">
                <a:solidFill>
                  <a:srgbClr val="4C6571"/>
                </a:solidFill>
                <a:latin typeface="Optimistic VF"/>
                <a:ea typeface="Optimistic VF"/>
                <a:cs typeface="Optimistic VF"/>
              </a:defRPr>
            </a:lvl1pPr>
            <a:lvl2pPr>
              <a:defRPr sz="2025" b="0">
                <a:solidFill>
                  <a:srgbClr val="4C6571"/>
                </a:solidFill>
                <a:latin typeface="Optimistic VF"/>
                <a:ea typeface="Optimistic VF"/>
                <a:cs typeface="Optimistic VF"/>
              </a:defRPr>
            </a:lvl2pPr>
            <a:lvl3pPr>
              <a:defRPr sz="2025" b="0">
                <a:solidFill>
                  <a:srgbClr val="4C6571"/>
                </a:solidFill>
                <a:latin typeface="Optimistic VF"/>
                <a:ea typeface="Optimistic VF"/>
                <a:cs typeface="Optimistic VF"/>
              </a:defRPr>
            </a:lvl3pPr>
            <a:lvl4pPr>
              <a:defRPr sz="2025" b="0">
                <a:solidFill>
                  <a:srgbClr val="4C6571"/>
                </a:solidFill>
                <a:latin typeface="Optimistic VF"/>
                <a:ea typeface="Optimistic VF"/>
                <a:cs typeface="Optimistic VF"/>
              </a:defRPr>
            </a:lvl4pPr>
            <a:lvl5pPr>
              <a:defRPr sz="2025" b="0">
                <a:solidFill>
                  <a:srgbClr val="4C6571"/>
                </a:solidFill>
                <a:latin typeface="Optimistic VF"/>
                <a:ea typeface="Optimistic VF"/>
                <a:cs typeface="Optimistic VF"/>
              </a:defRPr>
            </a:lvl5pPr>
            <a:lvl6pPr>
              <a:defRPr sz="2025" b="0">
                <a:solidFill>
                  <a:srgbClr val="4C6571"/>
                </a:solidFill>
                <a:latin typeface="Optimistic VF"/>
                <a:ea typeface="Optimistic VF"/>
                <a:cs typeface="Optimistic VF"/>
              </a:defRPr>
            </a:lvl6pPr>
            <a:lvl7pPr>
              <a:defRPr sz="2025" b="0">
                <a:solidFill>
                  <a:srgbClr val="4C6571"/>
                </a:solidFill>
                <a:latin typeface="Optimistic VF"/>
                <a:ea typeface="Optimistic VF"/>
                <a:cs typeface="Optimistic VF"/>
              </a:defRPr>
            </a:lvl7pPr>
            <a:lvl8pPr>
              <a:defRPr sz="2025" b="0">
                <a:solidFill>
                  <a:srgbClr val="4C6571"/>
                </a:solidFill>
                <a:latin typeface="Optimistic VF"/>
                <a:ea typeface="Optimistic VF"/>
                <a:cs typeface="Optimistic VF"/>
              </a:defRPr>
            </a:lvl8pPr>
            <a:lvl9pPr>
              <a:defRPr sz="2025" b="0">
                <a:solidFill>
                  <a:srgbClr val="4C6571"/>
                </a:solidFill>
                <a:latin typeface="Optimistic VF"/>
                <a:ea typeface="Optimistic VF"/>
                <a:cs typeface="Optimistic VF"/>
              </a:defRPr>
            </a:lvl9pPr>
          </a:lstStyle>
          <a:p xmlns:a="http://schemas.openxmlformats.org/drawingml/2006/main">
            <a:pPr>
              <a:defRPr sz="2025" b="0">
                <a:solidFill>
                  <a:srgbClr val="4C6571"/>
                </a:solidFill>
                <a:latin typeface="Optimistic VF"/>
                <a:ea typeface="Optimistic VF"/>
                <a:cs typeface="Optimistic VF"/>
              </a:defRPr>
            </a:pPr>
            <a:r>
              <a:rPr sz="2025" b="0">
                <a:solidFill>
                  <a:srgbClr val="4C6571"/>
                </a:solidFill>
                <a:latin typeface="Optimistic VF"/>
                <a:ea typeface="Optimistic VF"/>
                <a:cs typeface="Optimistic VF"/>
              </a:rPr>
              <a:t>With Spots, you can find out what people have to say about the things around you and join in through your glasses.</a:t>
            </a:r>
          </a:p>
        </p:txBody>
      </p:sp>
      <p:sp>
        <p:nvSpPr>
          <p:cNvPr id="5" name="">
            <a:extLst xmlns:a="http://schemas.openxmlformats.org/drawingml/2006/main">
              <a:ext uri="{FF2B5EF4-FFF2-40B4-BE49-F238E27FC236}">
                <a16:creationId xmlns:a16="http://schemas.microsoft.com/office/drawing/2014/main" id="{C58D4AD6-9035-487A-A88B-B0FDE0AC1745}"/>
              </a:ext>
            </a:extLst>
          </p:cNvPr>
          <p:cNvSpPr>
            <a:spLocks xmlns:a="http://schemas.openxmlformats.org/drawingml/2006/main" noGrp="1"/>
          </p:cNvSpPr>
          <p:nvPr/>
        </p:nvSpPr>
        <p:spPr>
          <a:xfrm xmlns:a="http://schemas.openxmlformats.org/drawingml/2006/main">
            <a:off x="619125" y="2543175"/>
            <a:ext cx="30956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142D38"/>
                </a:solidFill>
                <a:latin typeface="Optimistic VF Medium"/>
                <a:ea typeface="Optimistic VF Medium"/>
                <a:cs typeface="Optimistic VF Medium"/>
              </a:defRPr>
            </a:defPPr>
            <a:lvl1pPr>
              <a:defRPr sz="1875" b="0">
                <a:solidFill>
                  <a:srgbClr val="142D38"/>
                </a:solidFill>
                <a:latin typeface="Optimistic VF Medium"/>
                <a:ea typeface="Optimistic VF Medium"/>
                <a:cs typeface="Optimistic VF Medium"/>
              </a:defRPr>
            </a:lvl1pPr>
            <a:lvl2pPr>
              <a:defRPr sz="1875" b="0">
                <a:solidFill>
                  <a:srgbClr val="142D38"/>
                </a:solidFill>
                <a:latin typeface="Optimistic VF Medium"/>
                <a:ea typeface="Optimistic VF Medium"/>
                <a:cs typeface="Optimistic VF Medium"/>
              </a:defRPr>
            </a:lvl2pPr>
            <a:lvl3pPr>
              <a:defRPr sz="1875" b="0">
                <a:solidFill>
                  <a:srgbClr val="142D38"/>
                </a:solidFill>
                <a:latin typeface="Optimistic VF Medium"/>
                <a:ea typeface="Optimistic VF Medium"/>
                <a:cs typeface="Optimistic VF Medium"/>
              </a:defRPr>
            </a:lvl3pPr>
            <a:lvl4pPr>
              <a:defRPr sz="1875" b="0">
                <a:solidFill>
                  <a:srgbClr val="142D38"/>
                </a:solidFill>
                <a:latin typeface="Optimistic VF Medium"/>
                <a:ea typeface="Optimistic VF Medium"/>
                <a:cs typeface="Optimistic VF Medium"/>
              </a:defRPr>
            </a:lvl4pPr>
            <a:lvl5pPr>
              <a:defRPr sz="1875" b="0">
                <a:solidFill>
                  <a:srgbClr val="142D38"/>
                </a:solidFill>
                <a:latin typeface="Optimistic VF Medium"/>
                <a:ea typeface="Optimistic VF Medium"/>
                <a:cs typeface="Optimistic VF Medium"/>
              </a:defRPr>
            </a:lvl5pPr>
            <a:lvl6pPr>
              <a:defRPr sz="1875" b="0">
                <a:solidFill>
                  <a:srgbClr val="142D38"/>
                </a:solidFill>
                <a:latin typeface="Optimistic VF Medium"/>
                <a:ea typeface="Optimistic VF Medium"/>
                <a:cs typeface="Optimistic VF Medium"/>
              </a:defRPr>
            </a:lvl6pPr>
            <a:lvl7pPr>
              <a:defRPr sz="1875" b="0">
                <a:solidFill>
                  <a:srgbClr val="142D38"/>
                </a:solidFill>
                <a:latin typeface="Optimistic VF Medium"/>
                <a:ea typeface="Optimistic VF Medium"/>
                <a:cs typeface="Optimistic VF Medium"/>
              </a:defRPr>
            </a:lvl7pPr>
            <a:lvl8pPr>
              <a:defRPr sz="1875" b="0">
                <a:solidFill>
                  <a:srgbClr val="142D38"/>
                </a:solidFill>
                <a:latin typeface="Optimistic VF Medium"/>
                <a:ea typeface="Optimistic VF Medium"/>
                <a:cs typeface="Optimistic VF Medium"/>
              </a:defRPr>
            </a:lvl8pPr>
            <a:lvl9pPr>
              <a:defRPr sz="1875" b="0">
                <a:solidFill>
                  <a:srgbClr val="142D38"/>
                </a:solidFill>
                <a:latin typeface="Optimistic VF Medium"/>
                <a:ea typeface="Optimistic VF Medium"/>
                <a:cs typeface="Optimistic VF Medium"/>
              </a:defRPr>
            </a:lvl9pPr>
          </a:lstStyle>
          <a:p xmlns:a="http://schemas.openxmlformats.org/drawingml/2006/main">
            <a:pPr>
              <a:defRPr sz="1875" b="0">
                <a:solidFill>
                  <a:srgbClr val="142D38"/>
                </a:solidFill>
                <a:latin typeface="Optimistic VF Medium"/>
                <a:ea typeface="Optimistic VF Medium"/>
                <a:cs typeface="Optimistic VF Medium"/>
              </a:defRPr>
            </a:pPr>
            <a:r>
              <a:rPr sz="1875" b="0">
                <a:solidFill>
                  <a:srgbClr val="142D38"/>
                </a:solidFill>
                <a:latin typeface="Optimistic VF Medium"/>
                <a:ea typeface="Optimistic VF Medium"/>
                <a:cs typeface="Optimistic VF Medium"/>
              </a:rPr>
              <a:t>Discover stories</a:t>
            </a:r>
          </a:p>
        </p:txBody>
      </p:sp>
      <p:sp>
        <p:nvSpPr>
          <p:cNvPr id="6" name="">
            <a:extLst xmlns:a="http://schemas.openxmlformats.org/drawingml/2006/main">
              <a:ext uri="{FF2B5EF4-FFF2-40B4-BE49-F238E27FC236}">
                <a16:creationId xmlns:a16="http://schemas.microsoft.com/office/drawing/2014/main" id="{B6724C81-1F34-4602-BC59-FCDF5DB12CA1}"/>
              </a:ext>
            </a:extLst>
          </p:cNvPr>
          <p:cNvSpPr>
            <a:spLocks xmlns:a="http://schemas.openxmlformats.org/drawingml/2006/main" noGrp="1"/>
          </p:cNvSpPr>
          <p:nvPr/>
        </p:nvSpPr>
        <p:spPr>
          <a:xfrm xmlns:a="http://schemas.openxmlformats.org/drawingml/2006/main">
            <a:off x="4000500" y="2543175"/>
            <a:ext cx="75819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142D38"/>
                </a:solidFill>
                <a:latin typeface="Optimistic VF"/>
                <a:ea typeface="Optimistic VF"/>
                <a:cs typeface="Optimistic VF"/>
              </a:defRPr>
            </a:defPPr>
            <a:lvl1pPr>
              <a:defRPr sz="1875" b="0">
                <a:solidFill>
                  <a:srgbClr val="142D38"/>
                </a:solidFill>
                <a:latin typeface="Optimistic VF"/>
                <a:ea typeface="Optimistic VF"/>
                <a:cs typeface="Optimistic VF"/>
              </a:defRPr>
            </a:lvl1pPr>
            <a:lvl2pPr>
              <a:defRPr sz="1875" b="0">
                <a:solidFill>
                  <a:srgbClr val="142D38"/>
                </a:solidFill>
                <a:latin typeface="Optimistic VF"/>
                <a:ea typeface="Optimistic VF"/>
                <a:cs typeface="Optimistic VF"/>
              </a:defRPr>
            </a:lvl2pPr>
            <a:lvl3pPr>
              <a:defRPr sz="1875" b="0">
                <a:solidFill>
                  <a:srgbClr val="142D38"/>
                </a:solidFill>
                <a:latin typeface="Optimistic VF"/>
                <a:ea typeface="Optimistic VF"/>
                <a:cs typeface="Optimistic VF"/>
              </a:defRPr>
            </a:lvl3pPr>
            <a:lvl4pPr>
              <a:defRPr sz="1875" b="0">
                <a:solidFill>
                  <a:srgbClr val="142D38"/>
                </a:solidFill>
                <a:latin typeface="Optimistic VF"/>
                <a:ea typeface="Optimistic VF"/>
                <a:cs typeface="Optimistic VF"/>
              </a:defRPr>
            </a:lvl4pPr>
            <a:lvl5pPr>
              <a:defRPr sz="1875" b="0">
                <a:solidFill>
                  <a:srgbClr val="142D38"/>
                </a:solidFill>
                <a:latin typeface="Optimistic VF"/>
                <a:ea typeface="Optimistic VF"/>
                <a:cs typeface="Optimistic VF"/>
              </a:defRPr>
            </a:lvl5pPr>
            <a:lvl6pPr>
              <a:defRPr sz="1875" b="0">
                <a:solidFill>
                  <a:srgbClr val="142D38"/>
                </a:solidFill>
                <a:latin typeface="Optimistic VF"/>
                <a:ea typeface="Optimistic VF"/>
                <a:cs typeface="Optimistic VF"/>
              </a:defRPr>
            </a:lvl6pPr>
            <a:lvl7pPr>
              <a:defRPr sz="1875" b="0">
                <a:solidFill>
                  <a:srgbClr val="142D38"/>
                </a:solidFill>
                <a:latin typeface="Optimistic VF"/>
                <a:ea typeface="Optimistic VF"/>
                <a:cs typeface="Optimistic VF"/>
              </a:defRPr>
            </a:lvl7pPr>
            <a:lvl8pPr>
              <a:defRPr sz="1875" b="0">
                <a:solidFill>
                  <a:srgbClr val="142D38"/>
                </a:solidFill>
                <a:latin typeface="Optimistic VF"/>
                <a:ea typeface="Optimistic VF"/>
                <a:cs typeface="Optimistic VF"/>
              </a:defRPr>
            </a:lvl8pPr>
            <a:lvl9pPr>
              <a:defRPr sz="1875" b="0">
                <a:solidFill>
                  <a:srgbClr val="142D38"/>
                </a:solidFill>
                <a:latin typeface="Optimistic VF"/>
                <a:ea typeface="Optimistic VF"/>
                <a:cs typeface="Optimistic VF"/>
              </a:defRPr>
            </a:lvl9pPr>
          </a:lstStyle>
          <a:p xmlns:a="http://schemas.openxmlformats.org/drawingml/2006/main">
            <a:pPr>
              <a:defRPr sz="1875" b="0">
                <a:solidFill>
                  <a:srgbClr val="142D38"/>
                </a:solidFill>
                <a:latin typeface="Optimistic VF"/>
                <a:ea typeface="Optimistic VF"/>
                <a:cs typeface="Optimistic VF"/>
              </a:defRPr>
            </a:pPr>
            <a:r>
              <a:rPr sz="1875" b="0">
                <a:solidFill>
                  <a:srgbClr val="142D38"/>
                </a:solidFill>
                <a:latin typeface="Optimistic VF"/>
                <a:ea typeface="Optimistic VF"/>
                <a:cs typeface="Optimistic VF"/>
              </a:rPr>
              <a:t>Look at a spot we’ve added to find the notes and stories people left there.</a:t>
            </a:r>
          </a:p>
        </p:txBody>
      </p:sp>
      <p:sp>
        <p:nvSpPr>
          <p:cNvPr id="7" name="">
            <a:extLst xmlns:a="http://schemas.openxmlformats.org/drawingml/2006/main">
              <a:ext uri="{FF2B5EF4-FFF2-40B4-BE49-F238E27FC236}">
                <a16:creationId xmlns:a16="http://schemas.microsoft.com/office/drawing/2014/main" id="{BE32674E-770B-4280-B77B-DA4B1DDA8BFA}"/>
              </a:ext>
            </a:extLst>
          </p:cNvPr>
          <p:cNvSpPr>
            <a:spLocks xmlns:a="http://schemas.openxmlformats.org/drawingml/2006/main" noGrp="1"/>
          </p:cNvSpPr>
          <p:nvPr/>
        </p:nvSpPr>
        <p:spPr>
          <a:xfrm xmlns:a="http://schemas.openxmlformats.org/drawingml/2006/main">
            <a:off x="619125" y="3219450"/>
            <a:ext cx="10963275" cy="9525"/>
          </a:xfrm>
          <a:prstGeom xmlns:a="http://schemas.openxmlformats.org/drawingml/2006/main" prst="rect">
            <a:avLst/>
          </a:prstGeom>
          <a:solidFill xmlns:a="http://schemas.openxmlformats.org/drawingml/2006/main">
            <a:srgbClr val="D2DFE5"/>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7EE41BA5-F680-43D2-BD39-8329D4C2B743}"/>
              </a:ext>
            </a:extLst>
          </p:cNvPr>
          <p:cNvSpPr>
            <a:spLocks xmlns:a="http://schemas.openxmlformats.org/drawingml/2006/main" noGrp="1"/>
          </p:cNvSpPr>
          <p:nvPr/>
        </p:nvSpPr>
        <p:spPr>
          <a:xfrm xmlns:a="http://schemas.openxmlformats.org/drawingml/2006/main">
            <a:off x="619125" y="3305175"/>
            <a:ext cx="30956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142D38"/>
                </a:solidFill>
                <a:latin typeface="Optimistic VF Medium"/>
                <a:ea typeface="Optimistic VF Medium"/>
                <a:cs typeface="Optimistic VF Medium"/>
              </a:defRPr>
            </a:defPPr>
            <a:lvl1pPr>
              <a:defRPr sz="1875" b="0">
                <a:solidFill>
                  <a:srgbClr val="142D38"/>
                </a:solidFill>
                <a:latin typeface="Optimistic VF Medium"/>
                <a:ea typeface="Optimistic VF Medium"/>
                <a:cs typeface="Optimistic VF Medium"/>
              </a:defRPr>
            </a:lvl1pPr>
            <a:lvl2pPr>
              <a:defRPr sz="1875" b="0">
                <a:solidFill>
                  <a:srgbClr val="142D38"/>
                </a:solidFill>
                <a:latin typeface="Optimistic VF Medium"/>
                <a:ea typeface="Optimistic VF Medium"/>
                <a:cs typeface="Optimistic VF Medium"/>
              </a:defRPr>
            </a:lvl2pPr>
            <a:lvl3pPr>
              <a:defRPr sz="1875" b="0">
                <a:solidFill>
                  <a:srgbClr val="142D38"/>
                </a:solidFill>
                <a:latin typeface="Optimistic VF Medium"/>
                <a:ea typeface="Optimistic VF Medium"/>
                <a:cs typeface="Optimistic VF Medium"/>
              </a:defRPr>
            </a:lvl3pPr>
            <a:lvl4pPr>
              <a:defRPr sz="1875" b="0">
                <a:solidFill>
                  <a:srgbClr val="142D38"/>
                </a:solidFill>
                <a:latin typeface="Optimistic VF Medium"/>
                <a:ea typeface="Optimistic VF Medium"/>
                <a:cs typeface="Optimistic VF Medium"/>
              </a:defRPr>
            </a:lvl4pPr>
            <a:lvl5pPr>
              <a:defRPr sz="1875" b="0">
                <a:solidFill>
                  <a:srgbClr val="142D38"/>
                </a:solidFill>
                <a:latin typeface="Optimistic VF Medium"/>
                <a:ea typeface="Optimistic VF Medium"/>
                <a:cs typeface="Optimistic VF Medium"/>
              </a:defRPr>
            </a:lvl5pPr>
            <a:lvl6pPr>
              <a:defRPr sz="1875" b="0">
                <a:solidFill>
                  <a:srgbClr val="142D38"/>
                </a:solidFill>
                <a:latin typeface="Optimistic VF Medium"/>
                <a:ea typeface="Optimistic VF Medium"/>
                <a:cs typeface="Optimistic VF Medium"/>
              </a:defRPr>
            </a:lvl6pPr>
            <a:lvl7pPr>
              <a:defRPr sz="1875" b="0">
                <a:solidFill>
                  <a:srgbClr val="142D38"/>
                </a:solidFill>
                <a:latin typeface="Optimistic VF Medium"/>
                <a:ea typeface="Optimistic VF Medium"/>
                <a:cs typeface="Optimistic VF Medium"/>
              </a:defRPr>
            </a:lvl7pPr>
            <a:lvl8pPr>
              <a:defRPr sz="1875" b="0">
                <a:solidFill>
                  <a:srgbClr val="142D38"/>
                </a:solidFill>
                <a:latin typeface="Optimistic VF Medium"/>
                <a:ea typeface="Optimistic VF Medium"/>
                <a:cs typeface="Optimistic VF Medium"/>
              </a:defRPr>
            </a:lvl8pPr>
            <a:lvl9pPr>
              <a:defRPr sz="1875" b="0">
                <a:solidFill>
                  <a:srgbClr val="142D38"/>
                </a:solidFill>
                <a:latin typeface="Optimistic VF Medium"/>
                <a:ea typeface="Optimistic VF Medium"/>
                <a:cs typeface="Optimistic VF Medium"/>
              </a:defRPr>
            </a:lvl9pPr>
          </a:lstStyle>
          <a:p xmlns:a="http://schemas.openxmlformats.org/drawingml/2006/main">
            <a:pPr>
              <a:defRPr sz="1875" b="0">
                <a:solidFill>
                  <a:srgbClr val="142D38"/>
                </a:solidFill>
                <a:latin typeface="Optimistic VF Medium"/>
                <a:ea typeface="Optimistic VF Medium"/>
                <a:cs typeface="Optimistic VF Medium"/>
              </a:defRPr>
            </a:pPr>
            <a:r>
              <a:rPr sz="1875" b="0">
                <a:solidFill>
                  <a:srgbClr val="142D38"/>
                </a:solidFill>
                <a:latin typeface="Optimistic VF Medium"/>
                <a:ea typeface="Optimistic VF Medium"/>
                <a:cs typeface="Optimistic VF Medium"/>
              </a:rPr>
              <a:t>Leave a voice note</a:t>
            </a:r>
          </a:p>
        </p:txBody>
      </p:sp>
      <p:sp>
        <p:nvSpPr>
          <p:cNvPr id="9" name="">
            <a:extLst xmlns:a="http://schemas.openxmlformats.org/drawingml/2006/main">
              <a:ext uri="{FF2B5EF4-FFF2-40B4-BE49-F238E27FC236}">
                <a16:creationId xmlns:a16="http://schemas.microsoft.com/office/drawing/2014/main" id="{73C4D558-3BC6-4193-83DB-2EF899EC003D}"/>
              </a:ext>
            </a:extLst>
          </p:cNvPr>
          <p:cNvSpPr>
            <a:spLocks xmlns:a="http://schemas.openxmlformats.org/drawingml/2006/main" noGrp="1"/>
          </p:cNvSpPr>
          <p:nvPr/>
        </p:nvSpPr>
        <p:spPr>
          <a:xfrm xmlns:a="http://schemas.openxmlformats.org/drawingml/2006/main">
            <a:off x="4000500" y="3305175"/>
            <a:ext cx="75819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142D38"/>
                </a:solidFill>
                <a:latin typeface="Optimistic VF"/>
                <a:ea typeface="Optimistic VF"/>
                <a:cs typeface="Optimistic VF"/>
              </a:defRPr>
            </a:defPPr>
            <a:lvl1pPr>
              <a:defRPr sz="1875" b="0">
                <a:solidFill>
                  <a:srgbClr val="142D38"/>
                </a:solidFill>
                <a:latin typeface="Optimistic VF"/>
                <a:ea typeface="Optimistic VF"/>
                <a:cs typeface="Optimistic VF"/>
              </a:defRPr>
            </a:lvl1pPr>
            <a:lvl2pPr>
              <a:defRPr sz="1875" b="0">
                <a:solidFill>
                  <a:srgbClr val="142D38"/>
                </a:solidFill>
                <a:latin typeface="Optimistic VF"/>
                <a:ea typeface="Optimistic VF"/>
                <a:cs typeface="Optimistic VF"/>
              </a:defRPr>
            </a:lvl2pPr>
            <a:lvl3pPr>
              <a:defRPr sz="1875" b="0">
                <a:solidFill>
                  <a:srgbClr val="142D38"/>
                </a:solidFill>
                <a:latin typeface="Optimistic VF"/>
                <a:ea typeface="Optimistic VF"/>
                <a:cs typeface="Optimistic VF"/>
              </a:defRPr>
            </a:lvl3pPr>
            <a:lvl4pPr>
              <a:defRPr sz="1875" b="0">
                <a:solidFill>
                  <a:srgbClr val="142D38"/>
                </a:solidFill>
                <a:latin typeface="Optimistic VF"/>
                <a:ea typeface="Optimistic VF"/>
                <a:cs typeface="Optimistic VF"/>
              </a:defRPr>
            </a:lvl4pPr>
            <a:lvl5pPr>
              <a:defRPr sz="1875" b="0">
                <a:solidFill>
                  <a:srgbClr val="142D38"/>
                </a:solidFill>
                <a:latin typeface="Optimistic VF"/>
                <a:ea typeface="Optimistic VF"/>
                <a:cs typeface="Optimistic VF"/>
              </a:defRPr>
            </a:lvl5pPr>
            <a:lvl6pPr>
              <a:defRPr sz="1875" b="0">
                <a:solidFill>
                  <a:srgbClr val="142D38"/>
                </a:solidFill>
                <a:latin typeface="Optimistic VF"/>
                <a:ea typeface="Optimistic VF"/>
                <a:cs typeface="Optimistic VF"/>
              </a:defRPr>
            </a:lvl6pPr>
            <a:lvl7pPr>
              <a:defRPr sz="1875" b="0">
                <a:solidFill>
                  <a:srgbClr val="142D38"/>
                </a:solidFill>
                <a:latin typeface="Optimistic VF"/>
                <a:ea typeface="Optimistic VF"/>
                <a:cs typeface="Optimistic VF"/>
              </a:defRPr>
            </a:lvl7pPr>
            <a:lvl8pPr>
              <a:defRPr sz="1875" b="0">
                <a:solidFill>
                  <a:srgbClr val="142D38"/>
                </a:solidFill>
                <a:latin typeface="Optimistic VF"/>
                <a:ea typeface="Optimistic VF"/>
                <a:cs typeface="Optimistic VF"/>
              </a:defRPr>
            </a:lvl8pPr>
            <a:lvl9pPr>
              <a:defRPr sz="1875" b="0">
                <a:solidFill>
                  <a:srgbClr val="142D38"/>
                </a:solidFill>
                <a:latin typeface="Optimistic VF"/>
                <a:ea typeface="Optimistic VF"/>
                <a:cs typeface="Optimistic VF"/>
              </a:defRPr>
            </a:lvl9pPr>
          </a:lstStyle>
          <a:p xmlns:a="http://schemas.openxmlformats.org/drawingml/2006/main">
            <a:pPr>
              <a:defRPr sz="1875" b="0">
                <a:solidFill>
                  <a:srgbClr val="142D38"/>
                </a:solidFill>
                <a:latin typeface="Optimistic VF"/>
                <a:ea typeface="Optimistic VF"/>
                <a:cs typeface="Optimistic VF"/>
              </a:defRPr>
            </a:pPr>
            <a:r>
              <a:rPr sz="1875" b="0">
                <a:solidFill>
                  <a:srgbClr val="142D38"/>
                </a:solidFill>
                <a:latin typeface="Optimistic VF"/>
                <a:ea typeface="Optimistic VF"/>
                <a:cs typeface="Optimistic VF"/>
              </a:rPr>
              <a:t>Say what you want to share, and AI turns your voice into a note that stays with that spot.</a:t>
            </a:r>
          </a:p>
        </p:txBody>
      </p:sp>
      <p:sp>
        <p:nvSpPr>
          <p:cNvPr id="10" name="">
            <a:extLst xmlns:a="http://schemas.openxmlformats.org/drawingml/2006/main">
              <a:ext uri="{FF2B5EF4-FFF2-40B4-BE49-F238E27FC236}">
                <a16:creationId xmlns:a16="http://schemas.microsoft.com/office/drawing/2014/main" id="{B1025B6C-3A53-4510-9394-989B3846801F}"/>
              </a:ext>
            </a:extLst>
          </p:cNvPr>
          <p:cNvSpPr>
            <a:spLocks xmlns:a="http://schemas.openxmlformats.org/drawingml/2006/main" noGrp="1"/>
          </p:cNvSpPr>
          <p:nvPr/>
        </p:nvSpPr>
        <p:spPr>
          <a:xfrm xmlns:a="http://schemas.openxmlformats.org/drawingml/2006/main">
            <a:off x="619125" y="3981450"/>
            <a:ext cx="10963275" cy="9525"/>
          </a:xfrm>
          <a:prstGeom xmlns:a="http://schemas.openxmlformats.org/drawingml/2006/main" prst="rect">
            <a:avLst/>
          </a:prstGeom>
          <a:solidFill xmlns:a="http://schemas.openxmlformats.org/drawingml/2006/main">
            <a:srgbClr val="D2DFE5"/>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BE347587-CBB1-4A1C-AFC9-9D7EEF1FE254}"/>
              </a:ext>
            </a:extLst>
          </p:cNvPr>
          <p:cNvSpPr>
            <a:spLocks xmlns:a="http://schemas.openxmlformats.org/drawingml/2006/main" noGrp="1"/>
          </p:cNvSpPr>
          <p:nvPr/>
        </p:nvSpPr>
        <p:spPr>
          <a:xfrm xmlns:a="http://schemas.openxmlformats.org/drawingml/2006/main">
            <a:off x="619125" y="4067175"/>
            <a:ext cx="30956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142D38"/>
                </a:solidFill>
                <a:latin typeface="Optimistic VF Medium"/>
                <a:ea typeface="Optimistic VF Medium"/>
                <a:cs typeface="Optimistic VF Medium"/>
              </a:defRPr>
            </a:defPPr>
            <a:lvl1pPr>
              <a:defRPr sz="1875" b="0">
                <a:solidFill>
                  <a:srgbClr val="142D38"/>
                </a:solidFill>
                <a:latin typeface="Optimistic VF Medium"/>
                <a:ea typeface="Optimistic VF Medium"/>
                <a:cs typeface="Optimistic VF Medium"/>
              </a:defRPr>
            </a:lvl1pPr>
            <a:lvl2pPr>
              <a:defRPr sz="1875" b="0">
                <a:solidFill>
                  <a:srgbClr val="142D38"/>
                </a:solidFill>
                <a:latin typeface="Optimistic VF Medium"/>
                <a:ea typeface="Optimistic VF Medium"/>
                <a:cs typeface="Optimistic VF Medium"/>
              </a:defRPr>
            </a:lvl2pPr>
            <a:lvl3pPr>
              <a:defRPr sz="1875" b="0">
                <a:solidFill>
                  <a:srgbClr val="142D38"/>
                </a:solidFill>
                <a:latin typeface="Optimistic VF Medium"/>
                <a:ea typeface="Optimistic VF Medium"/>
                <a:cs typeface="Optimistic VF Medium"/>
              </a:defRPr>
            </a:lvl3pPr>
            <a:lvl4pPr>
              <a:defRPr sz="1875" b="0">
                <a:solidFill>
                  <a:srgbClr val="142D38"/>
                </a:solidFill>
                <a:latin typeface="Optimistic VF Medium"/>
                <a:ea typeface="Optimistic VF Medium"/>
                <a:cs typeface="Optimistic VF Medium"/>
              </a:defRPr>
            </a:lvl4pPr>
            <a:lvl5pPr>
              <a:defRPr sz="1875" b="0">
                <a:solidFill>
                  <a:srgbClr val="142D38"/>
                </a:solidFill>
                <a:latin typeface="Optimistic VF Medium"/>
                <a:ea typeface="Optimistic VF Medium"/>
                <a:cs typeface="Optimistic VF Medium"/>
              </a:defRPr>
            </a:lvl5pPr>
            <a:lvl6pPr>
              <a:defRPr sz="1875" b="0">
                <a:solidFill>
                  <a:srgbClr val="142D38"/>
                </a:solidFill>
                <a:latin typeface="Optimistic VF Medium"/>
                <a:ea typeface="Optimistic VF Medium"/>
                <a:cs typeface="Optimistic VF Medium"/>
              </a:defRPr>
            </a:lvl6pPr>
            <a:lvl7pPr>
              <a:defRPr sz="1875" b="0">
                <a:solidFill>
                  <a:srgbClr val="142D38"/>
                </a:solidFill>
                <a:latin typeface="Optimistic VF Medium"/>
                <a:ea typeface="Optimistic VF Medium"/>
                <a:cs typeface="Optimistic VF Medium"/>
              </a:defRPr>
            </a:lvl7pPr>
            <a:lvl8pPr>
              <a:defRPr sz="1875" b="0">
                <a:solidFill>
                  <a:srgbClr val="142D38"/>
                </a:solidFill>
                <a:latin typeface="Optimistic VF Medium"/>
                <a:ea typeface="Optimistic VF Medium"/>
                <a:cs typeface="Optimistic VF Medium"/>
              </a:defRPr>
            </a:lvl8pPr>
            <a:lvl9pPr>
              <a:defRPr sz="1875" b="0">
                <a:solidFill>
                  <a:srgbClr val="142D38"/>
                </a:solidFill>
                <a:latin typeface="Optimistic VF Medium"/>
                <a:ea typeface="Optimistic VF Medium"/>
                <a:cs typeface="Optimistic VF Medium"/>
              </a:defRPr>
            </a:lvl9pPr>
          </a:lstStyle>
          <a:p xmlns:a="http://schemas.openxmlformats.org/drawingml/2006/main">
            <a:pPr>
              <a:defRPr sz="1875" b="0">
                <a:solidFill>
                  <a:srgbClr val="142D38"/>
                </a:solidFill>
                <a:latin typeface="Optimistic VF Medium"/>
                <a:ea typeface="Optimistic VF Medium"/>
                <a:cs typeface="Optimistic VF Medium"/>
              </a:defRPr>
            </a:pPr>
            <a:r>
              <a:rPr sz="1875" b="0">
                <a:solidFill>
                  <a:srgbClr val="142D38"/>
                </a:solidFill>
                <a:latin typeface="Optimistic VF Medium"/>
                <a:ea typeface="Optimistic VF Medium"/>
                <a:cs typeface="Optimistic VF Medium"/>
              </a:rPr>
              <a:t>Talk back</a:t>
            </a:r>
          </a:p>
        </p:txBody>
      </p:sp>
      <p:sp>
        <p:nvSpPr>
          <p:cNvPr id="12" name="">
            <a:extLst xmlns:a="http://schemas.openxmlformats.org/drawingml/2006/main">
              <a:ext uri="{FF2B5EF4-FFF2-40B4-BE49-F238E27FC236}">
                <a16:creationId xmlns:a16="http://schemas.microsoft.com/office/drawing/2014/main" id="{809CAF6A-8E9D-4071-997D-11F72773D4AA}"/>
              </a:ext>
            </a:extLst>
          </p:cNvPr>
          <p:cNvSpPr>
            <a:spLocks xmlns:a="http://schemas.openxmlformats.org/drawingml/2006/main" noGrp="1"/>
          </p:cNvSpPr>
          <p:nvPr/>
        </p:nvSpPr>
        <p:spPr>
          <a:xfrm xmlns:a="http://schemas.openxmlformats.org/drawingml/2006/main">
            <a:off x="4000500" y="4067175"/>
            <a:ext cx="75819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142D38"/>
                </a:solidFill>
                <a:latin typeface="Optimistic VF"/>
                <a:ea typeface="Optimistic VF"/>
                <a:cs typeface="Optimistic VF"/>
              </a:defRPr>
            </a:defPPr>
            <a:lvl1pPr>
              <a:defRPr sz="1875" b="0">
                <a:solidFill>
                  <a:srgbClr val="142D38"/>
                </a:solidFill>
                <a:latin typeface="Optimistic VF"/>
                <a:ea typeface="Optimistic VF"/>
                <a:cs typeface="Optimistic VF"/>
              </a:defRPr>
            </a:lvl1pPr>
            <a:lvl2pPr>
              <a:defRPr sz="1875" b="0">
                <a:solidFill>
                  <a:srgbClr val="142D38"/>
                </a:solidFill>
                <a:latin typeface="Optimistic VF"/>
                <a:ea typeface="Optimistic VF"/>
                <a:cs typeface="Optimistic VF"/>
              </a:defRPr>
            </a:lvl2pPr>
            <a:lvl3pPr>
              <a:defRPr sz="1875" b="0">
                <a:solidFill>
                  <a:srgbClr val="142D38"/>
                </a:solidFill>
                <a:latin typeface="Optimistic VF"/>
                <a:ea typeface="Optimistic VF"/>
                <a:cs typeface="Optimistic VF"/>
              </a:defRPr>
            </a:lvl3pPr>
            <a:lvl4pPr>
              <a:defRPr sz="1875" b="0">
                <a:solidFill>
                  <a:srgbClr val="142D38"/>
                </a:solidFill>
                <a:latin typeface="Optimistic VF"/>
                <a:ea typeface="Optimistic VF"/>
                <a:cs typeface="Optimistic VF"/>
              </a:defRPr>
            </a:lvl4pPr>
            <a:lvl5pPr>
              <a:defRPr sz="1875" b="0">
                <a:solidFill>
                  <a:srgbClr val="142D38"/>
                </a:solidFill>
                <a:latin typeface="Optimistic VF"/>
                <a:ea typeface="Optimistic VF"/>
                <a:cs typeface="Optimistic VF"/>
              </a:defRPr>
            </a:lvl5pPr>
            <a:lvl6pPr>
              <a:defRPr sz="1875" b="0">
                <a:solidFill>
                  <a:srgbClr val="142D38"/>
                </a:solidFill>
                <a:latin typeface="Optimistic VF"/>
                <a:ea typeface="Optimistic VF"/>
                <a:cs typeface="Optimistic VF"/>
              </a:defRPr>
            </a:lvl6pPr>
            <a:lvl7pPr>
              <a:defRPr sz="1875" b="0">
                <a:solidFill>
                  <a:srgbClr val="142D38"/>
                </a:solidFill>
                <a:latin typeface="Optimistic VF"/>
                <a:ea typeface="Optimistic VF"/>
                <a:cs typeface="Optimistic VF"/>
              </a:defRPr>
            </a:lvl7pPr>
            <a:lvl8pPr>
              <a:defRPr sz="1875" b="0">
                <a:solidFill>
                  <a:srgbClr val="142D38"/>
                </a:solidFill>
                <a:latin typeface="Optimistic VF"/>
                <a:ea typeface="Optimistic VF"/>
                <a:cs typeface="Optimistic VF"/>
              </a:defRPr>
            </a:lvl8pPr>
            <a:lvl9pPr>
              <a:defRPr sz="1875" b="0">
                <a:solidFill>
                  <a:srgbClr val="142D38"/>
                </a:solidFill>
                <a:latin typeface="Optimistic VF"/>
                <a:ea typeface="Optimistic VF"/>
                <a:cs typeface="Optimistic VF"/>
              </a:defRPr>
            </a:lvl9pPr>
          </a:lstStyle>
          <a:p xmlns:a="http://schemas.openxmlformats.org/drawingml/2006/main">
            <a:pPr>
              <a:defRPr sz="1875" b="0">
                <a:solidFill>
                  <a:srgbClr val="142D38"/>
                </a:solidFill>
                <a:latin typeface="Optimistic VF"/>
                <a:ea typeface="Optimistic VF"/>
                <a:cs typeface="Optimistic VF"/>
              </a:defRPr>
            </a:pPr>
            <a:r>
              <a:rPr sz="1875" b="0">
                <a:solidFill>
                  <a:srgbClr val="142D38"/>
                </a:solidFill>
                <a:latin typeface="Optimistic VF"/>
                <a:ea typeface="Optimistic VF"/>
                <a:cs typeface="Optimistic VF"/>
              </a:rPr>
              <a:t>Read or listen to someone’s note, then say what you want to reply through your glasses.</a:t>
            </a:r>
          </a:p>
        </p:txBody>
      </p:sp>
      <p:sp>
        <p:nvSpPr>
          <p:cNvPr id="13" name="">
            <a:extLst xmlns:a="http://schemas.openxmlformats.org/drawingml/2006/main">
              <a:ext uri="{FF2B5EF4-FFF2-40B4-BE49-F238E27FC236}">
                <a16:creationId xmlns:a16="http://schemas.microsoft.com/office/drawing/2014/main" id="{AE35A2BF-ADB6-4015-85A9-1DBB3CA8C0E9}"/>
              </a:ext>
            </a:extLst>
          </p:cNvPr>
          <p:cNvSpPr>
            <a:spLocks xmlns:a="http://schemas.openxmlformats.org/drawingml/2006/main" noGrp="1"/>
          </p:cNvSpPr>
          <p:nvPr/>
        </p:nvSpPr>
        <p:spPr>
          <a:xfrm xmlns:a="http://schemas.openxmlformats.org/drawingml/2006/main">
            <a:off x="619125" y="4743450"/>
            <a:ext cx="10963275" cy="9525"/>
          </a:xfrm>
          <a:prstGeom xmlns:a="http://schemas.openxmlformats.org/drawingml/2006/main" prst="rect">
            <a:avLst/>
          </a:prstGeom>
          <a:solidFill xmlns:a="http://schemas.openxmlformats.org/drawingml/2006/main">
            <a:srgbClr val="D2DFE5"/>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21427F2C-FAF5-4A03-BC42-21D7D70DA114}"/>
              </a:ext>
            </a:extLst>
          </p:cNvPr>
          <p:cNvSpPr>
            <a:spLocks xmlns:a="http://schemas.openxmlformats.org/drawingml/2006/main" noGrp="1"/>
          </p:cNvSpPr>
          <p:nvPr/>
        </p:nvSpPr>
        <p:spPr>
          <a:xfrm xmlns:a="http://schemas.openxmlformats.org/drawingml/2006/main">
            <a:off x="619125" y="4829175"/>
            <a:ext cx="30956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142D38"/>
                </a:solidFill>
                <a:latin typeface="Optimistic VF Medium"/>
                <a:ea typeface="Optimistic VF Medium"/>
                <a:cs typeface="Optimistic VF Medium"/>
              </a:defRPr>
            </a:defPPr>
            <a:lvl1pPr>
              <a:defRPr sz="1875" b="0">
                <a:solidFill>
                  <a:srgbClr val="142D38"/>
                </a:solidFill>
                <a:latin typeface="Optimistic VF Medium"/>
                <a:ea typeface="Optimistic VF Medium"/>
                <a:cs typeface="Optimistic VF Medium"/>
              </a:defRPr>
            </a:lvl1pPr>
            <a:lvl2pPr>
              <a:defRPr sz="1875" b="0">
                <a:solidFill>
                  <a:srgbClr val="142D38"/>
                </a:solidFill>
                <a:latin typeface="Optimistic VF Medium"/>
                <a:ea typeface="Optimistic VF Medium"/>
                <a:cs typeface="Optimistic VF Medium"/>
              </a:defRPr>
            </a:lvl2pPr>
            <a:lvl3pPr>
              <a:defRPr sz="1875" b="0">
                <a:solidFill>
                  <a:srgbClr val="142D38"/>
                </a:solidFill>
                <a:latin typeface="Optimistic VF Medium"/>
                <a:ea typeface="Optimistic VF Medium"/>
                <a:cs typeface="Optimistic VF Medium"/>
              </a:defRPr>
            </a:lvl3pPr>
            <a:lvl4pPr>
              <a:defRPr sz="1875" b="0">
                <a:solidFill>
                  <a:srgbClr val="142D38"/>
                </a:solidFill>
                <a:latin typeface="Optimistic VF Medium"/>
                <a:ea typeface="Optimistic VF Medium"/>
                <a:cs typeface="Optimistic VF Medium"/>
              </a:defRPr>
            </a:lvl4pPr>
            <a:lvl5pPr>
              <a:defRPr sz="1875" b="0">
                <a:solidFill>
                  <a:srgbClr val="142D38"/>
                </a:solidFill>
                <a:latin typeface="Optimistic VF Medium"/>
                <a:ea typeface="Optimistic VF Medium"/>
                <a:cs typeface="Optimistic VF Medium"/>
              </a:defRPr>
            </a:lvl5pPr>
            <a:lvl6pPr>
              <a:defRPr sz="1875" b="0">
                <a:solidFill>
                  <a:srgbClr val="142D38"/>
                </a:solidFill>
                <a:latin typeface="Optimistic VF Medium"/>
                <a:ea typeface="Optimistic VF Medium"/>
                <a:cs typeface="Optimistic VF Medium"/>
              </a:defRPr>
            </a:lvl6pPr>
            <a:lvl7pPr>
              <a:defRPr sz="1875" b="0">
                <a:solidFill>
                  <a:srgbClr val="142D38"/>
                </a:solidFill>
                <a:latin typeface="Optimistic VF Medium"/>
                <a:ea typeface="Optimistic VF Medium"/>
                <a:cs typeface="Optimistic VF Medium"/>
              </a:defRPr>
            </a:lvl7pPr>
            <a:lvl8pPr>
              <a:defRPr sz="1875" b="0">
                <a:solidFill>
                  <a:srgbClr val="142D38"/>
                </a:solidFill>
                <a:latin typeface="Optimistic VF Medium"/>
                <a:ea typeface="Optimistic VF Medium"/>
                <a:cs typeface="Optimistic VF Medium"/>
              </a:defRPr>
            </a:lvl8pPr>
            <a:lvl9pPr>
              <a:defRPr sz="1875" b="0">
                <a:solidFill>
                  <a:srgbClr val="142D38"/>
                </a:solidFill>
                <a:latin typeface="Optimistic VF Medium"/>
                <a:ea typeface="Optimistic VF Medium"/>
                <a:cs typeface="Optimistic VF Medium"/>
              </a:defRPr>
            </a:lvl9pPr>
          </a:lstStyle>
          <a:p xmlns:a="http://schemas.openxmlformats.org/drawingml/2006/main">
            <a:pPr>
              <a:defRPr sz="1875" b="0">
                <a:solidFill>
                  <a:srgbClr val="142D38"/>
                </a:solidFill>
                <a:latin typeface="Optimistic VF Medium"/>
                <a:ea typeface="Optimistic VF Medium"/>
                <a:cs typeface="Optimistic VF Medium"/>
              </a:defRPr>
            </a:pPr>
            <a:r>
              <a:rPr sz="1875" b="0">
                <a:solidFill>
                  <a:srgbClr val="142D38"/>
                </a:solidFill>
                <a:latin typeface="Optimistic VF Medium"/>
                <a:ea typeface="Optimistic VF Medium"/>
                <a:cs typeface="Optimistic VF Medium"/>
              </a:rPr>
              <a:t>Leave it for someone else</a:t>
            </a:r>
          </a:p>
        </p:txBody>
      </p:sp>
      <p:sp>
        <p:nvSpPr>
          <p:cNvPr id="15" name="">
            <a:extLst xmlns:a="http://schemas.openxmlformats.org/drawingml/2006/main">
              <a:ext uri="{FF2B5EF4-FFF2-40B4-BE49-F238E27FC236}">
                <a16:creationId xmlns:a16="http://schemas.microsoft.com/office/drawing/2014/main" id="{B879C21F-0173-4C0C-A60A-0AD5279B3CB7}"/>
              </a:ext>
            </a:extLst>
          </p:cNvPr>
          <p:cNvSpPr>
            <a:spLocks xmlns:a="http://schemas.openxmlformats.org/drawingml/2006/main" noGrp="1"/>
          </p:cNvSpPr>
          <p:nvPr/>
        </p:nvSpPr>
        <p:spPr>
          <a:xfrm xmlns:a="http://schemas.openxmlformats.org/drawingml/2006/main">
            <a:off x="4000500" y="4829175"/>
            <a:ext cx="75819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142D38"/>
                </a:solidFill>
                <a:latin typeface="Optimistic VF"/>
                <a:ea typeface="Optimistic VF"/>
                <a:cs typeface="Optimistic VF"/>
              </a:defRPr>
            </a:defPPr>
            <a:lvl1pPr>
              <a:defRPr sz="1875" b="0">
                <a:solidFill>
                  <a:srgbClr val="142D38"/>
                </a:solidFill>
                <a:latin typeface="Optimistic VF"/>
                <a:ea typeface="Optimistic VF"/>
                <a:cs typeface="Optimistic VF"/>
              </a:defRPr>
            </a:lvl1pPr>
            <a:lvl2pPr>
              <a:defRPr sz="1875" b="0">
                <a:solidFill>
                  <a:srgbClr val="142D38"/>
                </a:solidFill>
                <a:latin typeface="Optimistic VF"/>
                <a:ea typeface="Optimistic VF"/>
                <a:cs typeface="Optimistic VF"/>
              </a:defRPr>
            </a:lvl2pPr>
            <a:lvl3pPr>
              <a:defRPr sz="1875" b="0">
                <a:solidFill>
                  <a:srgbClr val="142D38"/>
                </a:solidFill>
                <a:latin typeface="Optimistic VF"/>
                <a:ea typeface="Optimistic VF"/>
                <a:cs typeface="Optimistic VF"/>
              </a:defRPr>
            </a:lvl3pPr>
            <a:lvl4pPr>
              <a:defRPr sz="1875" b="0">
                <a:solidFill>
                  <a:srgbClr val="142D38"/>
                </a:solidFill>
                <a:latin typeface="Optimistic VF"/>
                <a:ea typeface="Optimistic VF"/>
                <a:cs typeface="Optimistic VF"/>
              </a:defRPr>
            </a:lvl4pPr>
            <a:lvl5pPr>
              <a:defRPr sz="1875" b="0">
                <a:solidFill>
                  <a:srgbClr val="142D38"/>
                </a:solidFill>
                <a:latin typeface="Optimistic VF"/>
                <a:ea typeface="Optimistic VF"/>
                <a:cs typeface="Optimistic VF"/>
              </a:defRPr>
            </a:lvl5pPr>
            <a:lvl6pPr>
              <a:defRPr sz="1875" b="0">
                <a:solidFill>
                  <a:srgbClr val="142D38"/>
                </a:solidFill>
                <a:latin typeface="Optimistic VF"/>
                <a:ea typeface="Optimistic VF"/>
                <a:cs typeface="Optimistic VF"/>
              </a:defRPr>
            </a:lvl6pPr>
            <a:lvl7pPr>
              <a:defRPr sz="1875" b="0">
                <a:solidFill>
                  <a:srgbClr val="142D38"/>
                </a:solidFill>
                <a:latin typeface="Optimistic VF"/>
                <a:ea typeface="Optimistic VF"/>
                <a:cs typeface="Optimistic VF"/>
              </a:defRPr>
            </a:lvl7pPr>
            <a:lvl8pPr>
              <a:defRPr sz="1875" b="0">
                <a:solidFill>
                  <a:srgbClr val="142D38"/>
                </a:solidFill>
                <a:latin typeface="Optimistic VF"/>
                <a:ea typeface="Optimistic VF"/>
                <a:cs typeface="Optimistic VF"/>
              </a:defRPr>
            </a:lvl8pPr>
            <a:lvl9pPr>
              <a:defRPr sz="1875" b="0">
                <a:solidFill>
                  <a:srgbClr val="142D38"/>
                </a:solidFill>
                <a:latin typeface="Optimistic VF"/>
                <a:ea typeface="Optimistic VF"/>
                <a:cs typeface="Optimistic VF"/>
              </a:defRPr>
            </a:lvl9pPr>
          </a:lstStyle>
          <a:p xmlns:a="http://schemas.openxmlformats.org/drawingml/2006/main">
            <a:pPr>
              <a:defRPr sz="1875" b="0">
                <a:solidFill>
                  <a:srgbClr val="142D38"/>
                </a:solidFill>
                <a:latin typeface="Optimistic VF"/>
                <a:ea typeface="Optimistic VF"/>
                <a:cs typeface="Optimistic VF"/>
              </a:defRPr>
            </a:pPr>
            <a:r>
              <a:rPr sz="1875" b="0">
                <a:solidFill>
                  <a:srgbClr val="142D38"/>
                </a:solidFill>
                <a:latin typeface="Optimistic VF"/>
                <a:ea typeface="Optimistic VF"/>
                <a:cs typeface="Optimistic VF"/>
              </a:rPr>
              <a:t>Your note stays with that spot, so someone else can find it even after you’ve left.</a:t>
            </a:r>
          </a:p>
        </p:txBody>
      </p:sp>
      <p:sp>
        <p:nvSpPr>
          <p:cNvPr id="16" name="">
            <a:extLst xmlns:a="http://schemas.openxmlformats.org/drawingml/2006/main">
              <a:ext uri="{FF2B5EF4-FFF2-40B4-BE49-F238E27FC236}">
                <a16:creationId xmlns:a16="http://schemas.microsoft.com/office/drawing/2014/main" id="{ECA9F9AA-D472-45C8-A31B-0D137D32F118}"/>
              </a:ext>
            </a:extLst>
          </p:cNvPr>
          <p:cNvSpPr>
            <a:spLocks xmlns:a="http://schemas.openxmlformats.org/drawingml/2006/main" noGrp="1"/>
          </p:cNvSpPr>
          <p:nvPr/>
        </p:nvSpPr>
        <p:spPr>
          <a:xfrm xmlns:a="http://schemas.openxmlformats.org/drawingml/2006/main">
            <a:off x="619125" y="5505450"/>
            <a:ext cx="10963275" cy="9525"/>
          </a:xfrm>
          <a:prstGeom xmlns:a="http://schemas.openxmlformats.org/drawingml/2006/main" prst="rect">
            <a:avLst/>
          </a:prstGeom>
          <a:solidFill xmlns:a="http://schemas.openxmlformats.org/drawingml/2006/main">
            <a:srgbClr val="D2DFE5"/>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FC210D7A-B17B-4BBA-B60B-783FBFC78815}"/>
              </a:ext>
            </a:extLst>
          </p:cNvPr>
          <p:cNvSpPr>
            <a:spLocks xmlns:a="http://schemas.openxmlformats.org/drawingml/2006/main" noGrp="1"/>
          </p:cNvSpPr>
          <p:nvPr/>
        </p:nvSpPr>
        <p:spPr>
          <a:xfrm xmlns:a="http://schemas.openxmlformats.org/drawingml/2006/main">
            <a:off x="619125" y="5591175"/>
            <a:ext cx="30956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142D38"/>
                </a:solidFill>
                <a:latin typeface="Optimistic VF Medium"/>
                <a:ea typeface="Optimistic VF Medium"/>
                <a:cs typeface="Optimistic VF Medium"/>
              </a:defRPr>
            </a:defPPr>
            <a:lvl1pPr>
              <a:defRPr sz="1875" b="0">
                <a:solidFill>
                  <a:srgbClr val="142D38"/>
                </a:solidFill>
                <a:latin typeface="Optimistic VF Medium"/>
                <a:ea typeface="Optimistic VF Medium"/>
                <a:cs typeface="Optimistic VF Medium"/>
              </a:defRPr>
            </a:lvl1pPr>
            <a:lvl2pPr>
              <a:defRPr sz="1875" b="0">
                <a:solidFill>
                  <a:srgbClr val="142D38"/>
                </a:solidFill>
                <a:latin typeface="Optimistic VF Medium"/>
                <a:ea typeface="Optimistic VF Medium"/>
                <a:cs typeface="Optimistic VF Medium"/>
              </a:defRPr>
            </a:lvl2pPr>
            <a:lvl3pPr>
              <a:defRPr sz="1875" b="0">
                <a:solidFill>
                  <a:srgbClr val="142D38"/>
                </a:solidFill>
                <a:latin typeface="Optimistic VF Medium"/>
                <a:ea typeface="Optimistic VF Medium"/>
                <a:cs typeface="Optimistic VF Medium"/>
              </a:defRPr>
            </a:lvl3pPr>
            <a:lvl4pPr>
              <a:defRPr sz="1875" b="0">
                <a:solidFill>
                  <a:srgbClr val="142D38"/>
                </a:solidFill>
                <a:latin typeface="Optimistic VF Medium"/>
                <a:ea typeface="Optimistic VF Medium"/>
                <a:cs typeface="Optimistic VF Medium"/>
              </a:defRPr>
            </a:lvl4pPr>
            <a:lvl5pPr>
              <a:defRPr sz="1875" b="0">
                <a:solidFill>
                  <a:srgbClr val="142D38"/>
                </a:solidFill>
                <a:latin typeface="Optimistic VF Medium"/>
                <a:ea typeface="Optimistic VF Medium"/>
                <a:cs typeface="Optimistic VF Medium"/>
              </a:defRPr>
            </a:lvl5pPr>
            <a:lvl6pPr>
              <a:defRPr sz="1875" b="0">
                <a:solidFill>
                  <a:srgbClr val="142D38"/>
                </a:solidFill>
                <a:latin typeface="Optimistic VF Medium"/>
                <a:ea typeface="Optimistic VF Medium"/>
                <a:cs typeface="Optimistic VF Medium"/>
              </a:defRPr>
            </a:lvl6pPr>
            <a:lvl7pPr>
              <a:defRPr sz="1875" b="0">
                <a:solidFill>
                  <a:srgbClr val="142D38"/>
                </a:solidFill>
                <a:latin typeface="Optimistic VF Medium"/>
                <a:ea typeface="Optimistic VF Medium"/>
                <a:cs typeface="Optimistic VF Medium"/>
              </a:defRPr>
            </a:lvl7pPr>
            <a:lvl8pPr>
              <a:defRPr sz="1875" b="0">
                <a:solidFill>
                  <a:srgbClr val="142D38"/>
                </a:solidFill>
                <a:latin typeface="Optimistic VF Medium"/>
                <a:ea typeface="Optimistic VF Medium"/>
                <a:cs typeface="Optimistic VF Medium"/>
              </a:defRPr>
            </a:lvl8pPr>
            <a:lvl9pPr>
              <a:defRPr sz="1875" b="0">
                <a:solidFill>
                  <a:srgbClr val="142D38"/>
                </a:solidFill>
                <a:latin typeface="Optimistic VF Medium"/>
                <a:ea typeface="Optimistic VF Medium"/>
                <a:cs typeface="Optimistic VF Medium"/>
              </a:defRPr>
            </a:lvl9pPr>
          </a:lstStyle>
          <a:p xmlns:a="http://schemas.openxmlformats.org/drawingml/2006/main">
            <a:pPr>
              <a:defRPr sz="1875" b="0">
                <a:solidFill>
                  <a:srgbClr val="142D38"/>
                </a:solidFill>
                <a:latin typeface="Optimistic VF Medium"/>
                <a:ea typeface="Optimistic VF Medium"/>
                <a:cs typeface="Optimistic VF Medium"/>
              </a:defRPr>
            </a:pPr>
            <a:r>
              <a:rPr sz="1875" b="0">
                <a:solidFill>
                  <a:srgbClr val="142D38"/>
                </a:solidFill>
                <a:latin typeface="Optimistic VF Medium"/>
                <a:ea typeface="Optimistic VF Medium"/>
                <a:cs typeface="Optimistic VF Medium"/>
              </a:rPr>
              <a:t>Connect with people</a:t>
            </a:r>
          </a:p>
        </p:txBody>
      </p:sp>
      <p:sp>
        <p:nvSpPr>
          <p:cNvPr id="18" name="">
            <a:extLst xmlns:a="http://schemas.openxmlformats.org/drawingml/2006/main">
              <a:ext uri="{FF2B5EF4-FFF2-40B4-BE49-F238E27FC236}">
                <a16:creationId xmlns:a16="http://schemas.microsoft.com/office/drawing/2014/main" id="{397C0D35-2D16-4137-9606-B2B61CE8113E}"/>
              </a:ext>
            </a:extLst>
          </p:cNvPr>
          <p:cNvSpPr>
            <a:spLocks xmlns:a="http://schemas.openxmlformats.org/drawingml/2006/main" noGrp="1"/>
          </p:cNvSpPr>
          <p:nvPr/>
        </p:nvSpPr>
        <p:spPr>
          <a:xfrm xmlns:a="http://schemas.openxmlformats.org/drawingml/2006/main">
            <a:off x="4000500" y="5591175"/>
            <a:ext cx="75819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142D38"/>
                </a:solidFill>
                <a:latin typeface="Optimistic VF"/>
                <a:ea typeface="Optimistic VF"/>
                <a:cs typeface="Optimistic VF"/>
              </a:defRPr>
            </a:defPPr>
            <a:lvl1pPr>
              <a:defRPr sz="1875" b="0">
                <a:solidFill>
                  <a:srgbClr val="142D38"/>
                </a:solidFill>
                <a:latin typeface="Optimistic VF"/>
                <a:ea typeface="Optimistic VF"/>
                <a:cs typeface="Optimistic VF"/>
              </a:defRPr>
            </a:lvl1pPr>
            <a:lvl2pPr>
              <a:defRPr sz="1875" b="0">
                <a:solidFill>
                  <a:srgbClr val="142D38"/>
                </a:solidFill>
                <a:latin typeface="Optimistic VF"/>
                <a:ea typeface="Optimistic VF"/>
                <a:cs typeface="Optimistic VF"/>
              </a:defRPr>
            </a:lvl2pPr>
            <a:lvl3pPr>
              <a:defRPr sz="1875" b="0">
                <a:solidFill>
                  <a:srgbClr val="142D38"/>
                </a:solidFill>
                <a:latin typeface="Optimistic VF"/>
                <a:ea typeface="Optimistic VF"/>
                <a:cs typeface="Optimistic VF"/>
              </a:defRPr>
            </a:lvl3pPr>
            <a:lvl4pPr>
              <a:defRPr sz="1875" b="0">
                <a:solidFill>
                  <a:srgbClr val="142D38"/>
                </a:solidFill>
                <a:latin typeface="Optimistic VF"/>
                <a:ea typeface="Optimistic VF"/>
                <a:cs typeface="Optimistic VF"/>
              </a:defRPr>
            </a:lvl4pPr>
            <a:lvl5pPr>
              <a:defRPr sz="1875" b="0">
                <a:solidFill>
                  <a:srgbClr val="142D38"/>
                </a:solidFill>
                <a:latin typeface="Optimistic VF"/>
                <a:ea typeface="Optimistic VF"/>
                <a:cs typeface="Optimistic VF"/>
              </a:defRPr>
            </a:lvl5pPr>
            <a:lvl6pPr>
              <a:defRPr sz="1875" b="0">
                <a:solidFill>
                  <a:srgbClr val="142D38"/>
                </a:solidFill>
                <a:latin typeface="Optimistic VF"/>
                <a:ea typeface="Optimistic VF"/>
                <a:cs typeface="Optimistic VF"/>
              </a:defRPr>
            </a:lvl6pPr>
            <a:lvl7pPr>
              <a:defRPr sz="1875" b="0">
                <a:solidFill>
                  <a:srgbClr val="142D38"/>
                </a:solidFill>
                <a:latin typeface="Optimistic VF"/>
                <a:ea typeface="Optimistic VF"/>
                <a:cs typeface="Optimistic VF"/>
              </a:defRPr>
            </a:lvl7pPr>
            <a:lvl8pPr>
              <a:defRPr sz="1875" b="0">
                <a:solidFill>
                  <a:srgbClr val="142D38"/>
                </a:solidFill>
                <a:latin typeface="Optimistic VF"/>
                <a:ea typeface="Optimistic VF"/>
                <a:cs typeface="Optimistic VF"/>
              </a:defRPr>
            </a:lvl8pPr>
            <a:lvl9pPr>
              <a:defRPr sz="1875" b="0">
                <a:solidFill>
                  <a:srgbClr val="142D38"/>
                </a:solidFill>
                <a:latin typeface="Optimistic VF"/>
                <a:ea typeface="Optimistic VF"/>
                <a:cs typeface="Optimistic VF"/>
              </a:defRPr>
            </a:lvl9pPr>
          </a:lstStyle>
          <a:p xmlns:a="http://schemas.openxmlformats.org/drawingml/2006/main">
            <a:pPr>
              <a:defRPr sz="1875" b="0">
                <a:solidFill>
                  <a:srgbClr val="142D38"/>
                </a:solidFill>
                <a:latin typeface="Optimistic VF"/>
                <a:ea typeface="Optimistic VF"/>
                <a:cs typeface="Optimistic VF"/>
              </a:defRPr>
            </a:pPr>
            <a:r>
              <a:rPr sz="1875" b="0">
                <a:solidFill>
                  <a:srgbClr val="142D38"/>
                </a:solidFill>
                <a:latin typeface="Optimistic VF"/>
                <a:ea typeface="Optimistic VF"/>
                <a:cs typeface="Optimistic VF"/>
              </a:rPr>
              <a:t>Next, we want to suggest people who share your interests and favorite places, if you’re open to it.</a:t>
            </a:r>
          </a:p>
        </p:txBody>
      </p:sp>
      <p:sp>
        <p:nvSpPr>
          <p:cNvPr id="19" name="">
            <a:extLst xmlns:a="http://schemas.openxmlformats.org/drawingml/2006/main">
              <a:ext uri="{FF2B5EF4-FFF2-40B4-BE49-F238E27FC236}">
                <a16:creationId xmlns:a16="http://schemas.microsoft.com/office/drawing/2014/main" id="{BFEF5782-4F00-4CF6-946D-D12FD06A3846}"/>
              </a:ext>
            </a:extLst>
          </p:cNvPr>
          <p:cNvSpPr>
            <a:spLocks xmlns:a="http://schemas.openxmlformats.org/drawingml/2006/main" noGrp="1"/>
          </p:cNvSpPr>
          <p:nvPr/>
        </p:nvSpPr>
        <p:spPr>
          <a:xfrm xmlns:a="http://schemas.openxmlformats.org/drawingml/2006/main">
            <a:off x="647700" y="6486525"/>
            <a:ext cx="10858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4C6571"/>
                </a:solidFill>
                <a:latin typeface="Optimistic VF"/>
                <a:ea typeface="Optimistic VF"/>
                <a:cs typeface="Optimistic VF"/>
              </a:defRPr>
            </a:defPPr>
            <a:lvl1pPr>
              <a:defRPr sz="1275" b="0">
                <a:solidFill>
                  <a:srgbClr val="4C6571"/>
                </a:solidFill>
                <a:latin typeface="Optimistic VF"/>
                <a:ea typeface="Optimistic VF"/>
                <a:cs typeface="Optimistic VF"/>
              </a:defRPr>
            </a:lvl1pPr>
            <a:lvl2pPr>
              <a:defRPr sz="1275" b="0">
                <a:solidFill>
                  <a:srgbClr val="4C6571"/>
                </a:solidFill>
                <a:latin typeface="Optimistic VF"/>
                <a:ea typeface="Optimistic VF"/>
                <a:cs typeface="Optimistic VF"/>
              </a:defRPr>
            </a:lvl2pPr>
            <a:lvl3pPr>
              <a:defRPr sz="1275" b="0">
                <a:solidFill>
                  <a:srgbClr val="4C6571"/>
                </a:solidFill>
                <a:latin typeface="Optimistic VF"/>
                <a:ea typeface="Optimistic VF"/>
                <a:cs typeface="Optimistic VF"/>
              </a:defRPr>
            </a:lvl3pPr>
            <a:lvl4pPr>
              <a:defRPr sz="1275" b="0">
                <a:solidFill>
                  <a:srgbClr val="4C6571"/>
                </a:solidFill>
                <a:latin typeface="Optimistic VF"/>
                <a:ea typeface="Optimistic VF"/>
                <a:cs typeface="Optimistic VF"/>
              </a:defRPr>
            </a:lvl4pPr>
            <a:lvl5pPr>
              <a:defRPr sz="1275" b="0">
                <a:solidFill>
                  <a:srgbClr val="4C6571"/>
                </a:solidFill>
                <a:latin typeface="Optimistic VF"/>
                <a:ea typeface="Optimistic VF"/>
                <a:cs typeface="Optimistic VF"/>
              </a:defRPr>
            </a:lvl5pPr>
            <a:lvl6pPr>
              <a:defRPr sz="1275" b="0">
                <a:solidFill>
                  <a:srgbClr val="4C6571"/>
                </a:solidFill>
                <a:latin typeface="Optimistic VF"/>
                <a:ea typeface="Optimistic VF"/>
                <a:cs typeface="Optimistic VF"/>
              </a:defRPr>
            </a:lvl6pPr>
            <a:lvl7pPr>
              <a:defRPr sz="1275" b="0">
                <a:solidFill>
                  <a:srgbClr val="4C6571"/>
                </a:solidFill>
                <a:latin typeface="Optimistic VF"/>
                <a:ea typeface="Optimistic VF"/>
                <a:cs typeface="Optimistic VF"/>
              </a:defRPr>
            </a:lvl7pPr>
            <a:lvl8pPr>
              <a:defRPr sz="1275" b="0">
                <a:solidFill>
                  <a:srgbClr val="4C6571"/>
                </a:solidFill>
                <a:latin typeface="Optimistic VF"/>
                <a:ea typeface="Optimistic VF"/>
                <a:cs typeface="Optimistic VF"/>
              </a:defRPr>
            </a:lvl8pPr>
            <a:lvl9pPr>
              <a:defRPr sz="1275" b="0">
                <a:solidFill>
                  <a:srgbClr val="4C6571"/>
                </a:solidFill>
                <a:latin typeface="Optimistic VF"/>
                <a:ea typeface="Optimistic VF"/>
                <a:cs typeface="Optimistic VF"/>
              </a:defRPr>
            </a:lvl9pPr>
          </a:lstStyle>
          <a:p xmlns:a="http://schemas.openxmlformats.org/drawingml/2006/main">
            <a:pPr>
              <a:defRPr sz="1275" b="0">
                <a:solidFill>
                  <a:srgbClr val="4C6571"/>
                </a:solidFill>
                <a:latin typeface="Optimistic VF"/>
                <a:ea typeface="Optimistic VF"/>
                <a:cs typeface="Optimistic VF"/>
              </a:defRPr>
            </a:pPr>
            <a:r>
              <a:rPr sz="1275" b="0">
                <a:solidFill>
                  <a:srgbClr val="4C6571"/>
                </a:solidFill>
                <a:latin typeface="Optimistic VF"/>
                <a:ea typeface="Optimistic VF"/>
                <a:cs typeface="Optimistic VF"/>
              </a:rPr>
              <a:t>Our Instagram-style screen is just a demo mock. Glasses support and recommendations are still planned.</a:t>
            </a:r>
          </a:p>
        </p:txBody>
      </p:sp>
    </p:spTree>
    <p:extLst>
      <p:ext uri="{BB962C8B-B14F-4D97-AF65-F5344CB8AC3E}">
        <p14:creationId xmlns:p14="http://schemas.microsoft.com/office/powerpoint/2010/main" val="1148639898"/>
      </p:ext>
    </p:extLst>
  </p:cSld>
</p:sld>
</file>

<file path=ppt/slides/slide9.xml><?xml version="1.0" encoding="utf-8"?>
<p:sld xmlns:p="http://schemas.openxmlformats.org/presentationml/2006/main" show="0">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A360BFFC-4B87-46BD-A139-71F4B82E98DF}"/>
              </a:ext>
            </a:extLst>
          </p:cNvPr>
          <p:cNvSpPr>
            <a:spLocks xmlns:a="http://schemas.openxmlformats.org/drawingml/2006/main" noGrp="1"/>
          </p:cNvSpPr>
          <p:nvPr/>
        </p:nvSpPr>
        <p:spPr>
          <a:xfrm xmlns:a="http://schemas.openxmlformats.org/drawingml/2006/main">
            <a:off x="609600" y="361950"/>
            <a:ext cx="7620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0866FF"/>
                </a:solidFill>
                <a:latin typeface="Optimistic VF Medium"/>
                <a:ea typeface="Optimistic VF Medium"/>
                <a:cs typeface="Optimistic VF Medium"/>
              </a:defRPr>
            </a:defPPr>
            <a:lvl1pPr>
              <a:defRPr sz="1350" b="0">
                <a:solidFill>
                  <a:srgbClr val="0866FF"/>
                </a:solidFill>
                <a:latin typeface="Optimistic VF Medium"/>
                <a:ea typeface="Optimistic VF Medium"/>
                <a:cs typeface="Optimistic VF Medium"/>
              </a:defRPr>
            </a:lvl1pPr>
            <a:lvl2pPr>
              <a:defRPr sz="1350" b="0">
                <a:solidFill>
                  <a:srgbClr val="0866FF"/>
                </a:solidFill>
                <a:latin typeface="Optimistic VF Medium"/>
                <a:ea typeface="Optimistic VF Medium"/>
                <a:cs typeface="Optimistic VF Medium"/>
              </a:defRPr>
            </a:lvl2pPr>
            <a:lvl3pPr>
              <a:defRPr sz="1350" b="0">
                <a:solidFill>
                  <a:srgbClr val="0866FF"/>
                </a:solidFill>
                <a:latin typeface="Optimistic VF Medium"/>
                <a:ea typeface="Optimistic VF Medium"/>
                <a:cs typeface="Optimistic VF Medium"/>
              </a:defRPr>
            </a:lvl3pPr>
            <a:lvl4pPr>
              <a:defRPr sz="1350" b="0">
                <a:solidFill>
                  <a:srgbClr val="0866FF"/>
                </a:solidFill>
                <a:latin typeface="Optimistic VF Medium"/>
                <a:ea typeface="Optimistic VF Medium"/>
                <a:cs typeface="Optimistic VF Medium"/>
              </a:defRPr>
            </a:lvl4pPr>
            <a:lvl5pPr>
              <a:defRPr sz="1350" b="0">
                <a:solidFill>
                  <a:srgbClr val="0866FF"/>
                </a:solidFill>
                <a:latin typeface="Optimistic VF Medium"/>
                <a:ea typeface="Optimistic VF Medium"/>
                <a:cs typeface="Optimistic VF Medium"/>
              </a:defRPr>
            </a:lvl5pPr>
            <a:lvl6pPr>
              <a:defRPr sz="1350" b="0">
                <a:solidFill>
                  <a:srgbClr val="0866FF"/>
                </a:solidFill>
                <a:latin typeface="Optimistic VF Medium"/>
                <a:ea typeface="Optimistic VF Medium"/>
                <a:cs typeface="Optimistic VF Medium"/>
              </a:defRPr>
            </a:lvl6pPr>
            <a:lvl7pPr>
              <a:defRPr sz="1350" b="0">
                <a:solidFill>
                  <a:srgbClr val="0866FF"/>
                </a:solidFill>
                <a:latin typeface="Optimistic VF Medium"/>
                <a:ea typeface="Optimistic VF Medium"/>
                <a:cs typeface="Optimistic VF Medium"/>
              </a:defRPr>
            </a:lvl7pPr>
            <a:lvl8pPr>
              <a:defRPr sz="1350" b="0">
                <a:solidFill>
                  <a:srgbClr val="0866FF"/>
                </a:solidFill>
                <a:latin typeface="Optimistic VF Medium"/>
                <a:ea typeface="Optimistic VF Medium"/>
                <a:cs typeface="Optimistic VF Medium"/>
              </a:defRPr>
            </a:lvl8pPr>
            <a:lvl9pPr>
              <a:defRPr sz="1350" b="0">
                <a:solidFill>
                  <a:srgbClr val="0866FF"/>
                </a:solidFill>
                <a:latin typeface="Optimistic VF Medium"/>
                <a:ea typeface="Optimistic VF Medium"/>
                <a:cs typeface="Optimistic VF Medium"/>
              </a:defRPr>
            </a:lvl9pPr>
          </a:lstStyle>
          <a:p xmlns:a="http://schemas.openxmlformats.org/drawingml/2006/main">
            <a:pPr>
              <a:defRPr sz="1350" b="0">
                <a:solidFill>
                  <a:srgbClr val="0866FF"/>
                </a:solidFill>
                <a:latin typeface="Optimistic VF Medium"/>
                <a:ea typeface="Optimistic VF Medium"/>
                <a:cs typeface="Optimistic VF Medium"/>
              </a:defRPr>
            </a:pPr>
            <a:r>
              <a:rPr sz="1350" b="0">
                <a:solidFill>
                  <a:srgbClr val="0866FF"/>
                </a:solidFill>
                <a:latin typeface="Optimistic VF Medium"/>
                <a:ea typeface="Optimistic VF Medium"/>
                <a:cs typeface="Optimistic VF Medium"/>
              </a:rPr>
              <a:t>RESEARCH &amp; Q&amp;A</a:t>
            </a:r>
          </a:p>
        </p:txBody>
      </p:sp>
      <p:sp>
        <p:nvSpPr>
          <p:cNvPr id="3" name="">
            <a:extLst xmlns:a="http://schemas.openxmlformats.org/drawingml/2006/main">
              <a:ext uri="{FF2B5EF4-FFF2-40B4-BE49-F238E27FC236}">
                <a16:creationId xmlns:a16="http://schemas.microsoft.com/office/drawing/2014/main" id="{85D453EB-7F82-4FAE-AC52-26C9C4965117}"/>
              </a:ext>
            </a:extLst>
          </p:cNvPr>
          <p:cNvSpPr>
            <a:spLocks xmlns:a="http://schemas.openxmlformats.org/drawingml/2006/main" noGrp="1"/>
          </p:cNvSpPr>
          <p:nvPr/>
        </p:nvSpPr>
        <p:spPr>
          <a:xfrm xmlns:a="http://schemas.openxmlformats.org/drawingml/2006/main">
            <a:off x="609600" y="923925"/>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0">
                <a:solidFill>
                  <a:srgbClr val="142D38"/>
                </a:solidFill>
                <a:latin typeface="Optimistic VF Medium"/>
                <a:ea typeface="Optimistic VF Medium"/>
                <a:cs typeface="Optimistic VF Medium"/>
              </a:defRPr>
            </a:defPPr>
            <a:lvl1pPr>
              <a:defRPr sz="3600" b="0">
                <a:solidFill>
                  <a:srgbClr val="142D38"/>
                </a:solidFill>
                <a:latin typeface="Optimistic VF Medium"/>
                <a:ea typeface="Optimistic VF Medium"/>
                <a:cs typeface="Optimistic VF Medium"/>
              </a:defRPr>
            </a:lvl1pPr>
            <a:lvl2pPr>
              <a:defRPr sz="3600" b="0">
                <a:solidFill>
                  <a:srgbClr val="142D38"/>
                </a:solidFill>
                <a:latin typeface="Optimistic VF Medium"/>
                <a:ea typeface="Optimistic VF Medium"/>
                <a:cs typeface="Optimistic VF Medium"/>
              </a:defRPr>
            </a:lvl2pPr>
            <a:lvl3pPr>
              <a:defRPr sz="3600" b="0">
                <a:solidFill>
                  <a:srgbClr val="142D38"/>
                </a:solidFill>
                <a:latin typeface="Optimistic VF Medium"/>
                <a:ea typeface="Optimistic VF Medium"/>
                <a:cs typeface="Optimistic VF Medium"/>
              </a:defRPr>
            </a:lvl3pPr>
            <a:lvl4pPr>
              <a:defRPr sz="3600" b="0">
                <a:solidFill>
                  <a:srgbClr val="142D38"/>
                </a:solidFill>
                <a:latin typeface="Optimistic VF Medium"/>
                <a:ea typeface="Optimistic VF Medium"/>
                <a:cs typeface="Optimistic VF Medium"/>
              </a:defRPr>
            </a:lvl4pPr>
            <a:lvl5pPr>
              <a:defRPr sz="3600" b="0">
                <a:solidFill>
                  <a:srgbClr val="142D38"/>
                </a:solidFill>
                <a:latin typeface="Optimistic VF Medium"/>
                <a:ea typeface="Optimistic VF Medium"/>
                <a:cs typeface="Optimistic VF Medium"/>
              </a:defRPr>
            </a:lvl5pPr>
            <a:lvl6pPr>
              <a:defRPr sz="3600" b="0">
                <a:solidFill>
                  <a:srgbClr val="142D38"/>
                </a:solidFill>
                <a:latin typeface="Optimistic VF Medium"/>
                <a:ea typeface="Optimistic VF Medium"/>
                <a:cs typeface="Optimistic VF Medium"/>
              </a:defRPr>
            </a:lvl6pPr>
            <a:lvl7pPr>
              <a:defRPr sz="3600" b="0">
                <a:solidFill>
                  <a:srgbClr val="142D38"/>
                </a:solidFill>
                <a:latin typeface="Optimistic VF Medium"/>
                <a:ea typeface="Optimistic VF Medium"/>
                <a:cs typeface="Optimistic VF Medium"/>
              </a:defRPr>
            </a:lvl7pPr>
            <a:lvl8pPr>
              <a:defRPr sz="3600" b="0">
                <a:solidFill>
                  <a:srgbClr val="142D38"/>
                </a:solidFill>
                <a:latin typeface="Optimistic VF Medium"/>
                <a:ea typeface="Optimistic VF Medium"/>
                <a:cs typeface="Optimistic VF Medium"/>
              </a:defRPr>
            </a:lvl8pPr>
            <a:lvl9pPr>
              <a:defRPr sz="3600" b="0">
                <a:solidFill>
                  <a:srgbClr val="142D38"/>
                </a:solidFill>
                <a:latin typeface="Optimistic VF Medium"/>
                <a:ea typeface="Optimistic VF Medium"/>
                <a:cs typeface="Optimistic VF Medium"/>
              </a:defRPr>
            </a:lvl9pPr>
          </a:lstStyle>
          <a:p xmlns:a="http://schemas.openxmlformats.org/drawingml/2006/main">
            <a:pPr>
              <a:defRPr sz="3600" b="0">
                <a:solidFill>
                  <a:srgbClr val="142D38"/>
                </a:solidFill>
                <a:latin typeface="Optimistic VF Medium"/>
                <a:ea typeface="Optimistic VF Medium"/>
                <a:cs typeface="Optimistic VF Medium"/>
              </a:defRPr>
            </a:pPr>
            <a:r>
              <a:rPr sz="3600" b="0">
                <a:solidFill>
                  <a:srgbClr val="142D38"/>
                </a:solidFill>
                <a:latin typeface="Optimistic VF Medium"/>
                <a:ea typeface="Optimistic VF Medium"/>
                <a:cs typeface="Optimistic VF Medium"/>
              </a:rPr>
              <a:t>Research behind our pilot</a:t>
            </a:r>
          </a:p>
        </p:txBody>
      </p:sp>
      <p:sp>
        <p:nvSpPr>
          <p:cNvPr id="4" name="">
            <a:extLst xmlns:a="http://schemas.openxmlformats.org/drawingml/2006/main">
              <a:ext uri="{FF2B5EF4-FFF2-40B4-BE49-F238E27FC236}">
                <a16:creationId xmlns:a16="http://schemas.microsoft.com/office/drawing/2014/main" id="{AC1AE94D-9F13-46AC-B4D5-F41534FF85C3}"/>
              </a:ext>
            </a:extLst>
          </p:cNvPr>
          <p:cNvSpPr>
            <a:spLocks xmlns:a="http://schemas.openxmlformats.org/drawingml/2006/main" noGrp="1"/>
          </p:cNvSpPr>
          <p:nvPr/>
        </p:nvSpPr>
        <p:spPr>
          <a:xfrm xmlns:a="http://schemas.openxmlformats.org/drawingml/2006/main">
            <a:off x="609600" y="2076450"/>
            <a:ext cx="50482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6525" b="0">
                <a:solidFill>
                  <a:srgbClr val="0866FF"/>
                </a:solidFill>
                <a:latin typeface="Optimistic VF Medium"/>
                <a:ea typeface="Optimistic VF Medium"/>
                <a:cs typeface="Optimistic VF Medium"/>
              </a:defRPr>
            </a:defPPr>
            <a:lvl1pPr>
              <a:defRPr sz="6525" b="0">
                <a:solidFill>
                  <a:srgbClr val="0866FF"/>
                </a:solidFill>
                <a:latin typeface="Optimistic VF Medium"/>
                <a:ea typeface="Optimistic VF Medium"/>
                <a:cs typeface="Optimistic VF Medium"/>
              </a:defRPr>
            </a:lvl1pPr>
            <a:lvl2pPr>
              <a:defRPr sz="6525" b="0">
                <a:solidFill>
                  <a:srgbClr val="0866FF"/>
                </a:solidFill>
                <a:latin typeface="Optimistic VF Medium"/>
                <a:ea typeface="Optimistic VF Medium"/>
                <a:cs typeface="Optimistic VF Medium"/>
              </a:defRPr>
            </a:lvl2pPr>
            <a:lvl3pPr>
              <a:defRPr sz="6525" b="0">
                <a:solidFill>
                  <a:srgbClr val="0866FF"/>
                </a:solidFill>
                <a:latin typeface="Optimistic VF Medium"/>
                <a:ea typeface="Optimistic VF Medium"/>
                <a:cs typeface="Optimistic VF Medium"/>
              </a:defRPr>
            </a:lvl3pPr>
            <a:lvl4pPr>
              <a:defRPr sz="6525" b="0">
                <a:solidFill>
                  <a:srgbClr val="0866FF"/>
                </a:solidFill>
                <a:latin typeface="Optimistic VF Medium"/>
                <a:ea typeface="Optimistic VF Medium"/>
                <a:cs typeface="Optimistic VF Medium"/>
              </a:defRPr>
            </a:lvl4pPr>
            <a:lvl5pPr>
              <a:defRPr sz="6525" b="0">
                <a:solidFill>
                  <a:srgbClr val="0866FF"/>
                </a:solidFill>
                <a:latin typeface="Optimistic VF Medium"/>
                <a:ea typeface="Optimistic VF Medium"/>
                <a:cs typeface="Optimistic VF Medium"/>
              </a:defRPr>
            </a:lvl5pPr>
            <a:lvl6pPr>
              <a:defRPr sz="6525" b="0">
                <a:solidFill>
                  <a:srgbClr val="0866FF"/>
                </a:solidFill>
                <a:latin typeface="Optimistic VF Medium"/>
                <a:ea typeface="Optimistic VF Medium"/>
                <a:cs typeface="Optimistic VF Medium"/>
              </a:defRPr>
            </a:lvl6pPr>
            <a:lvl7pPr>
              <a:defRPr sz="6525" b="0">
                <a:solidFill>
                  <a:srgbClr val="0866FF"/>
                </a:solidFill>
                <a:latin typeface="Optimistic VF Medium"/>
                <a:ea typeface="Optimistic VF Medium"/>
                <a:cs typeface="Optimistic VF Medium"/>
              </a:defRPr>
            </a:lvl7pPr>
            <a:lvl8pPr>
              <a:defRPr sz="6525" b="0">
                <a:solidFill>
                  <a:srgbClr val="0866FF"/>
                </a:solidFill>
                <a:latin typeface="Optimistic VF Medium"/>
                <a:ea typeface="Optimistic VF Medium"/>
                <a:cs typeface="Optimistic VF Medium"/>
              </a:defRPr>
            </a:lvl8pPr>
            <a:lvl9pPr>
              <a:defRPr sz="6525" b="0">
                <a:solidFill>
                  <a:srgbClr val="0866FF"/>
                </a:solidFill>
                <a:latin typeface="Optimistic VF Medium"/>
                <a:ea typeface="Optimistic VF Medium"/>
                <a:cs typeface="Optimistic VF Medium"/>
              </a:defRPr>
            </a:lvl9pPr>
          </a:lstStyle>
          <a:p xmlns:a="http://schemas.openxmlformats.org/drawingml/2006/main">
            <a:pPr>
              <a:defRPr sz="6525" b="0">
                <a:solidFill>
                  <a:srgbClr val="0866FF"/>
                </a:solidFill>
                <a:latin typeface="Optimistic VF Medium"/>
                <a:ea typeface="Optimistic VF Medium"/>
                <a:cs typeface="Optimistic VF Medium"/>
              </a:defRPr>
            </a:pPr>
            <a:r>
              <a:rPr sz="6525" b="0">
                <a:solidFill>
                  <a:srgbClr val="0866FF"/>
                </a:solidFill>
                <a:latin typeface="Optimistic VF Medium"/>
                <a:ea typeface="Optimistic VF Medium"/>
                <a:cs typeface="Optimistic VF Medium"/>
              </a:rPr>
              <a:t>About 70%</a:t>
            </a:r>
          </a:p>
        </p:txBody>
      </p:sp>
      <p:sp>
        <p:nvSpPr>
          <p:cNvPr id="5" name="">
            <a:extLst xmlns:a="http://schemas.openxmlformats.org/drawingml/2006/main">
              <a:ext uri="{FF2B5EF4-FFF2-40B4-BE49-F238E27FC236}">
                <a16:creationId xmlns:a16="http://schemas.microsoft.com/office/drawing/2014/main" id="{E894BDFF-8D8B-4D83-8D19-CF60F63A5555}"/>
              </a:ext>
            </a:extLst>
          </p:cNvPr>
          <p:cNvSpPr>
            <a:spLocks xmlns:a="http://schemas.openxmlformats.org/drawingml/2006/main" noGrp="1"/>
          </p:cNvSpPr>
          <p:nvPr/>
        </p:nvSpPr>
        <p:spPr>
          <a:xfrm xmlns:a="http://schemas.openxmlformats.org/drawingml/2006/main">
            <a:off x="647700" y="3238500"/>
            <a:ext cx="4953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142D38"/>
                </a:solidFill>
                <a:latin typeface="Optimistic VF"/>
                <a:ea typeface="Optimistic VF"/>
                <a:cs typeface="Optimistic VF"/>
              </a:defRPr>
            </a:defPPr>
            <a:lvl1pPr>
              <a:defRPr sz="1875" b="0">
                <a:solidFill>
                  <a:srgbClr val="142D38"/>
                </a:solidFill>
                <a:latin typeface="Optimistic VF"/>
                <a:ea typeface="Optimistic VF"/>
                <a:cs typeface="Optimistic VF"/>
              </a:defRPr>
            </a:lvl1pPr>
            <a:lvl2pPr>
              <a:defRPr sz="1875" b="0">
                <a:solidFill>
                  <a:srgbClr val="142D38"/>
                </a:solidFill>
                <a:latin typeface="Optimistic VF"/>
                <a:ea typeface="Optimistic VF"/>
                <a:cs typeface="Optimistic VF"/>
              </a:defRPr>
            </a:lvl2pPr>
            <a:lvl3pPr>
              <a:defRPr sz="1875" b="0">
                <a:solidFill>
                  <a:srgbClr val="142D38"/>
                </a:solidFill>
                <a:latin typeface="Optimistic VF"/>
                <a:ea typeface="Optimistic VF"/>
                <a:cs typeface="Optimistic VF"/>
              </a:defRPr>
            </a:lvl3pPr>
            <a:lvl4pPr>
              <a:defRPr sz="1875" b="0">
                <a:solidFill>
                  <a:srgbClr val="142D38"/>
                </a:solidFill>
                <a:latin typeface="Optimistic VF"/>
                <a:ea typeface="Optimistic VF"/>
                <a:cs typeface="Optimistic VF"/>
              </a:defRPr>
            </a:lvl4pPr>
            <a:lvl5pPr>
              <a:defRPr sz="1875" b="0">
                <a:solidFill>
                  <a:srgbClr val="142D38"/>
                </a:solidFill>
                <a:latin typeface="Optimistic VF"/>
                <a:ea typeface="Optimistic VF"/>
                <a:cs typeface="Optimistic VF"/>
              </a:defRPr>
            </a:lvl5pPr>
            <a:lvl6pPr>
              <a:defRPr sz="1875" b="0">
                <a:solidFill>
                  <a:srgbClr val="142D38"/>
                </a:solidFill>
                <a:latin typeface="Optimistic VF"/>
                <a:ea typeface="Optimistic VF"/>
                <a:cs typeface="Optimistic VF"/>
              </a:defRPr>
            </a:lvl6pPr>
            <a:lvl7pPr>
              <a:defRPr sz="1875" b="0">
                <a:solidFill>
                  <a:srgbClr val="142D38"/>
                </a:solidFill>
                <a:latin typeface="Optimistic VF"/>
                <a:ea typeface="Optimistic VF"/>
                <a:cs typeface="Optimistic VF"/>
              </a:defRPr>
            </a:lvl7pPr>
            <a:lvl8pPr>
              <a:defRPr sz="1875" b="0">
                <a:solidFill>
                  <a:srgbClr val="142D38"/>
                </a:solidFill>
                <a:latin typeface="Optimistic VF"/>
                <a:ea typeface="Optimistic VF"/>
                <a:cs typeface="Optimistic VF"/>
              </a:defRPr>
            </a:lvl8pPr>
            <a:lvl9pPr>
              <a:defRPr sz="1875" b="0">
                <a:solidFill>
                  <a:srgbClr val="142D38"/>
                </a:solidFill>
                <a:latin typeface="Optimistic VF"/>
                <a:ea typeface="Optimistic VF"/>
                <a:cs typeface="Optimistic VF"/>
              </a:defRPr>
            </a:lvl9pPr>
          </a:lstStyle>
          <a:p xmlns:a="http://schemas.openxmlformats.org/drawingml/2006/main">
            <a:pPr>
              <a:defRPr sz="1875" b="0">
                <a:solidFill>
                  <a:srgbClr val="142D38"/>
                </a:solidFill>
                <a:latin typeface="Optimistic VF"/>
                <a:ea typeface="Optimistic VF"/>
                <a:cs typeface="Optimistic VF"/>
              </a:defRPr>
            </a:pPr>
            <a:r>
              <a:rPr sz="1875" b="0">
                <a:solidFill>
                  <a:srgbClr val="142D38"/>
                </a:solidFill>
                <a:latin typeface="Optimistic VF"/>
                <a:ea typeface="Optimistic VF"/>
                <a:cs typeface="Optimistic VF"/>
              </a:rPr>
              <a:t>of respondents said they felt socially connected.</a:t>
            </a:r>
          </a:p>
        </p:txBody>
      </p:sp>
      <p:sp>
        <p:nvSpPr>
          <p:cNvPr id="6" name="">
            <a:extLst xmlns:a="http://schemas.openxmlformats.org/drawingml/2006/main">
              <a:ext uri="{FF2B5EF4-FFF2-40B4-BE49-F238E27FC236}">
                <a16:creationId xmlns:a16="http://schemas.microsoft.com/office/drawing/2014/main" id="{89BA28B3-4A0B-4E67-91BD-156987BC828E}"/>
              </a:ext>
            </a:extLst>
          </p:cNvPr>
          <p:cNvSpPr>
            <a:spLocks xmlns:a="http://schemas.openxmlformats.org/drawingml/2006/main" noGrp="1"/>
          </p:cNvSpPr>
          <p:nvPr/>
        </p:nvSpPr>
        <p:spPr>
          <a:xfrm xmlns:a="http://schemas.openxmlformats.org/drawingml/2006/main">
            <a:off x="609600" y="4057650"/>
            <a:ext cx="50482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6525" b="0">
                <a:solidFill>
                  <a:srgbClr val="0866FF"/>
                </a:solidFill>
                <a:latin typeface="Optimistic VF Medium"/>
                <a:ea typeface="Optimistic VF Medium"/>
                <a:cs typeface="Optimistic VF Medium"/>
              </a:defRPr>
            </a:defPPr>
            <a:lvl1pPr>
              <a:defRPr sz="6525" b="0">
                <a:solidFill>
                  <a:srgbClr val="0866FF"/>
                </a:solidFill>
                <a:latin typeface="Optimistic VF Medium"/>
                <a:ea typeface="Optimistic VF Medium"/>
                <a:cs typeface="Optimistic VF Medium"/>
              </a:defRPr>
            </a:lvl1pPr>
            <a:lvl2pPr>
              <a:defRPr sz="6525" b="0">
                <a:solidFill>
                  <a:srgbClr val="0866FF"/>
                </a:solidFill>
                <a:latin typeface="Optimistic VF Medium"/>
                <a:ea typeface="Optimistic VF Medium"/>
                <a:cs typeface="Optimistic VF Medium"/>
              </a:defRPr>
            </a:lvl2pPr>
            <a:lvl3pPr>
              <a:defRPr sz="6525" b="0">
                <a:solidFill>
                  <a:srgbClr val="0866FF"/>
                </a:solidFill>
                <a:latin typeface="Optimistic VF Medium"/>
                <a:ea typeface="Optimistic VF Medium"/>
                <a:cs typeface="Optimistic VF Medium"/>
              </a:defRPr>
            </a:lvl3pPr>
            <a:lvl4pPr>
              <a:defRPr sz="6525" b="0">
                <a:solidFill>
                  <a:srgbClr val="0866FF"/>
                </a:solidFill>
                <a:latin typeface="Optimistic VF Medium"/>
                <a:ea typeface="Optimistic VF Medium"/>
                <a:cs typeface="Optimistic VF Medium"/>
              </a:defRPr>
            </a:lvl4pPr>
            <a:lvl5pPr>
              <a:defRPr sz="6525" b="0">
                <a:solidFill>
                  <a:srgbClr val="0866FF"/>
                </a:solidFill>
                <a:latin typeface="Optimistic VF Medium"/>
                <a:ea typeface="Optimistic VF Medium"/>
                <a:cs typeface="Optimistic VF Medium"/>
              </a:defRPr>
            </a:lvl5pPr>
            <a:lvl6pPr>
              <a:defRPr sz="6525" b="0">
                <a:solidFill>
                  <a:srgbClr val="0866FF"/>
                </a:solidFill>
                <a:latin typeface="Optimistic VF Medium"/>
                <a:ea typeface="Optimistic VF Medium"/>
                <a:cs typeface="Optimistic VF Medium"/>
              </a:defRPr>
            </a:lvl6pPr>
            <a:lvl7pPr>
              <a:defRPr sz="6525" b="0">
                <a:solidFill>
                  <a:srgbClr val="0866FF"/>
                </a:solidFill>
                <a:latin typeface="Optimistic VF Medium"/>
                <a:ea typeface="Optimistic VF Medium"/>
                <a:cs typeface="Optimistic VF Medium"/>
              </a:defRPr>
            </a:lvl7pPr>
            <a:lvl8pPr>
              <a:defRPr sz="6525" b="0">
                <a:solidFill>
                  <a:srgbClr val="0866FF"/>
                </a:solidFill>
                <a:latin typeface="Optimistic VF Medium"/>
                <a:ea typeface="Optimistic VF Medium"/>
                <a:cs typeface="Optimistic VF Medium"/>
              </a:defRPr>
            </a:lvl8pPr>
            <a:lvl9pPr>
              <a:defRPr sz="6525" b="0">
                <a:solidFill>
                  <a:srgbClr val="0866FF"/>
                </a:solidFill>
                <a:latin typeface="Optimistic VF Medium"/>
                <a:ea typeface="Optimistic VF Medium"/>
                <a:cs typeface="Optimistic VF Medium"/>
              </a:defRPr>
            </a:lvl9pPr>
          </a:lstStyle>
          <a:p xmlns:a="http://schemas.openxmlformats.org/drawingml/2006/main">
            <a:pPr>
              <a:defRPr sz="6525" b="0">
                <a:solidFill>
                  <a:srgbClr val="0866FF"/>
                </a:solidFill>
                <a:latin typeface="Optimistic VF Medium"/>
                <a:ea typeface="Optimistic VF Medium"/>
                <a:cs typeface="Optimistic VF Medium"/>
              </a:defRPr>
            </a:pPr>
            <a:r>
              <a:rPr sz="6525" b="0">
                <a:solidFill>
                  <a:srgbClr val="0866FF"/>
                </a:solidFill>
                <a:latin typeface="Optimistic VF Medium"/>
                <a:ea typeface="Optimistic VF Medium"/>
                <a:cs typeface="Optimistic VF Medium"/>
              </a:rPr>
              <a:t>About 25%</a:t>
            </a:r>
          </a:p>
        </p:txBody>
      </p:sp>
      <p:sp>
        <p:nvSpPr>
          <p:cNvPr id="7" name="">
            <a:extLst xmlns:a="http://schemas.openxmlformats.org/drawingml/2006/main">
              <a:ext uri="{FF2B5EF4-FFF2-40B4-BE49-F238E27FC236}">
                <a16:creationId xmlns:a16="http://schemas.microsoft.com/office/drawing/2014/main" id="{D7C4B7D2-8D9B-4017-921E-90B986C84492}"/>
              </a:ext>
            </a:extLst>
          </p:cNvPr>
          <p:cNvSpPr>
            <a:spLocks xmlns:a="http://schemas.openxmlformats.org/drawingml/2006/main" noGrp="1"/>
          </p:cNvSpPr>
          <p:nvPr/>
        </p:nvSpPr>
        <p:spPr>
          <a:xfrm xmlns:a="http://schemas.openxmlformats.org/drawingml/2006/main">
            <a:off x="647700" y="5229225"/>
            <a:ext cx="4953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142D38"/>
                </a:solidFill>
                <a:latin typeface="Optimistic VF"/>
                <a:ea typeface="Optimistic VF"/>
                <a:cs typeface="Optimistic VF"/>
              </a:defRPr>
            </a:defPPr>
            <a:lvl1pPr>
              <a:defRPr sz="1875" b="0">
                <a:solidFill>
                  <a:srgbClr val="142D38"/>
                </a:solidFill>
                <a:latin typeface="Optimistic VF"/>
                <a:ea typeface="Optimistic VF"/>
                <a:cs typeface="Optimistic VF"/>
              </a:defRPr>
            </a:lvl1pPr>
            <a:lvl2pPr>
              <a:defRPr sz="1875" b="0">
                <a:solidFill>
                  <a:srgbClr val="142D38"/>
                </a:solidFill>
                <a:latin typeface="Optimistic VF"/>
                <a:ea typeface="Optimistic VF"/>
                <a:cs typeface="Optimistic VF"/>
              </a:defRPr>
            </a:lvl2pPr>
            <a:lvl3pPr>
              <a:defRPr sz="1875" b="0">
                <a:solidFill>
                  <a:srgbClr val="142D38"/>
                </a:solidFill>
                <a:latin typeface="Optimistic VF"/>
                <a:ea typeface="Optimistic VF"/>
                <a:cs typeface="Optimistic VF"/>
              </a:defRPr>
            </a:lvl3pPr>
            <a:lvl4pPr>
              <a:defRPr sz="1875" b="0">
                <a:solidFill>
                  <a:srgbClr val="142D38"/>
                </a:solidFill>
                <a:latin typeface="Optimistic VF"/>
                <a:ea typeface="Optimistic VF"/>
                <a:cs typeface="Optimistic VF"/>
              </a:defRPr>
            </a:lvl4pPr>
            <a:lvl5pPr>
              <a:defRPr sz="1875" b="0">
                <a:solidFill>
                  <a:srgbClr val="142D38"/>
                </a:solidFill>
                <a:latin typeface="Optimistic VF"/>
                <a:ea typeface="Optimistic VF"/>
                <a:cs typeface="Optimistic VF"/>
              </a:defRPr>
            </a:lvl5pPr>
            <a:lvl6pPr>
              <a:defRPr sz="1875" b="0">
                <a:solidFill>
                  <a:srgbClr val="142D38"/>
                </a:solidFill>
                <a:latin typeface="Optimistic VF"/>
                <a:ea typeface="Optimistic VF"/>
                <a:cs typeface="Optimistic VF"/>
              </a:defRPr>
            </a:lvl6pPr>
            <a:lvl7pPr>
              <a:defRPr sz="1875" b="0">
                <a:solidFill>
                  <a:srgbClr val="142D38"/>
                </a:solidFill>
                <a:latin typeface="Optimistic VF"/>
                <a:ea typeface="Optimistic VF"/>
                <a:cs typeface="Optimistic VF"/>
              </a:defRPr>
            </a:lvl7pPr>
            <a:lvl8pPr>
              <a:defRPr sz="1875" b="0">
                <a:solidFill>
                  <a:srgbClr val="142D38"/>
                </a:solidFill>
                <a:latin typeface="Optimistic VF"/>
                <a:ea typeface="Optimistic VF"/>
                <a:cs typeface="Optimistic VF"/>
              </a:defRPr>
            </a:lvl8pPr>
            <a:lvl9pPr>
              <a:defRPr sz="1875" b="0">
                <a:solidFill>
                  <a:srgbClr val="142D38"/>
                </a:solidFill>
                <a:latin typeface="Optimistic VF"/>
                <a:ea typeface="Optimistic VF"/>
                <a:cs typeface="Optimistic VF"/>
              </a:defRPr>
            </a:lvl9pPr>
          </a:lstStyle>
          <a:p xmlns:a="http://schemas.openxmlformats.org/drawingml/2006/main">
            <a:pPr>
              <a:defRPr sz="1875" b="0">
                <a:solidFill>
                  <a:srgbClr val="142D38"/>
                </a:solidFill>
                <a:latin typeface="Optimistic VF"/>
                <a:ea typeface="Optimistic VF"/>
                <a:cs typeface="Optimistic VF"/>
              </a:defRPr>
            </a:pPr>
            <a:r>
              <a:rPr sz="1875" b="0">
                <a:solidFill>
                  <a:srgbClr val="142D38"/>
                </a:solidFill>
                <a:latin typeface="Optimistic VF"/>
                <a:ea typeface="Optimistic VF"/>
                <a:cs typeface="Optimistic VF"/>
              </a:rPr>
              <a:t>of respondents said they felt lonely.</a:t>
            </a:r>
          </a:p>
        </p:txBody>
      </p:sp>
      <p:sp>
        <p:nvSpPr>
          <p:cNvPr id="8" name="">
            <a:extLst xmlns:a="http://schemas.openxmlformats.org/drawingml/2006/main">
              <a:ext uri="{FF2B5EF4-FFF2-40B4-BE49-F238E27FC236}">
                <a16:creationId xmlns:a16="http://schemas.microsoft.com/office/drawing/2014/main" id="{F6A0CA89-13D5-4136-B8BF-05C0532C5D1A}"/>
              </a:ext>
            </a:extLst>
          </p:cNvPr>
          <p:cNvSpPr>
            <a:spLocks xmlns:a="http://schemas.openxmlformats.org/drawingml/2006/main" noGrp="1"/>
          </p:cNvSpPr>
          <p:nvPr/>
        </p:nvSpPr>
        <p:spPr>
          <a:xfrm xmlns:a="http://schemas.openxmlformats.org/drawingml/2006/main">
            <a:off x="5724525" y="2162175"/>
            <a:ext cx="5838825"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75" b="0">
                <a:solidFill>
                  <a:srgbClr val="142D38"/>
                </a:solidFill>
                <a:latin typeface="Optimistic VF Medium"/>
                <a:ea typeface="Optimistic VF Medium"/>
                <a:cs typeface="Optimistic VF Medium"/>
              </a:defRPr>
            </a:defPPr>
            <a:lvl1pPr>
              <a:defRPr sz="2475" b="0">
                <a:solidFill>
                  <a:srgbClr val="142D38"/>
                </a:solidFill>
                <a:latin typeface="Optimistic VF Medium"/>
                <a:ea typeface="Optimistic VF Medium"/>
                <a:cs typeface="Optimistic VF Medium"/>
              </a:defRPr>
            </a:lvl1pPr>
            <a:lvl2pPr>
              <a:defRPr sz="2475" b="0">
                <a:solidFill>
                  <a:srgbClr val="142D38"/>
                </a:solidFill>
                <a:latin typeface="Optimistic VF Medium"/>
                <a:ea typeface="Optimistic VF Medium"/>
                <a:cs typeface="Optimistic VF Medium"/>
              </a:defRPr>
            </a:lvl2pPr>
            <a:lvl3pPr>
              <a:defRPr sz="2475" b="0">
                <a:solidFill>
                  <a:srgbClr val="142D38"/>
                </a:solidFill>
                <a:latin typeface="Optimistic VF Medium"/>
                <a:ea typeface="Optimistic VF Medium"/>
                <a:cs typeface="Optimistic VF Medium"/>
              </a:defRPr>
            </a:lvl3pPr>
            <a:lvl4pPr>
              <a:defRPr sz="2475" b="0">
                <a:solidFill>
                  <a:srgbClr val="142D38"/>
                </a:solidFill>
                <a:latin typeface="Optimistic VF Medium"/>
                <a:ea typeface="Optimistic VF Medium"/>
                <a:cs typeface="Optimistic VF Medium"/>
              </a:defRPr>
            </a:lvl4pPr>
            <a:lvl5pPr>
              <a:defRPr sz="2475" b="0">
                <a:solidFill>
                  <a:srgbClr val="142D38"/>
                </a:solidFill>
                <a:latin typeface="Optimistic VF Medium"/>
                <a:ea typeface="Optimistic VF Medium"/>
                <a:cs typeface="Optimistic VF Medium"/>
              </a:defRPr>
            </a:lvl5pPr>
            <a:lvl6pPr>
              <a:defRPr sz="2475" b="0">
                <a:solidFill>
                  <a:srgbClr val="142D38"/>
                </a:solidFill>
                <a:latin typeface="Optimistic VF Medium"/>
                <a:ea typeface="Optimistic VF Medium"/>
                <a:cs typeface="Optimistic VF Medium"/>
              </a:defRPr>
            </a:lvl6pPr>
            <a:lvl7pPr>
              <a:defRPr sz="2475" b="0">
                <a:solidFill>
                  <a:srgbClr val="142D38"/>
                </a:solidFill>
                <a:latin typeface="Optimistic VF Medium"/>
                <a:ea typeface="Optimistic VF Medium"/>
                <a:cs typeface="Optimistic VF Medium"/>
              </a:defRPr>
            </a:lvl7pPr>
            <a:lvl8pPr>
              <a:defRPr sz="2475" b="0">
                <a:solidFill>
                  <a:srgbClr val="142D38"/>
                </a:solidFill>
                <a:latin typeface="Optimistic VF Medium"/>
                <a:ea typeface="Optimistic VF Medium"/>
                <a:cs typeface="Optimistic VF Medium"/>
              </a:defRPr>
            </a:lvl8pPr>
            <a:lvl9pPr>
              <a:defRPr sz="2475" b="0">
                <a:solidFill>
                  <a:srgbClr val="142D38"/>
                </a:solidFill>
                <a:latin typeface="Optimistic VF Medium"/>
                <a:ea typeface="Optimistic VF Medium"/>
                <a:cs typeface="Optimistic VF Medium"/>
              </a:defRPr>
            </a:lvl9pPr>
          </a:lstStyle>
          <a:p xmlns:a="http://schemas.openxmlformats.org/drawingml/2006/main">
            <a:pPr>
              <a:defRPr sz="2475" b="0">
                <a:solidFill>
                  <a:srgbClr val="142D38"/>
                </a:solidFill>
                <a:latin typeface="Optimistic VF Medium"/>
                <a:ea typeface="Optimistic VF Medium"/>
                <a:cs typeface="Optimistic VF Medium"/>
              </a:defRPr>
            </a:pPr>
            <a:r>
              <a:rPr sz="2475" b="0">
                <a:solidFill>
                  <a:srgbClr val="142D38"/>
                </a:solidFill>
                <a:latin typeface="Optimistic VF Medium"/>
                <a:ea typeface="Optimistic VF Medium"/>
                <a:cs typeface="Optimistic VF Medium"/>
              </a:rPr>
              <a:t>The report found that some people felt both connected and lonely.</a:t>
            </a:r>
          </a:p>
        </p:txBody>
      </p:sp>
      <p:sp>
        <p:nvSpPr>
          <p:cNvPr id="9" name="">
            <a:extLst xmlns:a="http://schemas.openxmlformats.org/drawingml/2006/main">
              <a:ext uri="{FF2B5EF4-FFF2-40B4-BE49-F238E27FC236}">
                <a16:creationId xmlns:a16="http://schemas.microsoft.com/office/drawing/2014/main" id="{131EBA93-DF0D-48BA-9A67-5F2E58875DCC}"/>
              </a:ext>
            </a:extLst>
          </p:cNvPr>
          <p:cNvSpPr>
            <a:spLocks xmlns:a="http://schemas.openxmlformats.org/drawingml/2006/main" noGrp="1"/>
          </p:cNvSpPr>
          <p:nvPr/>
        </p:nvSpPr>
        <p:spPr>
          <a:xfrm xmlns:a="http://schemas.openxmlformats.org/drawingml/2006/main">
            <a:off x="5724525" y="3267075"/>
            <a:ext cx="583882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4C6571"/>
                </a:solidFill>
                <a:latin typeface="Optimistic VF"/>
                <a:ea typeface="Optimistic VF"/>
                <a:cs typeface="Optimistic VF"/>
              </a:defRPr>
            </a:defPPr>
            <a:lvl1pPr>
              <a:defRPr sz="1725" b="0">
                <a:solidFill>
                  <a:srgbClr val="4C6571"/>
                </a:solidFill>
                <a:latin typeface="Optimistic VF"/>
                <a:ea typeface="Optimistic VF"/>
                <a:cs typeface="Optimistic VF"/>
              </a:defRPr>
            </a:lvl1pPr>
            <a:lvl2pPr>
              <a:defRPr sz="1725" b="0">
                <a:solidFill>
                  <a:srgbClr val="4C6571"/>
                </a:solidFill>
                <a:latin typeface="Optimistic VF"/>
                <a:ea typeface="Optimistic VF"/>
                <a:cs typeface="Optimistic VF"/>
              </a:defRPr>
            </a:lvl2pPr>
            <a:lvl3pPr>
              <a:defRPr sz="1725" b="0">
                <a:solidFill>
                  <a:srgbClr val="4C6571"/>
                </a:solidFill>
                <a:latin typeface="Optimistic VF"/>
                <a:ea typeface="Optimistic VF"/>
                <a:cs typeface="Optimistic VF"/>
              </a:defRPr>
            </a:lvl3pPr>
            <a:lvl4pPr>
              <a:defRPr sz="1725" b="0">
                <a:solidFill>
                  <a:srgbClr val="4C6571"/>
                </a:solidFill>
                <a:latin typeface="Optimistic VF"/>
                <a:ea typeface="Optimistic VF"/>
                <a:cs typeface="Optimistic VF"/>
              </a:defRPr>
            </a:lvl4pPr>
            <a:lvl5pPr>
              <a:defRPr sz="1725" b="0">
                <a:solidFill>
                  <a:srgbClr val="4C6571"/>
                </a:solidFill>
                <a:latin typeface="Optimistic VF"/>
                <a:ea typeface="Optimistic VF"/>
                <a:cs typeface="Optimistic VF"/>
              </a:defRPr>
            </a:lvl5pPr>
            <a:lvl6pPr>
              <a:defRPr sz="1725" b="0">
                <a:solidFill>
                  <a:srgbClr val="4C6571"/>
                </a:solidFill>
                <a:latin typeface="Optimistic VF"/>
                <a:ea typeface="Optimistic VF"/>
                <a:cs typeface="Optimistic VF"/>
              </a:defRPr>
            </a:lvl6pPr>
            <a:lvl7pPr>
              <a:defRPr sz="1725" b="0">
                <a:solidFill>
                  <a:srgbClr val="4C6571"/>
                </a:solidFill>
                <a:latin typeface="Optimistic VF"/>
                <a:ea typeface="Optimistic VF"/>
                <a:cs typeface="Optimistic VF"/>
              </a:defRPr>
            </a:lvl7pPr>
            <a:lvl8pPr>
              <a:defRPr sz="1725" b="0">
                <a:solidFill>
                  <a:srgbClr val="4C6571"/>
                </a:solidFill>
                <a:latin typeface="Optimistic VF"/>
                <a:ea typeface="Optimistic VF"/>
                <a:cs typeface="Optimistic VF"/>
              </a:defRPr>
            </a:lvl8pPr>
            <a:lvl9pPr>
              <a:defRPr sz="1725" b="0">
                <a:solidFill>
                  <a:srgbClr val="4C6571"/>
                </a:solidFill>
                <a:latin typeface="Optimistic VF"/>
                <a:ea typeface="Optimistic VF"/>
                <a:cs typeface="Optimistic VF"/>
              </a:defRPr>
            </a:lvl9pPr>
          </a:lstStyle>
          <a:p xmlns:a="http://schemas.openxmlformats.org/drawingml/2006/main">
            <a:pPr>
              <a:defRPr sz="1725" b="0">
                <a:solidFill>
                  <a:srgbClr val="4C6571"/>
                </a:solidFill>
                <a:latin typeface="Optimistic VF"/>
                <a:ea typeface="Optimistic VF"/>
                <a:cs typeface="Optimistic VF"/>
              </a:defRPr>
            </a:pPr>
            <a:r>
              <a:rPr sz="1725" b="0">
                <a:solidFill>
                  <a:srgbClr val="4C6571"/>
                </a:solidFill>
                <a:latin typeface="Optimistic VF"/>
                <a:ea typeface="Optimistic VF"/>
                <a:cs typeface="Optimistic VF"/>
              </a:rPr>
              <a:t>Meta–Gallup, 2023</a:t>
            </a:r>
          </a:p>
          <a:p xmlns:a="http://schemas.openxmlformats.org/drawingml/2006/main">
            <a:pPr>
              <a:defRPr sz="1725" b="0">
                <a:solidFill>
                  <a:srgbClr val="4C6571"/>
                </a:solidFill>
                <a:latin typeface="Optimistic VF"/>
                <a:ea typeface="Optimistic VF"/>
                <a:cs typeface="Optimistic VF"/>
              </a:defRPr>
            </a:pPr>
            <a:r>
              <a:rPr sz="1725" b="0">
                <a:solidFill>
                  <a:srgbClr val="4C6571"/>
                </a:solidFill>
                <a:latin typeface="Optimistic VF"/>
                <a:ea typeface="Optimistic VF"/>
                <a:cs typeface="Optimistic VF"/>
              </a:rPr>
              <a:t>These were separate survey questions.</a:t>
            </a:r>
          </a:p>
        </p:txBody>
      </p:sp>
      <p:sp>
        <p:nvSpPr>
          <p:cNvPr id="10" name="">
            <a:extLst xmlns:a="http://schemas.openxmlformats.org/drawingml/2006/main">
              <a:ext uri="{FF2B5EF4-FFF2-40B4-BE49-F238E27FC236}">
                <a16:creationId xmlns:a16="http://schemas.microsoft.com/office/drawing/2014/main" id="{C5EB9E4F-DD7F-4CDE-AD04-6C7F54526DD1}"/>
              </a:ext>
            </a:extLst>
          </p:cNvPr>
          <p:cNvSpPr>
            <a:spLocks xmlns:a="http://schemas.openxmlformats.org/drawingml/2006/main" noGrp="1"/>
          </p:cNvSpPr>
          <p:nvPr/>
        </p:nvSpPr>
        <p:spPr>
          <a:xfrm xmlns:a="http://schemas.openxmlformats.org/drawingml/2006/main">
            <a:off x="5724525" y="4314825"/>
            <a:ext cx="583882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142D38"/>
                </a:solidFill>
                <a:latin typeface="Optimistic VF"/>
                <a:ea typeface="Optimistic VF"/>
                <a:cs typeface="Optimistic VF"/>
              </a:defRPr>
            </a:defPPr>
            <a:lvl1pPr>
              <a:defRPr sz="2175" b="0">
                <a:solidFill>
                  <a:srgbClr val="142D38"/>
                </a:solidFill>
                <a:latin typeface="Optimistic VF"/>
                <a:ea typeface="Optimistic VF"/>
                <a:cs typeface="Optimistic VF"/>
              </a:defRPr>
            </a:lvl1pPr>
            <a:lvl2pPr>
              <a:defRPr sz="2175" b="0">
                <a:solidFill>
                  <a:srgbClr val="142D38"/>
                </a:solidFill>
                <a:latin typeface="Optimistic VF"/>
                <a:ea typeface="Optimistic VF"/>
                <a:cs typeface="Optimistic VF"/>
              </a:defRPr>
            </a:lvl2pPr>
            <a:lvl3pPr>
              <a:defRPr sz="2175" b="0">
                <a:solidFill>
                  <a:srgbClr val="142D38"/>
                </a:solidFill>
                <a:latin typeface="Optimistic VF"/>
                <a:ea typeface="Optimistic VF"/>
                <a:cs typeface="Optimistic VF"/>
              </a:defRPr>
            </a:lvl3pPr>
            <a:lvl4pPr>
              <a:defRPr sz="2175" b="0">
                <a:solidFill>
                  <a:srgbClr val="142D38"/>
                </a:solidFill>
                <a:latin typeface="Optimistic VF"/>
                <a:ea typeface="Optimistic VF"/>
                <a:cs typeface="Optimistic VF"/>
              </a:defRPr>
            </a:lvl4pPr>
            <a:lvl5pPr>
              <a:defRPr sz="2175" b="0">
                <a:solidFill>
                  <a:srgbClr val="142D38"/>
                </a:solidFill>
                <a:latin typeface="Optimistic VF"/>
                <a:ea typeface="Optimistic VF"/>
                <a:cs typeface="Optimistic VF"/>
              </a:defRPr>
            </a:lvl5pPr>
            <a:lvl6pPr>
              <a:defRPr sz="2175" b="0">
                <a:solidFill>
                  <a:srgbClr val="142D38"/>
                </a:solidFill>
                <a:latin typeface="Optimistic VF"/>
                <a:ea typeface="Optimistic VF"/>
                <a:cs typeface="Optimistic VF"/>
              </a:defRPr>
            </a:lvl6pPr>
            <a:lvl7pPr>
              <a:defRPr sz="2175" b="0">
                <a:solidFill>
                  <a:srgbClr val="142D38"/>
                </a:solidFill>
                <a:latin typeface="Optimistic VF"/>
                <a:ea typeface="Optimistic VF"/>
                <a:cs typeface="Optimistic VF"/>
              </a:defRPr>
            </a:lvl7pPr>
            <a:lvl8pPr>
              <a:defRPr sz="2175" b="0">
                <a:solidFill>
                  <a:srgbClr val="142D38"/>
                </a:solidFill>
                <a:latin typeface="Optimistic VF"/>
                <a:ea typeface="Optimistic VF"/>
                <a:cs typeface="Optimistic VF"/>
              </a:defRPr>
            </a:lvl8pPr>
            <a:lvl9pPr>
              <a:defRPr sz="2175" b="0">
                <a:solidFill>
                  <a:srgbClr val="142D38"/>
                </a:solidFill>
                <a:latin typeface="Optimistic VF"/>
                <a:ea typeface="Optimistic VF"/>
                <a:cs typeface="Optimistic VF"/>
              </a:defRPr>
            </a:lvl9pPr>
          </a:lstStyle>
          <a:p xmlns:a="http://schemas.openxmlformats.org/drawingml/2006/main">
            <a:pPr>
              <a:defRPr sz="2175" b="0">
                <a:solidFill>
                  <a:srgbClr val="142D38"/>
                </a:solidFill>
                <a:latin typeface="Optimistic VF"/>
                <a:ea typeface="Optimistic VF"/>
                <a:cs typeface="Optimistic VF"/>
              </a:defRPr>
            </a:pPr>
            <a:r>
              <a:rPr sz="2175" b="0">
                <a:solidFill>
                  <a:srgbClr val="142D38"/>
                </a:solidFill>
                <a:latin typeface="Optimistic VF"/>
                <a:ea typeface="Optimistic VF"/>
                <a:cs typeface="Optimistic VF"/>
              </a:rPr>
              <a:t>Commuters who were asked to talk with a stranger reported a better experience than those who sat alone.</a:t>
            </a:r>
          </a:p>
        </p:txBody>
      </p:sp>
      <p:sp>
        <p:nvSpPr>
          <p:cNvPr id="11" name="">
            <a:extLst xmlns:a="http://schemas.openxmlformats.org/drawingml/2006/main">
              <a:ext uri="{FF2B5EF4-FFF2-40B4-BE49-F238E27FC236}">
                <a16:creationId xmlns:a16="http://schemas.microsoft.com/office/drawing/2014/main" id="{01A7B89C-17EC-4BC4-9689-D9CECC7E301B}"/>
              </a:ext>
            </a:extLst>
          </p:cNvPr>
          <p:cNvSpPr>
            <a:spLocks xmlns:a="http://schemas.openxmlformats.org/drawingml/2006/main" noGrp="1"/>
          </p:cNvSpPr>
          <p:nvPr/>
        </p:nvSpPr>
        <p:spPr>
          <a:xfrm xmlns:a="http://schemas.openxmlformats.org/drawingml/2006/main">
            <a:off x="5724525" y="5581650"/>
            <a:ext cx="58388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0866FF"/>
                </a:solidFill>
                <a:latin typeface="Optimistic VF"/>
                <a:ea typeface="Optimistic VF"/>
                <a:cs typeface="Optimistic VF"/>
              </a:defRPr>
            </a:defPPr>
            <a:lvl1pPr>
              <a:defRPr sz="1425" b="0">
                <a:solidFill>
                  <a:srgbClr val="0866FF"/>
                </a:solidFill>
                <a:latin typeface="Optimistic VF"/>
                <a:ea typeface="Optimistic VF"/>
                <a:cs typeface="Optimistic VF"/>
              </a:defRPr>
            </a:lvl1pPr>
            <a:lvl2pPr>
              <a:defRPr sz="1425" b="0">
                <a:solidFill>
                  <a:srgbClr val="0866FF"/>
                </a:solidFill>
                <a:latin typeface="Optimistic VF"/>
                <a:ea typeface="Optimistic VF"/>
                <a:cs typeface="Optimistic VF"/>
              </a:defRPr>
            </a:lvl2pPr>
            <a:lvl3pPr>
              <a:defRPr sz="1425" b="0">
                <a:solidFill>
                  <a:srgbClr val="0866FF"/>
                </a:solidFill>
                <a:latin typeface="Optimistic VF"/>
                <a:ea typeface="Optimistic VF"/>
                <a:cs typeface="Optimistic VF"/>
              </a:defRPr>
            </a:lvl3pPr>
            <a:lvl4pPr>
              <a:defRPr sz="1425" b="0">
                <a:solidFill>
                  <a:srgbClr val="0866FF"/>
                </a:solidFill>
                <a:latin typeface="Optimistic VF"/>
                <a:ea typeface="Optimistic VF"/>
                <a:cs typeface="Optimistic VF"/>
              </a:defRPr>
            </a:lvl4pPr>
            <a:lvl5pPr>
              <a:defRPr sz="1425" b="0">
                <a:solidFill>
                  <a:srgbClr val="0866FF"/>
                </a:solidFill>
                <a:latin typeface="Optimistic VF"/>
                <a:ea typeface="Optimistic VF"/>
                <a:cs typeface="Optimistic VF"/>
              </a:defRPr>
            </a:lvl5pPr>
            <a:lvl6pPr>
              <a:defRPr sz="1425" b="0">
                <a:solidFill>
                  <a:srgbClr val="0866FF"/>
                </a:solidFill>
                <a:latin typeface="Optimistic VF"/>
                <a:ea typeface="Optimistic VF"/>
                <a:cs typeface="Optimistic VF"/>
              </a:defRPr>
            </a:lvl6pPr>
            <a:lvl7pPr>
              <a:defRPr sz="1425" b="0">
                <a:solidFill>
                  <a:srgbClr val="0866FF"/>
                </a:solidFill>
                <a:latin typeface="Optimistic VF"/>
                <a:ea typeface="Optimistic VF"/>
                <a:cs typeface="Optimistic VF"/>
              </a:defRPr>
            </a:lvl7pPr>
            <a:lvl8pPr>
              <a:defRPr sz="1425" b="0">
                <a:solidFill>
                  <a:srgbClr val="0866FF"/>
                </a:solidFill>
                <a:latin typeface="Optimistic VF"/>
                <a:ea typeface="Optimistic VF"/>
                <a:cs typeface="Optimistic VF"/>
              </a:defRPr>
            </a:lvl8pPr>
            <a:lvl9pPr>
              <a:defRPr sz="1425" b="0">
                <a:solidFill>
                  <a:srgbClr val="0866FF"/>
                </a:solidFill>
                <a:latin typeface="Optimistic VF"/>
                <a:ea typeface="Optimistic VF"/>
                <a:cs typeface="Optimistic VF"/>
              </a:defRPr>
            </a:lvl9pPr>
          </a:lstStyle>
          <a:p xmlns:a="http://schemas.openxmlformats.org/drawingml/2006/main">
            <a:pPr>
              <a:defRPr sz="1425" b="0">
                <a:solidFill>
                  <a:srgbClr val="0866FF"/>
                </a:solidFill>
                <a:latin typeface="Optimistic VF"/>
                <a:ea typeface="Optimistic VF"/>
                <a:cs typeface="Optimistic VF"/>
              </a:defRPr>
            </a:pPr>
            <a:r>
              <a:rPr sz="1425" b="0">
                <a:solidFill>
                  <a:srgbClr val="0866FF"/>
                </a:solidFill>
                <a:latin typeface="Optimistic VF"/>
                <a:ea typeface="Optimistic VF"/>
                <a:cs typeface="Optimistic VF"/>
              </a:rPr>
              <a:t>Epley &amp; Schroeder, 2014</a:t>
            </a:r>
          </a:p>
        </p:txBody>
      </p:sp>
      <p:sp>
        <p:nvSpPr>
          <p:cNvPr id="12" name="">
            <a:extLst xmlns:a="http://schemas.openxmlformats.org/drawingml/2006/main">
              <a:ext uri="{FF2B5EF4-FFF2-40B4-BE49-F238E27FC236}">
                <a16:creationId xmlns:a16="http://schemas.microsoft.com/office/drawing/2014/main" id="{763537B6-C771-488F-8714-412A90A573CA}"/>
              </a:ext>
            </a:extLst>
          </p:cNvPr>
          <p:cNvSpPr>
            <a:spLocks xmlns:a="http://schemas.openxmlformats.org/drawingml/2006/main" noGrp="1"/>
          </p:cNvSpPr>
          <p:nvPr/>
        </p:nvSpPr>
        <p:spPr>
          <a:xfrm xmlns:a="http://schemas.openxmlformats.org/drawingml/2006/main">
            <a:off x="647700" y="6096000"/>
            <a:ext cx="10858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4C6571"/>
                </a:solidFill>
                <a:latin typeface="Optimistic VF"/>
                <a:ea typeface="Optimistic VF"/>
                <a:cs typeface="Optimistic VF"/>
              </a:defRPr>
            </a:defPPr>
            <a:lvl1pPr>
              <a:defRPr sz="1350" b="0">
                <a:solidFill>
                  <a:srgbClr val="4C6571"/>
                </a:solidFill>
                <a:latin typeface="Optimistic VF"/>
                <a:ea typeface="Optimistic VF"/>
                <a:cs typeface="Optimistic VF"/>
              </a:defRPr>
            </a:lvl1pPr>
            <a:lvl2pPr>
              <a:defRPr sz="1350" b="0">
                <a:solidFill>
                  <a:srgbClr val="4C6571"/>
                </a:solidFill>
                <a:latin typeface="Optimistic VF"/>
                <a:ea typeface="Optimistic VF"/>
                <a:cs typeface="Optimistic VF"/>
              </a:defRPr>
            </a:lvl2pPr>
            <a:lvl3pPr>
              <a:defRPr sz="1350" b="0">
                <a:solidFill>
                  <a:srgbClr val="4C6571"/>
                </a:solidFill>
                <a:latin typeface="Optimistic VF"/>
                <a:ea typeface="Optimistic VF"/>
                <a:cs typeface="Optimistic VF"/>
              </a:defRPr>
            </a:lvl3pPr>
            <a:lvl4pPr>
              <a:defRPr sz="1350" b="0">
                <a:solidFill>
                  <a:srgbClr val="4C6571"/>
                </a:solidFill>
                <a:latin typeface="Optimistic VF"/>
                <a:ea typeface="Optimistic VF"/>
                <a:cs typeface="Optimistic VF"/>
              </a:defRPr>
            </a:lvl4pPr>
            <a:lvl5pPr>
              <a:defRPr sz="1350" b="0">
                <a:solidFill>
                  <a:srgbClr val="4C6571"/>
                </a:solidFill>
                <a:latin typeface="Optimistic VF"/>
                <a:ea typeface="Optimistic VF"/>
                <a:cs typeface="Optimistic VF"/>
              </a:defRPr>
            </a:lvl5pPr>
            <a:lvl6pPr>
              <a:defRPr sz="1350" b="0">
                <a:solidFill>
                  <a:srgbClr val="4C6571"/>
                </a:solidFill>
                <a:latin typeface="Optimistic VF"/>
                <a:ea typeface="Optimistic VF"/>
                <a:cs typeface="Optimistic VF"/>
              </a:defRPr>
            </a:lvl6pPr>
            <a:lvl7pPr>
              <a:defRPr sz="1350" b="0">
                <a:solidFill>
                  <a:srgbClr val="4C6571"/>
                </a:solidFill>
                <a:latin typeface="Optimistic VF"/>
                <a:ea typeface="Optimistic VF"/>
                <a:cs typeface="Optimistic VF"/>
              </a:defRPr>
            </a:lvl7pPr>
            <a:lvl8pPr>
              <a:defRPr sz="1350" b="0">
                <a:solidFill>
                  <a:srgbClr val="4C6571"/>
                </a:solidFill>
                <a:latin typeface="Optimistic VF"/>
                <a:ea typeface="Optimistic VF"/>
                <a:cs typeface="Optimistic VF"/>
              </a:defRPr>
            </a:lvl8pPr>
            <a:lvl9pPr>
              <a:defRPr sz="1350" b="0">
                <a:solidFill>
                  <a:srgbClr val="4C6571"/>
                </a:solidFill>
                <a:latin typeface="Optimistic VF"/>
                <a:ea typeface="Optimistic VF"/>
                <a:cs typeface="Optimistic VF"/>
              </a:defRPr>
            </a:lvl9pPr>
          </a:lstStyle>
          <a:p xmlns:a="http://schemas.openxmlformats.org/drawingml/2006/main">
            <a:pPr>
              <a:defRPr sz="1350" b="0">
                <a:solidFill>
                  <a:srgbClr val="4C6571"/>
                </a:solidFill>
                <a:latin typeface="Optimistic VF"/>
                <a:ea typeface="Optimistic VF"/>
                <a:cs typeface="Optimistic VF"/>
              </a:defRPr>
            </a:pPr>
            <a:r>
              <a:rPr sz="1350" b="0">
                <a:solidFill>
                  <a:srgbClr val="4C6571"/>
                </a:solidFill>
                <a:latin typeface="Optimistic VF"/>
                <a:ea typeface="Optimistic VF"/>
                <a:cs typeface="Optimistic VF"/>
              </a:rPr>
              <a:t>Exact figures: 72% felt very/fairly connected and 24% felt very/fairly lonely.</a:t>
            </a:r>
          </a:p>
        </p:txBody>
      </p:sp>
      <p:sp>
        <p:nvSpPr>
          <p:cNvPr id="13" name="">
            <a:extLst xmlns:a="http://schemas.openxmlformats.org/drawingml/2006/main">
              <a:ext uri="{FF2B5EF4-FFF2-40B4-BE49-F238E27FC236}">
                <a16:creationId xmlns:a16="http://schemas.microsoft.com/office/drawing/2014/main" id="{5E3B4751-2801-4A69-957D-3F1DCDFB083C}"/>
              </a:ext>
            </a:extLst>
          </p:cNvPr>
          <p:cNvSpPr>
            <a:spLocks xmlns:a="http://schemas.openxmlformats.org/drawingml/2006/main" noGrp="1"/>
          </p:cNvSpPr>
          <p:nvPr/>
        </p:nvSpPr>
        <p:spPr>
          <a:xfrm xmlns:a="http://schemas.openxmlformats.org/drawingml/2006/main">
            <a:off x="647700" y="6457950"/>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4C6571"/>
                </a:solidFill>
                <a:latin typeface="Optimistic VF"/>
                <a:ea typeface="Optimistic VF"/>
                <a:cs typeface="Optimistic VF"/>
              </a:defRPr>
            </a:defPPr>
            <a:lvl1pPr>
              <a:defRPr sz="1275" b="0">
                <a:solidFill>
                  <a:srgbClr val="4C6571"/>
                </a:solidFill>
                <a:latin typeface="Optimistic VF"/>
                <a:ea typeface="Optimistic VF"/>
                <a:cs typeface="Optimistic VF"/>
              </a:defRPr>
            </a:lvl1pPr>
            <a:lvl2pPr>
              <a:defRPr sz="1275" b="0">
                <a:solidFill>
                  <a:srgbClr val="4C6571"/>
                </a:solidFill>
                <a:latin typeface="Optimistic VF"/>
                <a:ea typeface="Optimistic VF"/>
                <a:cs typeface="Optimistic VF"/>
              </a:defRPr>
            </a:lvl2pPr>
            <a:lvl3pPr>
              <a:defRPr sz="1275" b="0">
                <a:solidFill>
                  <a:srgbClr val="4C6571"/>
                </a:solidFill>
                <a:latin typeface="Optimistic VF"/>
                <a:ea typeface="Optimistic VF"/>
                <a:cs typeface="Optimistic VF"/>
              </a:defRPr>
            </a:lvl3pPr>
            <a:lvl4pPr>
              <a:defRPr sz="1275" b="0">
                <a:solidFill>
                  <a:srgbClr val="4C6571"/>
                </a:solidFill>
                <a:latin typeface="Optimistic VF"/>
                <a:ea typeface="Optimistic VF"/>
                <a:cs typeface="Optimistic VF"/>
              </a:defRPr>
            </a:lvl4pPr>
            <a:lvl5pPr>
              <a:defRPr sz="1275" b="0">
                <a:solidFill>
                  <a:srgbClr val="4C6571"/>
                </a:solidFill>
                <a:latin typeface="Optimistic VF"/>
                <a:ea typeface="Optimistic VF"/>
                <a:cs typeface="Optimistic VF"/>
              </a:defRPr>
            </a:lvl5pPr>
            <a:lvl6pPr>
              <a:defRPr sz="1275" b="0">
                <a:solidFill>
                  <a:srgbClr val="4C6571"/>
                </a:solidFill>
                <a:latin typeface="Optimistic VF"/>
                <a:ea typeface="Optimistic VF"/>
                <a:cs typeface="Optimistic VF"/>
              </a:defRPr>
            </a:lvl6pPr>
            <a:lvl7pPr>
              <a:defRPr sz="1275" b="0">
                <a:solidFill>
                  <a:srgbClr val="4C6571"/>
                </a:solidFill>
                <a:latin typeface="Optimistic VF"/>
                <a:ea typeface="Optimistic VF"/>
                <a:cs typeface="Optimistic VF"/>
              </a:defRPr>
            </a:lvl7pPr>
            <a:lvl8pPr>
              <a:defRPr sz="1275" b="0">
                <a:solidFill>
                  <a:srgbClr val="4C6571"/>
                </a:solidFill>
                <a:latin typeface="Optimistic VF"/>
                <a:ea typeface="Optimistic VF"/>
                <a:cs typeface="Optimistic VF"/>
              </a:defRPr>
            </a:lvl8pPr>
            <a:lvl9pPr>
              <a:defRPr sz="1275" b="0">
                <a:solidFill>
                  <a:srgbClr val="4C6571"/>
                </a:solidFill>
                <a:latin typeface="Optimistic VF"/>
                <a:ea typeface="Optimistic VF"/>
                <a:cs typeface="Optimistic VF"/>
              </a:defRPr>
            </a:lvl9pPr>
          </a:lstStyle>
          <a:p xmlns:a="http://schemas.openxmlformats.org/drawingml/2006/main">
            <a:pPr>
              <a:defRPr sz="1275" b="0">
                <a:solidFill>
                  <a:srgbClr val="4C6571"/>
                </a:solidFill>
                <a:latin typeface="Optimistic VF"/>
                <a:ea typeface="Optimistic VF"/>
                <a:cs typeface="Optimistic VF"/>
              </a:defRPr>
            </a:pPr>
            <a:r>
              <a:rPr sz="1275" b="0">
                <a:solidFill>
                  <a:srgbClr val="4C6571"/>
                </a:solidFill>
                <a:latin typeface="Optimistic VF"/>
                <a:ea typeface="Optimistic VF"/>
                <a:cs typeface="Optimistic VF"/>
              </a:rPr>
              <a:t>Neither study tested Spots, so these findings support a hypothesis rather than prove our product’s impact.</a:t>
            </a:r>
          </a:p>
        </p:txBody>
      </p:sp>
    </p:spTree>
    <p:extLst>
      <p:ext uri="{BB962C8B-B14F-4D97-AF65-F5344CB8AC3E}">
        <p14:creationId xmlns:p14="http://schemas.microsoft.com/office/powerpoint/2010/main" val="1714443565"/>
      </p:ext>
    </p:extLst>
  </p:cSld>
</p:sld>
</file>

<file path=ppt/slides/slide10.xml><?xml version="1.0" encoding="utf-8"?>
<p:sld xmlns:p="http://schemas.openxmlformats.org/presentationml/2006/main" show="0">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2952E810-C6C5-4FAD-906F-91757EB74827}"/>
              </a:ext>
            </a:extLst>
          </p:cNvPr>
          <p:cNvSpPr>
            <a:spLocks xmlns:a="http://schemas.openxmlformats.org/drawingml/2006/main" noGrp="1"/>
          </p:cNvSpPr>
          <p:nvPr/>
        </p:nvSpPr>
        <p:spPr>
          <a:xfrm xmlns:a="http://schemas.openxmlformats.org/drawingml/2006/main">
            <a:off x="609600" y="361950"/>
            <a:ext cx="7620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0866FF"/>
                </a:solidFill>
                <a:latin typeface="Optimistic VF Medium"/>
                <a:ea typeface="Optimistic VF Medium"/>
                <a:cs typeface="Optimistic VF Medium"/>
              </a:defRPr>
            </a:defPPr>
            <a:lvl1pPr>
              <a:defRPr sz="1350" b="0">
                <a:solidFill>
                  <a:srgbClr val="0866FF"/>
                </a:solidFill>
                <a:latin typeface="Optimistic VF Medium"/>
                <a:ea typeface="Optimistic VF Medium"/>
                <a:cs typeface="Optimistic VF Medium"/>
              </a:defRPr>
            </a:lvl1pPr>
            <a:lvl2pPr>
              <a:defRPr sz="1350" b="0">
                <a:solidFill>
                  <a:srgbClr val="0866FF"/>
                </a:solidFill>
                <a:latin typeface="Optimistic VF Medium"/>
                <a:ea typeface="Optimistic VF Medium"/>
                <a:cs typeface="Optimistic VF Medium"/>
              </a:defRPr>
            </a:lvl2pPr>
            <a:lvl3pPr>
              <a:defRPr sz="1350" b="0">
                <a:solidFill>
                  <a:srgbClr val="0866FF"/>
                </a:solidFill>
                <a:latin typeface="Optimistic VF Medium"/>
                <a:ea typeface="Optimistic VF Medium"/>
                <a:cs typeface="Optimistic VF Medium"/>
              </a:defRPr>
            </a:lvl3pPr>
            <a:lvl4pPr>
              <a:defRPr sz="1350" b="0">
                <a:solidFill>
                  <a:srgbClr val="0866FF"/>
                </a:solidFill>
                <a:latin typeface="Optimistic VF Medium"/>
                <a:ea typeface="Optimistic VF Medium"/>
                <a:cs typeface="Optimistic VF Medium"/>
              </a:defRPr>
            </a:lvl4pPr>
            <a:lvl5pPr>
              <a:defRPr sz="1350" b="0">
                <a:solidFill>
                  <a:srgbClr val="0866FF"/>
                </a:solidFill>
                <a:latin typeface="Optimistic VF Medium"/>
                <a:ea typeface="Optimistic VF Medium"/>
                <a:cs typeface="Optimistic VF Medium"/>
              </a:defRPr>
            </a:lvl5pPr>
            <a:lvl6pPr>
              <a:defRPr sz="1350" b="0">
                <a:solidFill>
                  <a:srgbClr val="0866FF"/>
                </a:solidFill>
                <a:latin typeface="Optimistic VF Medium"/>
                <a:ea typeface="Optimistic VF Medium"/>
                <a:cs typeface="Optimistic VF Medium"/>
              </a:defRPr>
            </a:lvl6pPr>
            <a:lvl7pPr>
              <a:defRPr sz="1350" b="0">
                <a:solidFill>
                  <a:srgbClr val="0866FF"/>
                </a:solidFill>
                <a:latin typeface="Optimistic VF Medium"/>
                <a:ea typeface="Optimistic VF Medium"/>
                <a:cs typeface="Optimistic VF Medium"/>
              </a:defRPr>
            </a:lvl7pPr>
            <a:lvl8pPr>
              <a:defRPr sz="1350" b="0">
                <a:solidFill>
                  <a:srgbClr val="0866FF"/>
                </a:solidFill>
                <a:latin typeface="Optimistic VF Medium"/>
                <a:ea typeface="Optimistic VF Medium"/>
                <a:cs typeface="Optimistic VF Medium"/>
              </a:defRPr>
            </a:lvl8pPr>
            <a:lvl9pPr>
              <a:defRPr sz="1350" b="0">
                <a:solidFill>
                  <a:srgbClr val="0866FF"/>
                </a:solidFill>
                <a:latin typeface="Optimistic VF Medium"/>
                <a:ea typeface="Optimistic VF Medium"/>
                <a:cs typeface="Optimistic VF Medium"/>
              </a:defRPr>
            </a:lvl9pPr>
          </a:lstStyle>
          <a:p xmlns:a="http://schemas.openxmlformats.org/drawingml/2006/main">
            <a:pPr>
              <a:defRPr sz="1350" b="0">
                <a:solidFill>
                  <a:srgbClr val="0866FF"/>
                </a:solidFill>
                <a:latin typeface="Optimistic VF Medium"/>
                <a:ea typeface="Optimistic VF Medium"/>
                <a:cs typeface="Optimistic VF Medium"/>
              </a:defRPr>
            </a:pPr>
            <a:r>
              <a:rPr sz="1350" b="0">
                <a:solidFill>
                  <a:srgbClr val="0866FF"/>
                </a:solidFill>
                <a:latin typeface="Optimistic VF Medium"/>
                <a:ea typeface="Optimistic VF Medium"/>
                <a:cs typeface="Optimistic VF Medium"/>
              </a:rPr>
              <a:t>RESEARCH &amp; Q&amp;A</a:t>
            </a:r>
          </a:p>
        </p:txBody>
      </p:sp>
      <p:sp>
        <p:nvSpPr>
          <p:cNvPr id="3" name="">
            <a:extLst xmlns:a="http://schemas.openxmlformats.org/drawingml/2006/main">
              <a:ext uri="{FF2B5EF4-FFF2-40B4-BE49-F238E27FC236}">
                <a16:creationId xmlns:a16="http://schemas.microsoft.com/office/drawing/2014/main" id="{7380FB09-D073-4ED6-B762-E2F5FAD96AC2}"/>
              </a:ext>
            </a:extLst>
          </p:cNvPr>
          <p:cNvSpPr>
            <a:spLocks xmlns:a="http://schemas.openxmlformats.org/drawingml/2006/main" noGrp="1"/>
          </p:cNvSpPr>
          <p:nvPr/>
        </p:nvSpPr>
        <p:spPr>
          <a:xfrm xmlns:a="http://schemas.openxmlformats.org/drawingml/2006/main">
            <a:off x="609600" y="923925"/>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0">
                <a:solidFill>
                  <a:srgbClr val="142D38"/>
                </a:solidFill>
                <a:latin typeface="Optimistic VF Medium"/>
                <a:ea typeface="Optimistic VF Medium"/>
                <a:cs typeface="Optimistic VF Medium"/>
              </a:defRPr>
            </a:defPPr>
            <a:lvl1pPr>
              <a:defRPr sz="3600" b="0">
                <a:solidFill>
                  <a:srgbClr val="142D38"/>
                </a:solidFill>
                <a:latin typeface="Optimistic VF Medium"/>
                <a:ea typeface="Optimistic VF Medium"/>
                <a:cs typeface="Optimistic VF Medium"/>
              </a:defRPr>
            </a:lvl1pPr>
            <a:lvl2pPr>
              <a:defRPr sz="3600" b="0">
                <a:solidFill>
                  <a:srgbClr val="142D38"/>
                </a:solidFill>
                <a:latin typeface="Optimistic VF Medium"/>
                <a:ea typeface="Optimistic VF Medium"/>
                <a:cs typeface="Optimistic VF Medium"/>
              </a:defRPr>
            </a:lvl2pPr>
            <a:lvl3pPr>
              <a:defRPr sz="3600" b="0">
                <a:solidFill>
                  <a:srgbClr val="142D38"/>
                </a:solidFill>
                <a:latin typeface="Optimistic VF Medium"/>
                <a:ea typeface="Optimistic VF Medium"/>
                <a:cs typeface="Optimistic VF Medium"/>
              </a:defRPr>
            </a:lvl3pPr>
            <a:lvl4pPr>
              <a:defRPr sz="3600" b="0">
                <a:solidFill>
                  <a:srgbClr val="142D38"/>
                </a:solidFill>
                <a:latin typeface="Optimistic VF Medium"/>
                <a:ea typeface="Optimistic VF Medium"/>
                <a:cs typeface="Optimistic VF Medium"/>
              </a:defRPr>
            </a:lvl4pPr>
            <a:lvl5pPr>
              <a:defRPr sz="3600" b="0">
                <a:solidFill>
                  <a:srgbClr val="142D38"/>
                </a:solidFill>
                <a:latin typeface="Optimistic VF Medium"/>
                <a:ea typeface="Optimistic VF Medium"/>
                <a:cs typeface="Optimistic VF Medium"/>
              </a:defRPr>
            </a:lvl5pPr>
            <a:lvl6pPr>
              <a:defRPr sz="3600" b="0">
                <a:solidFill>
                  <a:srgbClr val="142D38"/>
                </a:solidFill>
                <a:latin typeface="Optimistic VF Medium"/>
                <a:ea typeface="Optimistic VF Medium"/>
                <a:cs typeface="Optimistic VF Medium"/>
              </a:defRPr>
            </a:lvl6pPr>
            <a:lvl7pPr>
              <a:defRPr sz="3600" b="0">
                <a:solidFill>
                  <a:srgbClr val="142D38"/>
                </a:solidFill>
                <a:latin typeface="Optimistic VF Medium"/>
                <a:ea typeface="Optimistic VF Medium"/>
                <a:cs typeface="Optimistic VF Medium"/>
              </a:defRPr>
            </a:lvl7pPr>
            <a:lvl8pPr>
              <a:defRPr sz="3600" b="0">
                <a:solidFill>
                  <a:srgbClr val="142D38"/>
                </a:solidFill>
                <a:latin typeface="Optimistic VF Medium"/>
                <a:ea typeface="Optimistic VF Medium"/>
                <a:cs typeface="Optimistic VF Medium"/>
              </a:defRPr>
            </a:lvl8pPr>
            <a:lvl9pPr>
              <a:defRPr sz="3600" b="0">
                <a:solidFill>
                  <a:srgbClr val="142D38"/>
                </a:solidFill>
                <a:latin typeface="Optimistic VF Medium"/>
                <a:ea typeface="Optimistic VF Medium"/>
                <a:cs typeface="Optimistic VF Medium"/>
              </a:defRPr>
            </a:lvl9pPr>
          </a:lstStyle>
          <a:p xmlns:a="http://schemas.openxmlformats.org/drawingml/2006/main">
            <a:pPr>
              <a:defRPr sz="3600" b="0">
                <a:solidFill>
                  <a:srgbClr val="142D38"/>
                </a:solidFill>
                <a:latin typeface="Optimistic VF Medium"/>
                <a:ea typeface="Optimistic VF Medium"/>
                <a:cs typeface="Optimistic VF Medium"/>
              </a:defRPr>
            </a:pPr>
            <a:r>
              <a:rPr sz="3600" b="0">
                <a:solidFill>
                  <a:srgbClr val="142D38"/>
                </a:solidFill>
                <a:latin typeface="Optimistic VF Medium"/>
                <a:ea typeface="Optimistic VF Medium"/>
                <a:cs typeface="Optimistic VF Medium"/>
              </a:rPr>
              <a:t>How we’ll measure impact</a:t>
            </a:r>
          </a:p>
        </p:txBody>
      </p:sp>
      <p:sp>
        <p:nvSpPr>
          <p:cNvPr id="4" name="">
            <a:extLst xmlns:a="http://schemas.openxmlformats.org/drawingml/2006/main">
              <a:ext uri="{FF2B5EF4-FFF2-40B4-BE49-F238E27FC236}">
                <a16:creationId xmlns:a16="http://schemas.microsoft.com/office/drawing/2014/main" id="{6866733C-CB29-41B9-911A-F5FD7E1B5153}"/>
              </a:ext>
            </a:extLst>
          </p:cNvPr>
          <p:cNvSpPr>
            <a:spLocks xmlns:a="http://schemas.openxmlformats.org/drawingml/2006/main" noGrp="1"/>
          </p:cNvSpPr>
          <p:nvPr/>
        </p:nvSpPr>
        <p:spPr>
          <a:xfrm xmlns:a="http://schemas.openxmlformats.org/drawingml/2006/main">
            <a:off x="609600" y="2447925"/>
            <a:ext cx="4067175"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4125" b="0">
                <a:solidFill>
                  <a:srgbClr val="142D38"/>
                </a:solidFill>
                <a:latin typeface="Optimistic VF Medium"/>
                <a:ea typeface="Optimistic VF Medium"/>
                <a:cs typeface="Optimistic VF Medium"/>
              </a:defRPr>
            </a:defPPr>
            <a:lvl1pPr>
              <a:defRPr sz="4125" b="0">
                <a:solidFill>
                  <a:srgbClr val="142D38"/>
                </a:solidFill>
                <a:latin typeface="Optimistic VF Medium"/>
                <a:ea typeface="Optimistic VF Medium"/>
                <a:cs typeface="Optimistic VF Medium"/>
              </a:defRPr>
            </a:lvl1pPr>
            <a:lvl2pPr>
              <a:defRPr sz="4125" b="0">
                <a:solidFill>
                  <a:srgbClr val="142D38"/>
                </a:solidFill>
                <a:latin typeface="Optimistic VF Medium"/>
                <a:ea typeface="Optimistic VF Medium"/>
                <a:cs typeface="Optimistic VF Medium"/>
              </a:defRPr>
            </a:lvl2pPr>
            <a:lvl3pPr>
              <a:defRPr sz="4125" b="0">
                <a:solidFill>
                  <a:srgbClr val="142D38"/>
                </a:solidFill>
                <a:latin typeface="Optimistic VF Medium"/>
                <a:ea typeface="Optimistic VF Medium"/>
                <a:cs typeface="Optimistic VF Medium"/>
              </a:defRPr>
            </a:lvl3pPr>
            <a:lvl4pPr>
              <a:defRPr sz="4125" b="0">
                <a:solidFill>
                  <a:srgbClr val="142D38"/>
                </a:solidFill>
                <a:latin typeface="Optimistic VF Medium"/>
                <a:ea typeface="Optimistic VF Medium"/>
                <a:cs typeface="Optimistic VF Medium"/>
              </a:defRPr>
            </a:lvl4pPr>
            <a:lvl5pPr>
              <a:defRPr sz="4125" b="0">
                <a:solidFill>
                  <a:srgbClr val="142D38"/>
                </a:solidFill>
                <a:latin typeface="Optimistic VF Medium"/>
                <a:ea typeface="Optimistic VF Medium"/>
                <a:cs typeface="Optimistic VF Medium"/>
              </a:defRPr>
            </a:lvl5pPr>
            <a:lvl6pPr>
              <a:defRPr sz="4125" b="0">
                <a:solidFill>
                  <a:srgbClr val="142D38"/>
                </a:solidFill>
                <a:latin typeface="Optimistic VF Medium"/>
                <a:ea typeface="Optimistic VF Medium"/>
                <a:cs typeface="Optimistic VF Medium"/>
              </a:defRPr>
            </a:lvl6pPr>
            <a:lvl7pPr>
              <a:defRPr sz="4125" b="0">
                <a:solidFill>
                  <a:srgbClr val="142D38"/>
                </a:solidFill>
                <a:latin typeface="Optimistic VF Medium"/>
                <a:ea typeface="Optimistic VF Medium"/>
                <a:cs typeface="Optimistic VF Medium"/>
              </a:defRPr>
            </a:lvl7pPr>
            <a:lvl8pPr>
              <a:defRPr sz="4125" b="0">
                <a:solidFill>
                  <a:srgbClr val="142D38"/>
                </a:solidFill>
                <a:latin typeface="Optimistic VF Medium"/>
                <a:ea typeface="Optimistic VF Medium"/>
                <a:cs typeface="Optimistic VF Medium"/>
              </a:defRPr>
            </a:lvl8pPr>
            <a:lvl9pPr>
              <a:defRPr sz="4125" b="0">
                <a:solidFill>
                  <a:srgbClr val="142D38"/>
                </a:solidFill>
                <a:latin typeface="Optimistic VF Medium"/>
                <a:ea typeface="Optimistic VF Medium"/>
                <a:cs typeface="Optimistic VF Medium"/>
              </a:defRPr>
            </a:lvl9pPr>
          </a:lstStyle>
          <a:p xmlns:a="http://schemas.openxmlformats.org/drawingml/2006/main">
            <a:pPr>
              <a:defRPr sz="4125" b="0">
                <a:solidFill>
                  <a:srgbClr val="142D38"/>
                </a:solidFill>
                <a:latin typeface="Optimistic VF Medium"/>
                <a:ea typeface="Optimistic VF Medium"/>
                <a:cs typeface="Optimistic VF Medium"/>
              </a:defRPr>
            </a:pPr>
            <a:r>
              <a:rPr sz="4125" b="0">
                <a:solidFill>
                  <a:srgbClr val="142D38"/>
                </a:solidFill>
                <a:latin typeface="Optimistic VF Medium"/>
                <a:ea typeface="Optimistic VF Medium"/>
                <a:cs typeface="Optimistic VF Medium"/>
              </a:rPr>
              <a:t>Did they</a:t>
            </a:r>
          </a:p>
          <a:p xmlns:a="http://schemas.openxmlformats.org/drawingml/2006/main">
            <a:pPr>
              <a:defRPr sz="4125" b="0">
                <a:solidFill>
                  <a:srgbClr val="142D38"/>
                </a:solidFill>
                <a:latin typeface="Optimistic VF Medium"/>
                <a:ea typeface="Optimistic VF Medium"/>
                <a:cs typeface="Optimistic VF Medium"/>
              </a:defRPr>
            </a:pPr>
            <a:r>
              <a:rPr sz="4125" b="0">
                <a:solidFill>
                  <a:srgbClr val="142D38"/>
                </a:solidFill>
                <a:latin typeface="Optimistic VF Medium"/>
                <a:ea typeface="Optimistic VF Medium"/>
                <a:cs typeface="Optimistic VF Medium"/>
              </a:rPr>
              <a:t>keep talking?</a:t>
            </a:r>
          </a:p>
        </p:txBody>
      </p:sp>
      <p:sp>
        <p:nvSpPr>
          <p:cNvPr id="5" name="">
            <a:extLst xmlns:a="http://schemas.openxmlformats.org/drawingml/2006/main">
              <a:ext uri="{FF2B5EF4-FFF2-40B4-BE49-F238E27FC236}">
                <a16:creationId xmlns:a16="http://schemas.microsoft.com/office/drawing/2014/main" id="{79B09E36-6E15-4026-AE44-A5CD361DC7D6}"/>
              </a:ext>
            </a:extLst>
          </p:cNvPr>
          <p:cNvSpPr>
            <a:spLocks xmlns:a="http://schemas.openxmlformats.org/drawingml/2006/main" noGrp="1"/>
          </p:cNvSpPr>
          <p:nvPr/>
        </p:nvSpPr>
        <p:spPr>
          <a:xfrm xmlns:a="http://schemas.openxmlformats.org/drawingml/2006/main">
            <a:off x="647700" y="4495800"/>
            <a:ext cx="4010025" cy="1400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142D38"/>
                </a:solidFill>
                <a:latin typeface="Optimistic VF"/>
                <a:ea typeface="Optimistic VF"/>
                <a:cs typeface="Optimistic VF"/>
              </a:defRPr>
            </a:defPPr>
            <a:lvl1pPr>
              <a:defRPr sz="1875" b="0">
                <a:solidFill>
                  <a:srgbClr val="142D38"/>
                </a:solidFill>
                <a:latin typeface="Optimistic VF"/>
                <a:ea typeface="Optimistic VF"/>
                <a:cs typeface="Optimistic VF"/>
              </a:defRPr>
            </a:lvl1pPr>
            <a:lvl2pPr>
              <a:defRPr sz="1875" b="0">
                <a:solidFill>
                  <a:srgbClr val="142D38"/>
                </a:solidFill>
                <a:latin typeface="Optimistic VF"/>
                <a:ea typeface="Optimistic VF"/>
                <a:cs typeface="Optimistic VF"/>
              </a:defRPr>
            </a:lvl2pPr>
            <a:lvl3pPr>
              <a:defRPr sz="1875" b="0">
                <a:solidFill>
                  <a:srgbClr val="142D38"/>
                </a:solidFill>
                <a:latin typeface="Optimistic VF"/>
                <a:ea typeface="Optimistic VF"/>
                <a:cs typeface="Optimistic VF"/>
              </a:defRPr>
            </a:lvl3pPr>
            <a:lvl4pPr>
              <a:defRPr sz="1875" b="0">
                <a:solidFill>
                  <a:srgbClr val="142D38"/>
                </a:solidFill>
                <a:latin typeface="Optimistic VF"/>
                <a:ea typeface="Optimistic VF"/>
                <a:cs typeface="Optimistic VF"/>
              </a:defRPr>
            </a:lvl4pPr>
            <a:lvl5pPr>
              <a:defRPr sz="1875" b="0">
                <a:solidFill>
                  <a:srgbClr val="142D38"/>
                </a:solidFill>
                <a:latin typeface="Optimistic VF"/>
                <a:ea typeface="Optimistic VF"/>
                <a:cs typeface="Optimistic VF"/>
              </a:defRPr>
            </a:lvl5pPr>
            <a:lvl6pPr>
              <a:defRPr sz="1875" b="0">
                <a:solidFill>
                  <a:srgbClr val="142D38"/>
                </a:solidFill>
                <a:latin typeface="Optimistic VF"/>
                <a:ea typeface="Optimistic VF"/>
                <a:cs typeface="Optimistic VF"/>
              </a:defRPr>
            </a:lvl6pPr>
            <a:lvl7pPr>
              <a:defRPr sz="1875" b="0">
                <a:solidFill>
                  <a:srgbClr val="142D38"/>
                </a:solidFill>
                <a:latin typeface="Optimistic VF"/>
                <a:ea typeface="Optimistic VF"/>
                <a:cs typeface="Optimistic VF"/>
              </a:defRPr>
            </a:lvl7pPr>
            <a:lvl8pPr>
              <a:defRPr sz="1875" b="0">
                <a:solidFill>
                  <a:srgbClr val="142D38"/>
                </a:solidFill>
                <a:latin typeface="Optimistic VF"/>
                <a:ea typeface="Optimistic VF"/>
                <a:cs typeface="Optimistic VF"/>
              </a:defRPr>
            </a:lvl8pPr>
            <a:lvl9pPr>
              <a:defRPr sz="1875" b="0">
                <a:solidFill>
                  <a:srgbClr val="142D38"/>
                </a:solidFill>
                <a:latin typeface="Optimistic VF"/>
                <a:ea typeface="Optimistic VF"/>
                <a:cs typeface="Optimistic VF"/>
              </a:defRPr>
            </a:lvl9pPr>
          </a:lstStyle>
          <a:p xmlns:a="http://schemas.openxmlformats.org/drawingml/2006/main">
            <a:pPr>
              <a:defRPr sz="1875" b="0">
                <a:solidFill>
                  <a:srgbClr val="142D38"/>
                </a:solidFill>
                <a:latin typeface="Optimistic VF"/>
                <a:ea typeface="Optimistic VF"/>
                <a:cs typeface="Optimistic VF"/>
              </a:defRPr>
            </a:pPr>
            <a:r>
              <a:rPr sz="1875" b="0">
                <a:solidFill>
                  <a:srgbClr val="142D38"/>
                </a:solidFill>
                <a:latin typeface="Optimistic VF"/>
                <a:ea typeface="Optimistic VF"/>
                <a:cs typeface="Optimistic VF"/>
              </a:rPr>
              <a:t>After someone discovers a Spot, we’ll ask whether the exchange led to a conversation, a shared plan or another voluntary interaction.</a:t>
            </a:r>
          </a:p>
        </p:txBody>
      </p:sp>
      <p:sp>
        <p:nvSpPr>
          <p:cNvPr id="6" name="">
            <a:extLst xmlns:a="http://schemas.openxmlformats.org/drawingml/2006/main">
              <a:ext uri="{FF2B5EF4-FFF2-40B4-BE49-F238E27FC236}">
                <a16:creationId xmlns:a16="http://schemas.microsoft.com/office/drawing/2014/main" id="{0A444A7F-85F7-40E4-9E93-A0ECDE7BF9B2}"/>
              </a:ext>
            </a:extLst>
          </p:cNvPr>
          <p:cNvSpPr>
            <a:spLocks xmlns:a="http://schemas.openxmlformats.org/drawingml/2006/main" noGrp="1"/>
          </p:cNvSpPr>
          <p:nvPr/>
        </p:nvSpPr>
        <p:spPr>
          <a:xfrm xmlns:a="http://schemas.openxmlformats.org/drawingml/2006/main">
            <a:off x="647700" y="6029325"/>
            <a:ext cx="40100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4C6571"/>
                </a:solidFill>
                <a:latin typeface="Optimistic VF"/>
                <a:ea typeface="Optimistic VF"/>
                <a:cs typeface="Optimistic VF"/>
              </a:defRPr>
            </a:defPPr>
            <a:lvl1pPr>
              <a:defRPr sz="1650" b="0">
                <a:solidFill>
                  <a:srgbClr val="4C6571"/>
                </a:solidFill>
                <a:latin typeface="Optimistic VF"/>
                <a:ea typeface="Optimistic VF"/>
                <a:cs typeface="Optimistic VF"/>
              </a:defRPr>
            </a:lvl1pPr>
            <a:lvl2pPr>
              <a:defRPr sz="1650" b="0">
                <a:solidFill>
                  <a:srgbClr val="4C6571"/>
                </a:solidFill>
                <a:latin typeface="Optimistic VF"/>
                <a:ea typeface="Optimistic VF"/>
                <a:cs typeface="Optimistic VF"/>
              </a:defRPr>
            </a:lvl2pPr>
            <a:lvl3pPr>
              <a:defRPr sz="1650" b="0">
                <a:solidFill>
                  <a:srgbClr val="4C6571"/>
                </a:solidFill>
                <a:latin typeface="Optimistic VF"/>
                <a:ea typeface="Optimistic VF"/>
                <a:cs typeface="Optimistic VF"/>
              </a:defRPr>
            </a:lvl3pPr>
            <a:lvl4pPr>
              <a:defRPr sz="1650" b="0">
                <a:solidFill>
                  <a:srgbClr val="4C6571"/>
                </a:solidFill>
                <a:latin typeface="Optimistic VF"/>
                <a:ea typeface="Optimistic VF"/>
                <a:cs typeface="Optimistic VF"/>
              </a:defRPr>
            </a:lvl4pPr>
            <a:lvl5pPr>
              <a:defRPr sz="1650" b="0">
                <a:solidFill>
                  <a:srgbClr val="4C6571"/>
                </a:solidFill>
                <a:latin typeface="Optimistic VF"/>
                <a:ea typeface="Optimistic VF"/>
                <a:cs typeface="Optimistic VF"/>
              </a:defRPr>
            </a:lvl5pPr>
            <a:lvl6pPr>
              <a:defRPr sz="1650" b="0">
                <a:solidFill>
                  <a:srgbClr val="4C6571"/>
                </a:solidFill>
                <a:latin typeface="Optimistic VF"/>
                <a:ea typeface="Optimistic VF"/>
                <a:cs typeface="Optimistic VF"/>
              </a:defRPr>
            </a:lvl6pPr>
            <a:lvl7pPr>
              <a:defRPr sz="1650" b="0">
                <a:solidFill>
                  <a:srgbClr val="4C6571"/>
                </a:solidFill>
                <a:latin typeface="Optimistic VF"/>
                <a:ea typeface="Optimistic VF"/>
                <a:cs typeface="Optimistic VF"/>
              </a:defRPr>
            </a:lvl7pPr>
            <a:lvl8pPr>
              <a:defRPr sz="1650" b="0">
                <a:solidFill>
                  <a:srgbClr val="4C6571"/>
                </a:solidFill>
                <a:latin typeface="Optimistic VF"/>
                <a:ea typeface="Optimistic VF"/>
                <a:cs typeface="Optimistic VF"/>
              </a:defRPr>
            </a:lvl8pPr>
            <a:lvl9pPr>
              <a:defRPr sz="1650" b="0">
                <a:solidFill>
                  <a:srgbClr val="4C6571"/>
                </a:solidFill>
                <a:latin typeface="Optimistic VF"/>
                <a:ea typeface="Optimistic VF"/>
                <a:cs typeface="Optimistic VF"/>
              </a:defRPr>
            </a:lvl9pPr>
          </a:lstStyle>
          <a:p xmlns:a="http://schemas.openxmlformats.org/drawingml/2006/main">
            <a:pPr>
              <a:defRPr sz="1650" b="0">
                <a:solidFill>
                  <a:srgbClr val="4C6571"/>
                </a:solidFill>
                <a:latin typeface="Optimistic VF"/>
                <a:ea typeface="Optimistic VF"/>
                <a:cs typeface="Optimistic VF"/>
              </a:defRPr>
            </a:pPr>
            <a:r>
              <a:rPr sz="1650" b="0">
                <a:solidFill>
                  <a:srgbClr val="4C6571"/>
                </a:solidFill>
                <a:latin typeface="Optimistic VF"/>
                <a:ea typeface="Optimistic VF"/>
                <a:cs typeface="Optimistic VF"/>
              </a:rPr>
              <a:t>This is a proposed pilot; we haven’t collected results yet.</a:t>
            </a:r>
          </a:p>
        </p:txBody>
      </p:sp>
      <p:graphicFrame>
        <p:nvGraphicFramePr>
          <p:cNvPr id="7" name="">
            <a:extLst xmlns:a="http://schemas.openxmlformats.org/drawingml/2006/main">
              <a:ext uri="{FF2B5EF4-FFF2-40B4-BE49-F238E27FC236}">
                <a16:creationId xmlns:a16="http://schemas.microsoft.com/office/drawing/2014/main" id="{7416C493-58AB-45DE-8CEA-D74D12D39516}"/>
              </a:ext>
            </a:extLst>
          </p:cNvPr>
          <p:cNvGraphicFramePr/>
          <p:nvPr/>
        </p:nvGraphicFramePr>
        <p:xfrm>
          <a:off xmlns:a="http://schemas.openxmlformats.org/drawingml/2006/main" x="5105400" y="2152650"/>
          <a:ext xmlns:a="http://schemas.openxmlformats.org/drawingml/2006/main" cx="6477000" cy="4391025"/>
        </p:xfrm>
        <a:graphic xmlns:a="http://schemas.openxmlformats.org/drawingml/2006/main">
          <a:graphicData uri="http://schemas.openxmlformats.org/drawingml/2006/table">
            <a:tbl>
              <a:tblPr/>
              <a:tblGrid>
                <a:gridCol w="2095500"/>
                <a:gridCol w="4381500"/>
              </a:tblGrid>
              <a:tr h="561975">
                <a:tc>
                  <a:txBody>
                    <a:bodyPr/>
                    <a:lstStyle/>
                    <a:p>
                      <a:r>
                        <a:rPr sz="1575">
                          <a:solidFill>
                            <a:srgbClr val="142D38"/>
                          </a:solidFill>
                          <a:latin typeface="Optimistic VF Medium"/>
                          <a:ea typeface="Optimistic VF Medium"/>
                          <a:cs typeface="Optimistic VF Medium"/>
                        </a:rPr>
                        <a:t>What we’ll ask</a:t>
                      </a:r>
                    </a:p>
                  </a:txBody>
                  <a:tcPr marL="142875" marR="171450" marT="161925" marB="133350">
                    <a:lnL w="0">
                      <a:noFill/>
                    </a:lnL>
                    <a:lnR w="0">
                      <a:noFill/>
                    </a:lnR>
                    <a:lnT w="0">
                      <a:noFill/>
                    </a:lnT>
                    <a:lnB w="0">
                      <a:noFill/>
                    </a:lnB>
                    <a:solidFill>
                      <a:srgbClr val="F1F5F7"/>
                    </a:solidFill>
                  </a:tcPr>
                </a:tc>
                <a:tc>
                  <a:txBody>
                    <a:bodyPr/>
                    <a:lstStyle/>
                    <a:p>
                      <a:r>
                        <a:rPr sz="1575">
                          <a:solidFill>
                            <a:srgbClr val="142D38"/>
                          </a:solidFill>
                          <a:latin typeface="Optimistic VF Medium"/>
                          <a:ea typeface="Optimistic VF Medium"/>
                          <a:cs typeface="Optimistic VF Medium"/>
                        </a:rPr>
                        <a:t>How we’ll check</a:t>
                      </a:r>
                    </a:p>
                  </a:txBody>
                  <a:tcPr marL="142875" marR="171450" marT="161925" marB="133350">
                    <a:lnR w="0">
                      <a:noFill/>
                    </a:lnR>
                    <a:lnT w="0">
                      <a:noFill/>
                    </a:lnT>
                    <a:lnB w="0">
                      <a:noFill/>
                    </a:lnB>
                    <a:solidFill>
                      <a:srgbClr val="F1F5F7"/>
                    </a:solidFill>
                  </a:tcPr>
                </a:tc>
              </a:tr>
              <a:tr h="1276350">
                <a:tc>
                  <a:txBody>
                    <a:bodyPr/>
                    <a:lstStyle/>
                    <a:p>
                      <a:r>
                        <a:rPr sz="1800">
                          <a:solidFill>
                            <a:srgbClr val="142D38"/>
                          </a:solidFill>
                          <a:latin typeface="Optimistic VF"/>
                          <a:ea typeface="Optimistic VF"/>
                          <a:cs typeface="Optimistic VF"/>
                        </a:rPr>
                        <a:t>Did someone reply?</a:t>
                      </a:r>
                    </a:p>
                  </a:txBody>
                  <a:tcPr marL="142875" marR="171450" marT="161925" marB="133350">
                    <a:lnL w="0">
                      <a:noFill/>
                    </a:lnL>
                    <a:lnR w="0">
                      <a:noFill/>
                    </a:lnR>
                    <a:lnB w="0">
                      <a:noFill/>
                    </a:lnB>
                    <a:solidFill>
                      <a:srgbClr val="FFFFFF"/>
                    </a:solidFill>
                  </a:tcPr>
                </a:tc>
                <a:tc>
                  <a:txBody>
                    <a:bodyPr/>
                    <a:lstStyle/>
                    <a:p>
                      <a:r>
                        <a:rPr sz="1800">
                          <a:solidFill>
                            <a:srgbClr val="142D38"/>
                          </a:solidFill>
                          <a:latin typeface="Optimistic VF"/>
                          <a:ea typeface="Optimistic VF"/>
                          <a:cs typeface="Optimistic VF"/>
                        </a:rPr>
                        <a:t>We’ll compare replies to a Spot with replies to the same message shown only in a feed.</a:t>
                      </a:r>
                    </a:p>
                  </a:txBody>
                  <a:tcPr marL="142875" marR="171450" marT="161925" marB="133350">
                    <a:lnR w="0">
                      <a:noFill/>
                    </a:lnR>
                    <a:lnB w="0">
                      <a:noFill/>
                    </a:lnB>
                    <a:solidFill>
                      <a:srgbClr val="FFFFFF"/>
                    </a:solidFill>
                  </a:tcPr>
                </a:tc>
              </a:tr>
              <a:tr h="1276350">
                <a:tc>
                  <a:txBody>
                    <a:bodyPr/>
                    <a:lstStyle/>
                    <a:p>
                      <a:r>
                        <a:rPr sz="1800">
                          <a:solidFill>
                            <a:srgbClr val="142D38"/>
                          </a:solidFill>
                          <a:latin typeface="Optimistic VF"/>
                          <a:ea typeface="Optimistic VF"/>
                          <a:cs typeface="Optimistic VF"/>
                        </a:rPr>
                        <a:t>Did they make plans?</a:t>
                      </a:r>
                    </a:p>
                  </a:txBody>
                  <a:tcPr marL="142875" marR="171450" marT="161925" marB="133350">
                    <a:lnL w="0">
                      <a:noFill/>
                    </a:lnL>
                    <a:lnR w="0">
                      <a:noFill/>
                    </a:lnR>
                    <a:lnB w="0">
                      <a:noFill/>
                    </a:lnB>
                    <a:solidFill>
                      <a:srgbClr val="FFFFFF"/>
                    </a:solidFill>
                  </a:tcPr>
                </a:tc>
                <a:tc>
                  <a:txBody>
                    <a:bodyPr/>
                    <a:lstStyle/>
                    <a:p>
                      <a:r>
                        <a:rPr sz="1800">
                          <a:solidFill>
                            <a:srgbClr val="142D38"/>
                          </a:solidFill>
                          <a:latin typeface="Optimistic VF"/>
                          <a:ea typeface="Optimistic VF"/>
                          <a:cs typeface="Optimistic VF"/>
                        </a:rPr>
                        <a:t>We’ll ask whether the exchange led to a plan that both people chose.</a:t>
                      </a:r>
                    </a:p>
                  </a:txBody>
                  <a:tcPr marL="142875" marR="171450" marT="161925" marB="133350">
                    <a:lnR w="0">
                      <a:noFill/>
                    </a:lnR>
                    <a:lnB w="0">
                      <a:noFill/>
                    </a:lnB>
                    <a:solidFill>
                      <a:srgbClr val="FFFFFF"/>
                    </a:solidFill>
                  </a:tcPr>
                </a:tc>
              </a:tr>
              <a:tr h="1276350">
                <a:tc>
                  <a:txBody>
                    <a:bodyPr/>
                    <a:lstStyle/>
                    <a:p>
                      <a:r>
                        <a:rPr sz="1800">
                          <a:solidFill>
                            <a:srgbClr val="142D38"/>
                          </a:solidFill>
                          <a:latin typeface="Optimistic VF"/>
                          <a:ea typeface="Optimistic VF"/>
                          <a:cs typeface="Optimistic VF"/>
                        </a:rPr>
                        <a:t>Did they reconnect?</a:t>
                      </a:r>
                    </a:p>
                  </a:txBody>
                  <a:tcPr marL="142875" marR="171450" marT="161925" marB="133350">
                    <a:lnL w="0">
                      <a:noFill/>
                    </a:lnL>
                    <a:lnR w="0">
                      <a:noFill/>
                    </a:lnR>
                    <a:lnB w="0">
                      <a:noFill/>
                    </a:lnB>
                    <a:solidFill>
                      <a:srgbClr val="FFFFFF"/>
                    </a:solidFill>
                  </a:tcPr>
                </a:tc>
                <a:tc>
                  <a:txBody>
                    <a:bodyPr/>
                    <a:lstStyle/>
                    <a:p>
                      <a:r>
                        <a:rPr sz="1800">
                          <a:solidFill>
                            <a:srgbClr val="142D38"/>
                          </a:solidFill>
                          <a:latin typeface="Optimistic VF"/>
                          <a:ea typeface="Optimistic VF"/>
                          <a:cs typeface="Optimistic VF"/>
                        </a:rPr>
                        <a:t>We’ll follow up to ask whether they chose to talk or meet again.</a:t>
                      </a:r>
                    </a:p>
                  </a:txBody>
                  <a:tcPr marL="142875" marR="171450" marT="161925" marB="133350">
                    <a:lnR w="0">
                      <a:noFill/>
                    </a:lnR>
                    <a:lnB w="0">
                      <a:noFill/>
                    </a:lnB>
                    <a:solidFill>
                      <a:srgbClr val="FFFFFF"/>
                    </a:solidFill>
                  </a:tcPr>
                </a:tc>
              </a:tr>
            </a:tbl>
          </a:graphicData>
        </a:graphic>
      </p:graphicFrame>
      <p:sp>
        <p:nvSpPr>
          <p:cNvPr id="8" name="">
            <a:extLst xmlns:a="http://schemas.openxmlformats.org/drawingml/2006/main">
              <a:ext uri="{FF2B5EF4-FFF2-40B4-BE49-F238E27FC236}">
                <a16:creationId xmlns:a16="http://schemas.microsoft.com/office/drawing/2014/main" id="{3C5C3AE1-2ED2-4332-9245-761423BD9447}"/>
              </a:ext>
            </a:extLst>
          </p:cNvPr>
          <p:cNvSpPr>
            <a:spLocks xmlns:a="http://schemas.openxmlformats.org/drawingml/2006/main" noGrp="1"/>
          </p:cNvSpPr>
          <p:nvPr/>
        </p:nvSpPr>
        <p:spPr>
          <a:xfrm xmlns:a="http://schemas.openxmlformats.org/drawingml/2006/main">
            <a:off x="5105400" y="2714625"/>
            <a:ext cx="6477000" cy="9525"/>
          </a:xfrm>
          <a:prstGeom xmlns:a="http://schemas.openxmlformats.org/drawingml/2006/main" prst="rect">
            <a:avLst/>
          </a:prstGeom>
          <a:solidFill xmlns:a="http://schemas.openxmlformats.org/drawingml/2006/main">
            <a:srgbClr val="D2DFE5"/>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86E0C98F-3A8D-484A-8DB7-EBF5252C63EB}"/>
              </a:ext>
            </a:extLst>
          </p:cNvPr>
          <p:cNvSpPr>
            <a:spLocks xmlns:a="http://schemas.openxmlformats.org/drawingml/2006/main" noGrp="1"/>
          </p:cNvSpPr>
          <p:nvPr/>
        </p:nvSpPr>
        <p:spPr>
          <a:xfrm xmlns:a="http://schemas.openxmlformats.org/drawingml/2006/main">
            <a:off x="5105400" y="3990975"/>
            <a:ext cx="6477000" cy="9525"/>
          </a:xfrm>
          <a:prstGeom xmlns:a="http://schemas.openxmlformats.org/drawingml/2006/main" prst="rect">
            <a:avLst/>
          </a:prstGeom>
          <a:solidFill xmlns:a="http://schemas.openxmlformats.org/drawingml/2006/main">
            <a:srgbClr val="D2DFE5"/>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E1508DB5-5DA8-433A-8E8C-2ABF9F82BA35}"/>
              </a:ext>
            </a:extLst>
          </p:cNvPr>
          <p:cNvSpPr>
            <a:spLocks xmlns:a="http://schemas.openxmlformats.org/drawingml/2006/main" noGrp="1"/>
          </p:cNvSpPr>
          <p:nvPr/>
        </p:nvSpPr>
        <p:spPr>
          <a:xfrm xmlns:a="http://schemas.openxmlformats.org/drawingml/2006/main">
            <a:off x="5105400" y="5267325"/>
            <a:ext cx="6477000" cy="9525"/>
          </a:xfrm>
          <a:prstGeom xmlns:a="http://schemas.openxmlformats.org/drawingml/2006/main" prst="rect">
            <a:avLst/>
          </a:prstGeom>
          <a:solidFill xmlns:a="http://schemas.openxmlformats.org/drawingml/2006/main">
            <a:srgbClr val="D2DFE5"/>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34338A4A-A154-4F66-976A-50A5F2B3632B}"/>
              </a:ext>
            </a:extLst>
          </p:cNvPr>
          <p:cNvSpPr>
            <a:spLocks xmlns:a="http://schemas.openxmlformats.org/drawingml/2006/main" noGrp="1"/>
          </p:cNvSpPr>
          <p:nvPr/>
        </p:nvSpPr>
        <p:spPr>
          <a:xfrm xmlns:a="http://schemas.openxmlformats.org/drawingml/2006/main">
            <a:off x="5105400" y="6543675"/>
            <a:ext cx="6477000" cy="9525"/>
          </a:xfrm>
          <a:prstGeom xmlns:a="http://schemas.openxmlformats.org/drawingml/2006/main" prst="rect">
            <a:avLst/>
          </a:prstGeom>
          <a:solidFill xmlns:a="http://schemas.openxmlformats.org/drawingml/2006/main">
            <a:srgbClr val="D2DFE5"/>
          </a:solidFill>
          <a:ln xmlns:a="http://schemas.openxmlformats.org/drawingml/2006/main" w="0">
            <a:noFill/>
          </a:ln>
        </p:spPr>
      </p:sp>
    </p:spTree>
    <p:extLst>
      <p:ext uri="{BB962C8B-B14F-4D97-AF65-F5344CB8AC3E}">
        <p14:creationId xmlns:p14="http://schemas.microsoft.com/office/powerpoint/2010/main" val="642284295"/>
      </p:ext>
    </p:extLst>
  </p:cSld>
</p:sld>
</file>

<file path=ppt/slides/slide11.xml><?xml version="1.0" encoding="utf-8"?>
<p:sld xmlns:p="http://schemas.openxmlformats.org/presentationml/2006/main" show="0">
  <p:cSld>
    <p:bg>
      <p:bgPr>
        <a:solidFill xmlns:a="http://schemas.openxmlformats.org/drawingml/2006/main">
          <a:srgbClr val="102735"/>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C2919A9C-C167-45F5-A451-7E066D6D7F05}"/>
              </a:ext>
            </a:extLst>
          </p:cNvPr>
          <p:cNvSpPr>
            <a:spLocks xmlns:a="http://schemas.openxmlformats.org/drawingml/2006/main" noGrp="1"/>
          </p:cNvSpPr>
          <p:nvPr/>
        </p:nvSpPr>
        <p:spPr>
          <a:xfrm xmlns:a="http://schemas.openxmlformats.org/drawingml/2006/main">
            <a:off x="609600" y="361950"/>
            <a:ext cx="7620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8DBBFF"/>
                </a:solidFill>
                <a:latin typeface="Optimistic VF Medium"/>
                <a:ea typeface="Optimistic VF Medium"/>
                <a:cs typeface="Optimistic VF Medium"/>
              </a:defRPr>
            </a:defPPr>
            <a:lvl1pPr>
              <a:defRPr sz="1350" b="0">
                <a:solidFill>
                  <a:srgbClr val="8DBBFF"/>
                </a:solidFill>
                <a:latin typeface="Optimistic VF Medium"/>
                <a:ea typeface="Optimistic VF Medium"/>
                <a:cs typeface="Optimistic VF Medium"/>
              </a:defRPr>
            </a:lvl1pPr>
            <a:lvl2pPr>
              <a:defRPr sz="1350" b="0">
                <a:solidFill>
                  <a:srgbClr val="8DBBFF"/>
                </a:solidFill>
                <a:latin typeface="Optimistic VF Medium"/>
                <a:ea typeface="Optimistic VF Medium"/>
                <a:cs typeface="Optimistic VF Medium"/>
              </a:defRPr>
            </a:lvl2pPr>
            <a:lvl3pPr>
              <a:defRPr sz="1350" b="0">
                <a:solidFill>
                  <a:srgbClr val="8DBBFF"/>
                </a:solidFill>
                <a:latin typeface="Optimistic VF Medium"/>
                <a:ea typeface="Optimistic VF Medium"/>
                <a:cs typeface="Optimistic VF Medium"/>
              </a:defRPr>
            </a:lvl3pPr>
            <a:lvl4pPr>
              <a:defRPr sz="1350" b="0">
                <a:solidFill>
                  <a:srgbClr val="8DBBFF"/>
                </a:solidFill>
                <a:latin typeface="Optimistic VF Medium"/>
                <a:ea typeface="Optimistic VF Medium"/>
                <a:cs typeface="Optimistic VF Medium"/>
              </a:defRPr>
            </a:lvl4pPr>
            <a:lvl5pPr>
              <a:defRPr sz="1350" b="0">
                <a:solidFill>
                  <a:srgbClr val="8DBBFF"/>
                </a:solidFill>
                <a:latin typeface="Optimistic VF Medium"/>
                <a:ea typeface="Optimistic VF Medium"/>
                <a:cs typeface="Optimistic VF Medium"/>
              </a:defRPr>
            </a:lvl5pPr>
            <a:lvl6pPr>
              <a:defRPr sz="1350" b="0">
                <a:solidFill>
                  <a:srgbClr val="8DBBFF"/>
                </a:solidFill>
                <a:latin typeface="Optimistic VF Medium"/>
                <a:ea typeface="Optimistic VF Medium"/>
                <a:cs typeface="Optimistic VF Medium"/>
              </a:defRPr>
            </a:lvl6pPr>
            <a:lvl7pPr>
              <a:defRPr sz="1350" b="0">
                <a:solidFill>
                  <a:srgbClr val="8DBBFF"/>
                </a:solidFill>
                <a:latin typeface="Optimistic VF Medium"/>
                <a:ea typeface="Optimistic VF Medium"/>
                <a:cs typeface="Optimistic VF Medium"/>
              </a:defRPr>
            </a:lvl7pPr>
            <a:lvl8pPr>
              <a:defRPr sz="1350" b="0">
                <a:solidFill>
                  <a:srgbClr val="8DBBFF"/>
                </a:solidFill>
                <a:latin typeface="Optimistic VF Medium"/>
                <a:ea typeface="Optimistic VF Medium"/>
                <a:cs typeface="Optimistic VF Medium"/>
              </a:defRPr>
            </a:lvl8pPr>
            <a:lvl9pPr>
              <a:defRPr sz="1350" b="0">
                <a:solidFill>
                  <a:srgbClr val="8DBBFF"/>
                </a:solidFill>
                <a:latin typeface="Optimistic VF Medium"/>
                <a:ea typeface="Optimistic VF Medium"/>
                <a:cs typeface="Optimistic VF Medium"/>
              </a:defRPr>
            </a:lvl9pPr>
          </a:lstStyle>
          <a:p xmlns:a="http://schemas.openxmlformats.org/drawingml/2006/main">
            <a:pPr>
              <a:defRPr sz="1350" b="0">
                <a:solidFill>
                  <a:srgbClr val="8DBBFF"/>
                </a:solidFill>
                <a:latin typeface="Optimistic VF Medium"/>
                <a:ea typeface="Optimistic VF Medium"/>
                <a:cs typeface="Optimistic VF Medium"/>
              </a:defRPr>
            </a:pPr>
            <a:r>
              <a:rPr sz="1350" b="0">
                <a:solidFill>
                  <a:srgbClr val="8DBBFF"/>
                </a:solidFill>
                <a:latin typeface="Optimistic VF Medium"/>
                <a:ea typeface="Optimistic VF Medium"/>
                <a:cs typeface="Optimistic VF Medium"/>
              </a:rPr>
              <a:t>RESEARCH &amp; Q&amp;A</a:t>
            </a:r>
          </a:p>
        </p:txBody>
      </p:sp>
      <p:sp>
        <p:nvSpPr>
          <p:cNvPr id="3" name="">
            <a:extLst xmlns:a="http://schemas.openxmlformats.org/drawingml/2006/main">
              <a:ext uri="{FF2B5EF4-FFF2-40B4-BE49-F238E27FC236}">
                <a16:creationId xmlns:a16="http://schemas.microsoft.com/office/drawing/2014/main" id="{DB460E5E-D5E1-4944-8904-6F289A416D15}"/>
              </a:ext>
            </a:extLst>
          </p:cNvPr>
          <p:cNvSpPr>
            <a:spLocks xmlns:a="http://schemas.openxmlformats.org/drawingml/2006/main" noGrp="1"/>
          </p:cNvSpPr>
          <p:nvPr/>
        </p:nvSpPr>
        <p:spPr>
          <a:xfrm xmlns:a="http://schemas.openxmlformats.org/drawingml/2006/main">
            <a:off x="609600" y="923925"/>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450" b="0">
                <a:solidFill>
                  <a:srgbClr val="FFFFFF"/>
                </a:solidFill>
                <a:latin typeface="Optimistic VF Medium"/>
                <a:ea typeface="Optimistic VF Medium"/>
                <a:cs typeface="Optimistic VF Medium"/>
              </a:defRPr>
            </a:defPPr>
            <a:lvl1pPr>
              <a:defRPr sz="3450" b="0">
                <a:solidFill>
                  <a:srgbClr val="FFFFFF"/>
                </a:solidFill>
                <a:latin typeface="Optimistic VF Medium"/>
                <a:ea typeface="Optimistic VF Medium"/>
                <a:cs typeface="Optimistic VF Medium"/>
              </a:defRPr>
            </a:lvl1pPr>
            <a:lvl2pPr>
              <a:defRPr sz="3450" b="0">
                <a:solidFill>
                  <a:srgbClr val="FFFFFF"/>
                </a:solidFill>
                <a:latin typeface="Optimistic VF Medium"/>
                <a:ea typeface="Optimistic VF Medium"/>
                <a:cs typeface="Optimistic VF Medium"/>
              </a:defRPr>
            </a:lvl2pPr>
            <a:lvl3pPr>
              <a:defRPr sz="3450" b="0">
                <a:solidFill>
                  <a:srgbClr val="FFFFFF"/>
                </a:solidFill>
                <a:latin typeface="Optimistic VF Medium"/>
                <a:ea typeface="Optimistic VF Medium"/>
                <a:cs typeface="Optimistic VF Medium"/>
              </a:defRPr>
            </a:lvl3pPr>
            <a:lvl4pPr>
              <a:defRPr sz="3450" b="0">
                <a:solidFill>
                  <a:srgbClr val="FFFFFF"/>
                </a:solidFill>
                <a:latin typeface="Optimistic VF Medium"/>
                <a:ea typeface="Optimistic VF Medium"/>
                <a:cs typeface="Optimistic VF Medium"/>
              </a:defRPr>
            </a:lvl4pPr>
            <a:lvl5pPr>
              <a:defRPr sz="3450" b="0">
                <a:solidFill>
                  <a:srgbClr val="FFFFFF"/>
                </a:solidFill>
                <a:latin typeface="Optimistic VF Medium"/>
                <a:ea typeface="Optimistic VF Medium"/>
                <a:cs typeface="Optimistic VF Medium"/>
              </a:defRPr>
            </a:lvl5pPr>
            <a:lvl6pPr>
              <a:defRPr sz="3450" b="0">
                <a:solidFill>
                  <a:srgbClr val="FFFFFF"/>
                </a:solidFill>
                <a:latin typeface="Optimistic VF Medium"/>
                <a:ea typeface="Optimistic VF Medium"/>
                <a:cs typeface="Optimistic VF Medium"/>
              </a:defRPr>
            </a:lvl6pPr>
            <a:lvl7pPr>
              <a:defRPr sz="3450" b="0">
                <a:solidFill>
                  <a:srgbClr val="FFFFFF"/>
                </a:solidFill>
                <a:latin typeface="Optimistic VF Medium"/>
                <a:ea typeface="Optimistic VF Medium"/>
                <a:cs typeface="Optimistic VF Medium"/>
              </a:defRPr>
            </a:lvl7pPr>
            <a:lvl8pPr>
              <a:defRPr sz="3450" b="0">
                <a:solidFill>
                  <a:srgbClr val="FFFFFF"/>
                </a:solidFill>
                <a:latin typeface="Optimistic VF Medium"/>
                <a:ea typeface="Optimistic VF Medium"/>
                <a:cs typeface="Optimistic VF Medium"/>
              </a:defRPr>
            </a:lvl8pPr>
            <a:lvl9pPr>
              <a:defRPr sz="3450" b="0">
                <a:solidFill>
                  <a:srgbClr val="FFFFFF"/>
                </a:solidFill>
                <a:latin typeface="Optimistic VF Medium"/>
                <a:ea typeface="Optimistic VF Medium"/>
                <a:cs typeface="Optimistic VF Medium"/>
              </a:defRPr>
            </a:lvl9pPr>
          </a:lstStyle>
          <a:p xmlns:a="http://schemas.openxmlformats.org/drawingml/2006/main">
            <a:pPr>
              <a:defRPr sz="3450" b="0">
                <a:solidFill>
                  <a:srgbClr val="FFFFFF"/>
                </a:solidFill>
                <a:latin typeface="Optimistic VF Medium"/>
                <a:ea typeface="Optimistic VF Medium"/>
                <a:cs typeface="Optimistic VF Medium"/>
              </a:defRPr>
            </a:pPr>
            <a:r>
              <a:rPr sz="3450" b="0">
                <a:solidFill>
                  <a:srgbClr val="FFFFFF"/>
                </a:solidFill>
                <a:latin typeface="Optimistic VF Medium"/>
                <a:ea typeface="Optimistic VF Medium"/>
                <a:cs typeface="Optimistic VF Medium"/>
              </a:rPr>
              <a:t>Prototype scope and safeguards</a:t>
            </a:r>
          </a:p>
        </p:txBody>
      </p:sp>
      <p:sp>
        <p:nvSpPr>
          <p:cNvPr id="4" name="">
            <a:extLst xmlns:a="http://schemas.openxmlformats.org/drawingml/2006/main">
              <a:ext uri="{FF2B5EF4-FFF2-40B4-BE49-F238E27FC236}">
                <a16:creationId xmlns:a16="http://schemas.microsoft.com/office/drawing/2014/main" id="{3168A9E5-3DF5-4EB4-8D99-644F3A2D1C0F}"/>
              </a:ext>
            </a:extLst>
          </p:cNvPr>
          <p:cNvSpPr>
            <a:spLocks xmlns:a="http://schemas.openxmlformats.org/drawingml/2006/main" noGrp="1"/>
          </p:cNvSpPr>
          <p:nvPr/>
        </p:nvSpPr>
        <p:spPr>
          <a:xfrm xmlns:a="http://schemas.openxmlformats.org/drawingml/2006/main">
            <a:off x="609600" y="2362200"/>
            <a:ext cx="447675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325" b="0">
                <a:solidFill>
                  <a:srgbClr val="FFFFFF"/>
                </a:solidFill>
                <a:latin typeface="Optimistic VF Medium"/>
                <a:ea typeface="Optimistic VF Medium"/>
                <a:cs typeface="Optimistic VF Medium"/>
              </a:defRPr>
            </a:defPPr>
            <a:lvl1pPr>
              <a:defRPr sz="2325" b="0">
                <a:solidFill>
                  <a:srgbClr val="FFFFFF"/>
                </a:solidFill>
                <a:latin typeface="Optimistic VF Medium"/>
                <a:ea typeface="Optimistic VF Medium"/>
                <a:cs typeface="Optimistic VF Medium"/>
              </a:defRPr>
            </a:lvl1pPr>
            <a:lvl2pPr>
              <a:defRPr sz="2325" b="0">
                <a:solidFill>
                  <a:srgbClr val="FFFFFF"/>
                </a:solidFill>
                <a:latin typeface="Optimistic VF Medium"/>
                <a:ea typeface="Optimistic VF Medium"/>
                <a:cs typeface="Optimistic VF Medium"/>
              </a:defRPr>
            </a:lvl2pPr>
            <a:lvl3pPr>
              <a:defRPr sz="2325" b="0">
                <a:solidFill>
                  <a:srgbClr val="FFFFFF"/>
                </a:solidFill>
                <a:latin typeface="Optimistic VF Medium"/>
                <a:ea typeface="Optimistic VF Medium"/>
                <a:cs typeface="Optimistic VF Medium"/>
              </a:defRPr>
            </a:lvl3pPr>
            <a:lvl4pPr>
              <a:defRPr sz="2325" b="0">
                <a:solidFill>
                  <a:srgbClr val="FFFFFF"/>
                </a:solidFill>
                <a:latin typeface="Optimistic VF Medium"/>
                <a:ea typeface="Optimistic VF Medium"/>
                <a:cs typeface="Optimistic VF Medium"/>
              </a:defRPr>
            </a:lvl4pPr>
            <a:lvl5pPr>
              <a:defRPr sz="2325" b="0">
                <a:solidFill>
                  <a:srgbClr val="FFFFFF"/>
                </a:solidFill>
                <a:latin typeface="Optimistic VF Medium"/>
                <a:ea typeface="Optimistic VF Medium"/>
                <a:cs typeface="Optimistic VF Medium"/>
              </a:defRPr>
            </a:lvl5pPr>
            <a:lvl6pPr>
              <a:defRPr sz="2325" b="0">
                <a:solidFill>
                  <a:srgbClr val="FFFFFF"/>
                </a:solidFill>
                <a:latin typeface="Optimistic VF Medium"/>
                <a:ea typeface="Optimistic VF Medium"/>
                <a:cs typeface="Optimistic VF Medium"/>
              </a:defRPr>
            </a:lvl6pPr>
            <a:lvl7pPr>
              <a:defRPr sz="2325" b="0">
                <a:solidFill>
                  <a:srgbClr val="FFFFFF"/>
                </a:solidFill>
                <a:latin typeface="Optimistic VF Medium"/>
                <a:ea typeface="Optimistic VF Medium"/>
                <a:cs typeface="Optimistic VF Medium"/>
              </a:defRPr>
            </a:lvl7pPr>
            <a:lvl8pPr>
              <a:defRPr sz="2325" b="0">
                <a:solidFill>
                  <a:srgbClr val="FFFFFF"/>
                </a:solidFill>
                <a:latin typeface="Optimistic VF Medium"/>
                <a:ea typeface="Optimistic VF Medium"/>
                <a:cs typeface="Optimistic VF Medium"/>
              </a:defRPr>
            </a:lvl8pPr>
            <a:lvl9pPr>
              <a:defRPr sz="2325" b="0">
                <a:solidFill>
                  <a:srgbClr val="FFFFFF"/>
                </a:solidFill>
                <a:latin typeface="Optimistic VF Medium"/>
                <a:ea typeface="Optimistic VF Medium"/>
                <a:cs typeface="Optimistic VF Medium"/>
              </a:defRPr>
            </a:lvl9pPr>
          </a:lstStyle>
          <a:p xmlns:a="http://schemas.openxmlformats.org/drawingml/2006/main">
            <a:pPr>
              <a:defRPr sz="2325" b="0">
                <a:solidFill>
                  <a:srgbClr val="FFFFFF"/>
                </a:solidFill>
                <a:latin typeface="Optimistic VF Medium"/>
                <a:ea typeface="Optimistic VF Medium"/>
                <a:cs typeface="Optimistic VF Medium"/>
              </a:defRPr>
            </a:pPr>
            <a:r>
              <a:rPr sz="2325" b="0">
                <a:solidFill>
                  <a:srgbClr val="FFFFFF"/>
                </a:solidFill>
                <a:latin typeface="Optimistic VF Medium"/>
                <a:ea typeface="Optimistic VF Medium"/>
                <a:cs typeface="Optimistic VF Medium"/>
              </a:rPr>
              <a:t>Our prototype uses camera-equipped glasses and a phone to simulate Spots. The finished experience is envisioned for Instagram and Meta Ray-Ban Display.</a:t>
            </a:r>
          </a:p>
        </p:txBody>
      </p:sp>
      <p:sp>
        <p:nvSpPr>
          <p:cNvPr id="5" name="">
            <a:extLst xmlns:a="http://schemas.openxmlformats.org/drawingml/2006/main">
              <a:ext uri="{FF2B5EF4-FFF2-40B4-BE49-F238E27FC236}">
                <a16:creationId xmlns:a16="http://schemas.microsoft.com/office/drawing/2014/main" id="{18154E6D-2E2B-44A9-8338-214B8B97DA5E}"/>
              </a:ext>
            </a:extLst>
          </p:cNvPr>
          <p:cNvSpPr>
            <a:spLocks xmlns:a="http://schemas.openxmlformats.org/drawingml/2006/main" noGrp="1"/>
          </p:cNvSpPr>
          <p:nvPr/>
        </p:nvSpPr>
        <p:spPr>
          <a:xfrm xmlns:a="http://schemas.openxmlformats.org/drawingml/2006/main">
            <a:off x="647700" y="5029200"/>
            <a:ext cx="42862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A9BFCD"/>
                </a:solidFill>
                <a:latin typeface="Optimistic VF"/>
                <a:ea typeface="Optimistic VF"/>
                <a:cs typeface="Optimistic VF"/>
              </a:defRPr>
            </a:defPPr>
            <a:lvl1pPr>
              <a:defRPr sz="1875" b="0">
                <a:solidFill>
                  <a:srgbClr val="A9BFCD"/>
                </a:solidFill>
                <a:latin typeface="Optimistic VF"/>
                <a:ea typeface="Optimistic VF"/>
                <a:cs typeface="Optimistic VF"/>
              </a:defRPr>
            </a:lvl1pPr>
            <a:lvl2pPr>
              <a:defRPr sz="1875" b="0">
                <a:solidFill>
                  <a:srgbClr val="A9BFCD"/>
                </a:solidFill>
                <a:latin typeface="Optimistic VF"/>
                <a:ea typeface="Optimistic VF"/>
                <a:cs typeface="Optimistic VF"/>
              </a:defRPr>
            </a:lvl2pPr>
            <a:lvl3pPr>
              <a:defRPr sz="1875" b="0">
                <a:solidFill>
                  <a:srgbClr val="A9BFCD"/>
                </a:solidFill>
                <a:latin typeface="Optimistic VF"/>
                <a:ea typeface="Optimistic VF"/>
                <a:cs typeface="Optimistic VF"/>
              </a:defRPr>
            </a:lvl3pPr>
            <a:lvl4pPr>
              <a:defRPr sz="1875" b="0">
                <a:solidFill>
                  <a:srgbClr val="A9BFCD"/>
                </a:solidFill>
                <a:latin typeface="Optimistic VF"/>
                <a:ea typeface="Optimistic VF"/>
                <a:cs typeface="Optimistic VF"/>
              </a:defRPr>
            </a:lvl4pPr>
            <a:lvl5pPr>
              <a:defRPr sz="1875" b="0">
                <a:solidFill>
                  <a:srgbClr val="A9BFCD"/>
                </a:solidFill>
                <a:latin typeface="Optimistic VF"/>
                <a:ea typeface="Optimistic VF"/>
                <a:cs typeface="Optimistic VF"/>
              </a:defRPr>
            </a:lvl5pPr>
            <a:lvl6pPr>
              <a:defRPr sz="1875" b="0">
                <a:solidFill>
                  <a:srgbClr val="A9BFCD"/>
                </a:solidFill>
                <a:latin typeface="Optimistic VF"/>
                <a:ea typeface="Optimistic VF"/>
                <a:cs typeface="Optimistic VF"/>
              </a:defRPr>
            </a:lvl6pPr>
            <a:lvl7pPr>
              <a:defRPr sz="1875" b="0">
                <a:solidFill>
                  <a:srgbClr val="A9BFCD"/>
                </a:solidFill>
                <a:latin typeface="Optimistic VF"/>
                <a:ea typeface="Optimistic VF"/>
                <a:cs typeface="Optimistic VF"/>
              </a:defRPr>
            </a:lvl7pPr>
            <a:lvl8pPr>
              <a:defRPr sz="1875" b="0">
                <a:solidFill>
                  <a:srgbClr val="A9BFCD"/>
                </a:solidFill>
                <a:latin typeface="Optimistic VF"/>
                <a:ea typeface="Optimistic VF"/>
                <a:cs typeface="Optimistic VF"/>
              </a:defRPr>
            </a:lvl8pPr>
            <a:lvl9pPr>
              <a:defRPr sz="1875" b="0">
                <a:solidFill>
                  <a:srgbClr val="A9BFCD"/>
                </a:solidFill>
                <a:latin typeface="Optimistic VF"/>
                <a:ea typeface="Optimistic VF"/>
                <a:cs typeface="Optimistic VF"/>
              </a:defRPr>
            </a:lvl9pPr>
          </a:lstStyle>
          <a:p xmlns:a="http://schemas.openxmlformats.org/drawingml/2006/main">
            <a:pPr>
              <a:defRPr sz="1875" b="0">
                <a:solidFill>
                  <a:srgbClr val="A9BFCD"/>
                </a:solidFill>
                <a:latin typeface="Optimistic VF"/>
                <a:ea typeface="Optimistic VF"/>
                <a:cs typeface="Optimistic VF"/>
              </a:defRPr>
            </a:pPr>
            <a:r>
              <a:rPr sz="1875" b="0">
                <a:solidFill>
                  <a:srgbClr val="A9BFCD"/>
                </a:solidFill>
                <a:latin typeface="Optimistic VF"/>
                <a:ea typeface="Optimistic VF"/>
                <a:cs typeface="Optimistic VF"/>
              </a:rPr>
              <a:t>In the finished product, the wearer would record and confirm notes through the glasses. The phone currently stands in for those controls.</a:t>
            </a:r>
          </a:p>
        </p:txBody>
      </p:sp>
      <p:sp>
        <p:nvSpPr>
          <p:cNvPr id="6" name="">
            <a:extLst xmlns:a="http://schemas.openxmlformats.org/drawingml/2006/main">
              <a:ext uri="{FF2B5EF4-FFF2-40B4-BE49-F238E27FC236}">
                <a16:creationId xmlns:a16="http://schemas.microsoft.com/office/drawing/2014/main" id="{B2F63379-C120-4A3C-BBAE-31902E58F377}"/>
              </a:ext>
            </a:extLst>
          </p:cNvPr>
          <p:cNvSpPr>
            <a:spLocks xmlns:a="http://schemas.openxmlformats.org/drawingml/2006/main" noGrp="1"/>
          </p:cNvSpPr>
          <p:nvPr/>
        </p:nvSpPr>
        <p:spPr>
          <a:xfrm xmlns:a="http://schemas.openxmlformats.org/drawingml/2006/main">
            <a:off x="5724525" y="1943100"/>
            <a:ext cx="58388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FFFFFF"/>
                </a:solidFill>
                <a:latin typeface="Optimistic VF Medium"/>
                <a:ea typeface="Optimistic VF Medium"/>
                <a:cs typeface="Optimistic VF Medium"/>
              </a:defRPr>
            </a:defPPr>
            <a:lvl1pPr>
              <a:defRPr sz="2025" b="0">
                <a:solidFill>
                  <a:srgbClr val="FFFFFF"/>
                </a:solidFill>
                <a:latin typeface="Optimistic VF Medium"/>
                <a:ea typeface="Optimistic VF Medium"/>
                <a:cs typeface="Optimistic VF Medium"/>
              </a:defRPr>
            </a:lvl1pPr>
            <a:lvl2pPr>
              <a:defRPr sz="2025" b="0">
                <a:solidFill>
                  <a:srgbClr val="FFFFFF"/>
                </a:solidFill>
                <a:latin typeface="Optimistic VF Medium"/>
                <a:ea typeface="Optimistic VF Medium"/>
                <a:cs typeface="Optimistic VF Medium"/>
              </a:defRPr>
            </a:lvl2pPr>
            <a:lvl3pPr>
              <a:defRPr sz="2025" b="0">
                <a:solidFill>
                  <a:srgbClr val="FFFFFF"/>
                </a:solidFill>
                <a:latin typeface="Optimistic VF Medium"/>
                <a:ea typeface="Optimistic VF Medium"/>
                <a:cs typeface="Optimistic VF Medium"/>
              </a:defRPr>
            </a:lvl3pPr>
            <a:lvl4pPr>
              <a:defRPr sz="2025" b="0">
                <a:solidFill>
                  <a:srgbClr val="FFFFFF"/>
                </a:solidFill>
                <a:latin typeface="Optimistic VF Medium"/>
                <a:ea typeface="Optimistic VF Medium"/>
                <a:cs typeface="Optimistic VF Medium"/>
              </a:defRPr>
            </a:lvl4pPr>
            <a:lvl5pPr>
              <a:defRPr sz="2025" b="0">
                <a:solidFill>
                  <a:srgbClr val="FFFFFF"/>
                </a:solidFill>
                <a:latin typeface="Optimistic VF Medium"/>
                <a:ea typeface="Optimistic VF Medium"/>
                <a:cs typeface="Optimistic VF Medium"/>
              </a:defRPr>
            </a:lvl5pPr>
            <a:lvl6pPr>
              <a:defRPr sz="2025" b="0">
                <a:solidFill>
                  <a:srgbClr val="FFFFFF"/>
                </a:solidFill>
                <a:latin typeface="Optimistic VF Medium"/>
                <a:ea typeface="Optimistic VF Medium"/>
                <a:cs typeface="Optimistic VF Medium"/>
              </a:defRPr>
            </a:lvl6pPr>
            <a:lvl7pPr>
              <a:defRPr sz="2025" b="0">
                <a:solidFill>
                  <a:srgbClr val="FFFFFF"/>
                </a:solidFill>
                <a:latin typeface="Optimistic VF Medium"/>
                <a:ea typeface="Optimistic VF Medium"/>
                <a:cs typeface="Optimistic VF Medium"/>
              </a:defRPr>
            </a:lvl7pPr>
            <a:lvl8pPr>
              <a:defRPr sz="2025" b="0">
                <a:solidFill>
                  <a:srgbClr val="FFFFFF"/>
                </a:solidFill>
                <a:latin typeface="Optimistic VF Medium"/>
                <a:ea typeface="Optimistic VF Medium"/>
                <a:cs typeface="Optimistic VF Medium"/>
              </a:defRPr>
            </a:lvl8pPr>
            <a:lvl9pPr>
              <a:defRPr sz="2025" b="0">
                <a:solidFill>
                  <a:srgbClr val="FFFFFF"/>
                </a:solidFill>
                <a:latin typeface="Optimistic VF Medium"/>
                <a:ea typeface="Optimistic VF Medium"/>
                <a:cs typeface="Optimistic VF Medium"/>
              </a:defRPr>
            </a:lvl9pPr>
          </a:lstStyle>
          <a:p xmlns:a="http://schemas.openxmlformats.org/drawingml/2006/main">
            <a:pPr>
              <a:defRPr sz="2025" b="0">
                <a:solidFill>
                  <a:srgbClr val="FFFFFF"/>
                </a:solidFill>
                <a:latin typeface="Optimistic VF Medium"/>
                <a:ea typeface="Optimistic VF Medium"/>
                <a:cs typeface="Optimistic VF Medium"/>
              </a:defRPr>
            </a:pPr>
            <a:r>
              <a:rPr sz="2025" b="0">
                <a:solidFill>
                  <a:srgbClr val="FFFFFF"/>
                </a:solidFill>
                <a:latin typeface="Optimistic VF Medium"/>
                <a:ea typeface="Optimistic VF Medium"/>
                <a:cs typeface="Optimistic VF Medium"/>
              </a:rPr>
              <a:t>How does Instagram fit?</a:t>
            </a:r>
          </a:p>
        </p:txBody>
      </p:sp>
      <p:sp>
        <p:nvSpPr>
          <p:cNvPr id="7" name="">
            <a:extLst xmlns:a="http://schemas.openxmlformats.org/drawingml/2006/main">
              <a:ext uri="{FF2B5EF4-FFF2-40B4-BE49-F238E27FC236}">
                <a16:creationId xmlns:a16="http://schemas.microsoft.com/office/drawing/2014/main" id="{B34D2838-3A8D-4A94-89B9-C5C328DF5017}"/>
              </a:ext>
            </a:extLst>
          </p:cNvPr>
          <p:cNvSpPr>
            <a:spLocks xmlns:a="http://schemas.openxmlformats.org/drawingml/2006/main" noGrp="1"/>
          </p:cNvSpPr>
          <p:nvPr/>
        </p:nvSpPr>
        <p:spPr>
          <a:xfrm xmlns:a="http://schemas.openxmlformats.org/drawingml/2006/main">
            <a:off x="5724525" y="2400300"/>
            <a:ext cx="58388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A9BFCD"/>
                </a:solidFill>
                <a:latin typeface="Optimistic VF"/>
                <a:ea typeface="Optimistic VF"/>
                <a:cs typeface="Optimistic VF"/>
              </a:defRPr>
            </a:defPPr>
            <a:lvl1pPr>
              <a:defRPr sz="1725" b="0">
                <a:solidFill>
                  <a:srgbClr val="A9BFCD"/>
                </a:solidFill>
                <a:latin typeface="Optimistic VF"/>
                <a:ea typeface="Optimistic VF"/>
                <a:cs typeface="Optimistic VF"/>
              </a:defRPr>
            </a:lvl1pPr>
            <a:lvl2pPr>
              <a:defRPr sz="1725" b="0">
                <a:solidFill>
                  <a:srgbClr val="A9BFCD"/>
                </a:solidFill>
                <a:latin typeface="Optimistic VF"/>
                <a:ea typeface="Optimistic VF"/>
                <a:cs typeface="Optimistic VF"/>
              </a:defRPr>
            </a:lvl2pPr>
            <a:lvl3pPr>
              <a:defRPr sz="1725" b="0">
                <a:solidFill>
                  <a:srgbClr val="A9BFCD"/>
                </a:solidFill>
                <a:latin typeface="Optimistic VF"/>
                <a:ea typeface="Optimistic VF"/>
                <a:cs typeface="Optimistic VF"/>
              </a:defRPr>
            </a:lvl3pPr>
            <a:lvl4pPr>
              <a:defRPr sz="1725" b="0">
                <a:solidFill>
                  <a:srgbClr val="A9BFCD"/>
                </a:solidFill>
                <a:latin typeface="Optimistic VF"/>
                <a:ea typeface="Optimistic VF"/>
                <a:cs typeface="Optimistic VF"/>
              </a:defRPr>
            </a:lvl4pPr>
            <a:lvl5pPr>
              <a:defRPr sz="1725" b="0">
                <a:solidFill>
                  <a:srgbClr val="A9BFCD"/>
                </a:solidFill>
                <a:latin typeface="Optimistic VF"/>
                <a:ea typeface="Optimistic VF"/>
                <a:cs typeface="Optimistic VF"/>
              </a:defRPr>
            </a:lvl5pPr>
            <a:lvl6pPr>
              <a:defRPr sz="1725" b="0">
                <a:solidFill>
                  <a:srgbClr val="A9BFCD"/>
                </a:solidFill>
                <a:latin typeface="Optimistic VF"/>
                <a:ea typeface="Optimistic VF"/>
                <a:cs typeface="Optimistic VF"/>
              </a:defRPr>
            </a:lvl6pPr>
            <a:lvl7pPr>
              <a:defRPr sz="1725" b="0">
                <a:solidFill>
                  <a:srgbClr val="A9BFCD"/>
                </a:solidFill>
                <a:latin typeface="Optimistic VF"/>
                <a:ea typeface="Optimistic VF"/>
                <a:cs typeface="Optimistic VF"/>
              </a:defRPr>
            </a:lvl7pPr>
            <a:lvl8pPr>
              <a:defRPr sz="1725" b="0">
                <a:solidFill>
                  <a:srgbClr val="A9BFCD"/>
                </a:solidFill>
                <a:latin typeface="Optimistic VF"/>
                <a:ea typeface="Optimistic VF"/>
                <a:cs typeface="Optimistic VF"/>
              </a:defRPr>
            </a:lvl8pPr>
            <a:lvl9pPr>
              <a:defRPr sz="1725" b="0">
                <a:solidFill>
                  <a:srgbClr val="A9BFCD"/>
                </a:solidFill>
                <a:latin typeface="Optimistic VF"/>
                <a:ea typeface="Optimistic VF"/>
                <a:cs typeface="Optimistic VF"/>
              </a:defRPr>
            </a:lvl9pPr>
          </a:lstStyle>
          <a:p xmlns:a="http://schemas.openxmlformats.org/drawingml/2006/main">
            <a:pPr>
              <a:defRPr sz="1725" b="0">
                <a:solidFill>
                  <a:srgbClr val="A9BFCD"/>
                </a:solidFill>
                <a:latin typeface="Optimistic VF"/>
                <a:ea typeface="Optimistic VF"/>
                <a:cs typeface="Optimistic VF"/>
              </a:defRPr>
            </a:pPr>
            <a:r>
              <a:rPr sz="1725" b="0">
                <a:solidFill>
                  <a:srgbClr val="A9BFCD"/>
                </a:solidFill>
                <a:latin typeface="Optimistic VF"/>
                <a:ea typeface="Optimistic VF"/>
                <a:cs typeface="Optimistic VF"/>
              </a:rPr>
              <a:t>Our mock feed lets people discover invitations. It has no access to real Instagram accounts or DMs.</a:t>
            </a:r>
          </a:p>
        </p:txBody>
      </p:sp>
      <p:sp>
        <p:nvSpPr>
          <p:cNvPr id="8" name="">
            <a:extLst xmlns:a="http://schemas.openxmlformats.org/drawingml/2006/main">
              <a:ext uri="{FF2B5EF4-FFF2-40B4-BE49-F238E27FC236}">
                <a16:creationId xmlns:a16="http://schemas.microsoft.com/office/drawing/2014/main" id="{478F5BA5-F51B-4AF1-B43C-B6698DC0C230}"/>
              </a:ext>
            </a:extLst>
          </p:cNvPr>
          <p:cNvSpPr>
            <a:spLocks xmlns:a="http://schemas.openxmlformats.org/drawingml/2006/main" noGrp="1"/>
          </p:cNvSpPr>
          <p:nvPr/>
        </p:nvSpPr>
        <p:spPr>
          <a:xfrm xmlns:a="http://schemas.openxmlformats.org/drawingml/2006/main">
            <a:off x="5724525" y="3086100"/>
            <a:ext cx="5838825" cy="9525"/>
          </a:xfrm>
          <a:prstGeom xmlns:a="http://schemas.openxmlformats.org/drawingml/2006/main" prst="rect">
            <a:avLst/>
          </a:prstGeom>
          <a:solidFill xmlns:a="http://schemas.openxmlformats.org/drawingml/2006/main">
            <a:srgbClr val="3C5665"/>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0EEF6342-FB78-4A9F-B66C-AE42DEDE9262}"/>
              </a:ext>
            </a:extLst>
          </p:cNvPr>
          <p:cNvSpPr>
            <a:spLocks xmlns:a="http://schemas.openxmlformats.org/drawingml/2006/main" noGrp="1"/>
          </p:cNvSpPr>
          <p:nvPr/>
        </p:nvSpPr>
        <p:spPr>
          <a:xfrm xmlns:a="http://schemas.openxmlformats.org/drawingml/2006/main">
            <a:off x="5724525" y="3143250"/>
            <a:ext cx="58388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FFFFFF"/>
                </a:solidFill>
                <a:latin typeface="Optimistic VF Medium"/>
                <a:ea typeface="Optimistic VF Medium"/>
                <a:cs typeface="Optimistic VF Medium"/>
              </a:defRPr>
            </a:defPPr>
            <a:lvl1pPr>
              <a:defRPr sz="2025" b="0">
                <a:solidFill>
                  <a:srgbClr val="FFFFFF"/>
                </a:solidFill>
                <a:latin typeface="Optimistic VF Medium"/>
                <a:ea typeface="Optimistic VF Medium"/>
                <a:cs typeface="Optimistic VF Medium"/>
              </a:defRPr>
            </a:lvl1pPr>
            <a:lvl2pPr>
              <a:defRPr sz="2025" b="0">
                <a:solidFill>
                  <a:srgbClr val="FFFFFF"/>
                </a:solidFill>
                <a:latin typeface="Optimistic VF Medium"/>
                <a:ea typeface="Optimistic VF Medium"/>
                <a:cs typeface="Optimistic VF Medium"/>
              </a:defRPr>
            </a:lvl2pPr>
            <a:lvl3pPr>
              <a:defRPr sz="2025" b="0">
                <a:solidFill>
                  <a:srgbClr val="FFFFFF"/>
                </a:solidFill>
                <a:latin typeface="Optimistic VF Medium"/>
                <a:ea typeface="Optimistic VF Medium"/>
                <a:cs typeface="Optimistic VF Medium"/>
              </a:defRPr>
            </a:lvl3pPr>
            <a:lvl4pPr>
              <a:defRPr sz="2025" b="0">
                <a:solidFill>
                  <a:srgbClr val="FFFFFF"/>
                </a:solidFill>
                <a:latin typeface="Optimistic VF Medium"/>
                <a:ea typeface="Optimistic VF Medium"/>
                <a:cs typeface="Optimistic VF Medium"/>
              </a:defRPr>
            </a:lvl4pPr>
            <a:lvl5pPr>
              <a:defRPr sz="2025" b="0">
                <a:solidFill>
                  <a:srgbClr val="FFFFFF"/>
                </a:solidFill>
                <a:latin typeface="Optimistic VF Medium"/>
                <a:ea typeface="Optimistic VF Medium"/>
                <a:cs typeface="Optimistic VF Medium"/>
              </a:defRPr>
            </a:lvl5pPr>
            <a:lvl6pPr>
              <a:defRPr sz="2025" b="0">
                <a:solidFill>
                  <a:srgbClr val="FFFFFF"/>
                </a:solidFill>
                <a:latin typeface="Optimistic VF Medium"/>
                <a:ea typeface="Optimistic VF Medium"/>
                <a:cs typeface="Optimistic VF Medium"/>
              </a:defRPr>
            </a:lvl6pPr>
            <a:lvl7pPr>
              <a:defRPr sz="2025" b="0">
                <a:solidFill>
                  <a:srgbClr val="FFFFFF"/>
                </a:solidFill>
                <a:latin typeface="Optimistic VF Medium"/>
                <a:ea typeface="Optimistic VF Medium"/>
                <a:cs typeface="Optimistic VF Medium"/>
              </a:defRPr>
            </a:lvl7pPr>
            <a:lvl8pPr>
              <a:defRPr sz="2025" b="0">
                <a:solidFill>
                  <a:srgbClr val="FFFFFF"/>
                </a:solidFill>
                <a:latin typeface="Optimistic VF Medium"/>
                <a:ea typeface="Optimistic VF Medium"/>
                <a:cs typeface="Optimistic VF Medium"/>
              </a:defRPr>
            </a:lvl8pPr>
            <a:lvl9pPr>
              <a:defRPr sz="2025" b="0">
                <a:solidFill>
                  <a:srgbClr val="FFFFFF"/>
                </a:solidFill>
                <a:latin typeface="Optimistic VF Medium"/>
                <a:ea typeface="Optimistic VF Medium"/>
                <a:cs typeface="Optimistic VF Medium"/>
              </a:defRPr>
            </a:lvl9pPr>
          </a:lstStyle>
          <a:p xmlns:a="http://schemas.openxmlformats.org/drawingml/2006/main">
            <a:pPr>
              <a:defRPr sz="2025" b="0">
                <a:solidFill>
                  <a:srgbClr val="FFFFFF"/>
                </a:solidFill>
                <a:latin typeface="Optimistic VF Medium"/>
                <a:ea typeface="Optimistic VF Medium"/>
                <a:cs typeface="Optimistic VF Medium"/>
              </a:defRPr>
            </a:pPr>
            <a:r>
              <a:rPr sz="2025" b="0">
                <a:solidFill>
                  <a:srgbClr val="FFFFFF"/>
                </a:solidFill>
                <a:latin typeface="Optimistic VF Medium"/>
                <a:ea typeface="Optimistic VF Medium"/>
                <a:cs typeface="Optimistic VF Medium"/>
              </a:rPr>
              <a:t>What does the matcher know?</a:t>
            </a:r>
          </a:p>
        </p:txBody>
      </p:sp>
      <p:sp>
        <p:nvSpPr>
          <p:cNvPr id="10" name="">
            <a:extLst xmlns:a="http://schemas.openxmlformats.org/drawingml/2006/main">
              <a:ext uri="{FF2B5EF4-FFF2-40B4-BE49-F238E27FC236}">
                <a16:creationId xmlns:a16="http://schemas.microsoft.com/office/drawing/2014/main" id="{E087FF76-C86C-426A-9C5A-F0AACE428F25}"/>
              </a:ext>
            </a:extLst>
          </p:cNvPr>
          <p:cNvSpPr>
            <a:spLocks xmlns:a="http://schemas.openxmlformats.org/drawingml/2006/main" noGrp="1"/>
          </p:cNvSpPr>
          <p:nvPr/>
        </p:nvSpPr>
        <p:spPr>
          <a:xfrm xmlns:a="http://schemas.openxmlformats.org/drawingml/2006/main">
            <a:off x="5724525" y="3600450"/>
            <a:ext cx="58388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A9BFCD"/>
                </a:solidFill>
                <a:latin typeface="Optimistic VF"/>
                <a:ea typeface="Optimistic VF"/>
                <a:cs typeface="Optimistic VF"/>
              </a:defRPr>
            </a:defPPr>
            <a:lvl1pPr>
              <a:defRPr sz="1725" b="0">
                <a:solidFill>
                  <a:srgbClr val="A9BFCD"/>
                </a:solidFill>
                <a:latin typeface="Optimistic VF"/>
                <a:ea typeface="Optimistic VF"/>
                <a:cs typeface="Optimistic VF"/>
              </a:defRPr>
            </a:lvl1pPr>
            <a:lvl2pPr>
              <a:defRPr sz="1725" b="0">
                <a:solidFill>
                  <a:srgbClr val="A9BFCD"/>
                </a:solidFill>
                <a:latin typeface="Optimistic VF"/>
                <a:ea typeface="Optimistic VF"/>
                <a:cs typeface="Optimistic VF"/>
              </a:defRPr>
            </a:lvl2pPr>
            <a:lvl3pPr>
              <a:defRPr sz="1725" b="0">
                <a:solidFill>
                  <a:srgbClr val="A9BFCD"/>
                </a:solidFill>
                <a:latin typeface="Optimistic VF"/>
                <a:ea typeface="Optimistic VF"/>
                <a:cs typeface="Optimistic VF"/>
              </a:defRPr>
            </a:lvl3pPr>
            <a:lvl4pPr>
              <a:defRPr sz="1725" b="0">
                <a:solidFill>
                  <a:srgbClr val="A9BFCD"/>
                </a:solidFill>
                <a:latin typeface="Optimistic VF"/>
                <a:ea typeface="Optimistic VF"/>
                <a:cs typeface="Optimistic VF"/>
              </a:defRPr>
            </a:lvl4pPr>
            <a:lvl5pPr>
              <a:defRPr sz="1725" b="0">
                <a:solidFill>
                  <a:srgbClr val="A9BFCD"/>
                </a:solidFill>
                <a:latin typeface="Optimistic VF"/>
                <a:ea typeface="Optimistic VF"/>
                <a:cs typeface="Optimistic VF"/>
              </a:defRPr>
            </a:lvl5pPr>
            <a:lvl6pPr>
              <a:defRPr sz="1725" b="0">
                <a:solidFill>
                  <a:srgbClr val="A9BFCD"/>
                </a:solidFill>
                <a:latin typeface="Optimistic VF"/>
                <a:ea typeface="Optimistic VF"/>
                <a:cs typeface="Optimistic VF"/>
              </a:defRPr>
            </a:lvl6pPr>
            <a:lvl7pPr>
              <a:defRPr sz="1725" b="0">
                <a:solidFill>
                  <a:srgbClr val="A9BFCD"/>
                </a:solidFill>
                <a:latin typeface="Optimistic VF"/>
                <a:ea typeface="Optimistic VF"/>
                <a:cs typeface="Optimistic VF"/>
              </a:defRPr>
            </a:lvl7pPr>
            <a:lvl8pPr>
              <a:defRPr sz="1725" b="0">
                <a:solidFill>
                  <a:srgbClr val="A9BFCD"/>
                </a:solidFill>
                <a:latin typeface="Optimistic VF"/>
                <a:ea typeface="Optimistic VF"/>
                <a:cs typeface="Optimistic VF"/>
              </a:defRPr>
            </a:lvl8pPr>
            <a:lvl9pPr>
              <a:defRPr sz="1725" b="0">
                <a:solidFill>
                  <a:srgbClr val="A9BFCD"/>
                </a:solidFill>
                <a:latin typeface="Optimistic VF"/>
                <a:ea typeface="Optimistic VF"/>
                <a:cs typeface="Optimistic VF"/>
              </a:defRPr>
            </a:lvl9pPr>
          </a:lstStyle>
          <a:p xmlns:a="http://schemas.openxmlformats.org/drawingml/2006/main">
            <a:pPr>
              <a:defRPr sz="1725" b="0">
                <a:solidFill>
                  <a:srgbClr val="A9BFCD"/>
                </a:solidFill>
                <a:latin typeface="Optimistic VF"/>
                <a:ea typeface="Optimistic VF"/>
                <a:cs typeface="Optimistic VF"/>
              </a:defRPr>
            </a:pPr>
            <a:r>
              <a:rPr sz="1725" b="0">
                <a:solidFill>
                  <a:srgbClr val="A9BFCD"/>
                </a:solidFill>
                <a:latin typeface="Optimistic VF"/>
                <a:ea typeface="Optimistic VF"/>
                <a:cs typeface="Optimistic VF"/>
              </a:rPr>
              <a:t>The demo matches registered objects to reference photos. Shared 3D place mapping is not implemented.</a:t>
            </a:r>
          </a:p>
        </p:txBody>
      </p:sp>
      <p:sp>
        <p:nvSpPr>
          <p:cNvPr id="11" name="">
            <a:extLst xmlns:a="http://schemas.openxmlformats.org/drawingml/2006/main">
              <a:ext uri="{FF2B5EF4-FFF2-40B4-BE49-F238E27FC236}">
                <a16:creationId xmlns:a16="http://schemas.microsoft.com/office/drawing/2014/main" id="{09B8F034-3C1E-4EF8-9E68-430AEE1E0E96}"/>
              </a:ext>
            </a:extLst>
          </p:cNvPr>
          <p:cNvSpPr>
            <a:spLocks xmlns:a="http://schemas.openxmlformats.org/drawingml/2006/main" noGrp="1"/>
          </p:cNvSpPr>
          <p:nvPr/>
        </p:nvSpPr>
        <p:spPr>
          <a:xfrm xmlns:a="http://schemas.openxmlformats.org/drawingml/2006/main">
            <a:off x="5724525" y="4286250"/>
            <a:ext cx="5838825" cy="9525"/>
          </a:xfrm>
          <a:prstGeom xmlns:a="http://schemas.openxmlformats.org/drawingml/2006/main" prst="rect">
            <a:avLst/>
          </a:prstGeom>
          <a:solidFill xmlns:a="http://schemas.openxmlformats.org/drawingml/2006/main">
            <a:srgbClr val="3C5665"/>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DFC6879C-51B2-4A7A-B446-0C7B60CDEDFB}"/>
              </a:ext>
            </a:extLst>
          </p:cNvPr>
          <p:cNvSpPr>
            <a:spLocks xmlns:a="http://schemas.openxmlformats.org/drawingml/2006/main" noGrp="1"/>
          </p:cNvSpPr>
          <p:nvPr/>
        </p:nvSpPr>
        <p:spPr>
          <a:xfrm xmlns:a="http://schemas.openxmlformats.org/drawingml/2006/main">
            <a:off x="5724525" y="4343400"/>
            <a:ext cx="58388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FFFFFF"/>
                </a:solidFill>
                <a:latin typeface="Optimistic VF Medium"/>
                <a:ea typeface="Optimistic VF Medium"/>
                <a:cs typeface="Optimistic VF Medium"/>
              </a:defRPr>
            </a:defPPr>
            <a:lvl1pPr>
              <a:defRPr sz="2025" b="0">
                <a:solidFill>
                  <a:srgbClr val="FFFFFF"/>
                </a:solidFill>
                <a:latin typeface="Optimistic VF Medium"/>
                <a:ea typeface="Optimistic VF Medium"/>
                <a:cs typeface="Optimistic VF Medium"/>
              </a:defRPr>
            </a:lvl1pPr>
            <a:lvl2pPr>
              <a:defRPr sz="2025" b="0">
                <a:solidFill>
                  <a:srgbClr val="FFFFFF"/>
                </a:solidFill>
                <a:latin typeface="Optimistic VF Medium"/>
                <a:ea typeface="Optimistic VF Medium"/>
                <a:cs typeface="Optimistic VF Medium"/>
              </a:defRPr>
            </a:lvl2pPr>
            <a:lvl3pPr>
              <a:defRPr sz="2025" b="0">
                <a:solidFill>
                  <a:srgbClr val="FFFFFF"/>
                </a:solidFill>
                <a:latin typeface="Optimistic VF Medium"/>
                <a:ea typeface="Optimistic VF Medium"/>
                <a:cs typeface="Optimistic VF Medium"/>
              </a:defRPr>
            </a:lvl3pPr>
            <a:lvl4pPr>
              <a:defRPr sz="2025" b="0">
                <a:solidFill>
                  <a:srgbClr val="FFFFFF"/>
                </a:solidFill>
                <a:latin typeface="Optimistic VF Medium"/>
                <a:ea typeface="Optimistic VF Medium"/>
                <a:cs typeface="Optimistic VF Medium"/>
              </a:defRPr>
            </a:lvl4pPr>
            <a:lvl5pPr>
              <a:defRPr sz="2025" b="0">
                <a:solidFill>
                  <a:srgbClr val="FFFFFF"/>
                </a:solidFill>
                <a:latin typeface="Optimistic VF Medium"/>
                <a:ea typeface="Optimistic VF Medium"/>
                <a:cs typeface="Optimistic VF Medium"/>
              </a:defRPr>
            </a:lvl5pPr>
            <a:lvl6pPr>
              <a:defRPr sz="2025" b="0">
                <a:solidFill>
                  <a:srgbClr val="FFFFFF"/>
                </a:solidFill>
                <a:latin typeface="Optimistic VF Medium"/>
                <a:ea typeface="Optimistic VF Medium"/>
                <a:cs typeface="Optimistic VF Medium"/>
              </a:defRPr>
            </a:lvl6pPr>
            <a:lvl7pPr>
              <a:defRPr sz="2025" b="0">
                <a:solidFill>
                  <a:srgbClr val="FFFFFF"/>
                </a:solidFill>
                <a:latin typeface="Optimistic VF Medium"/>
                <a:ea typeface="Optimistic VF Medium"/>
                <a:cs typeface="Optimistic VF Medium"/>
              </a:defRPr>
            </a:lvl7pPr>
            <a:lvl8pPr>
              <a:defRPr sz="2025" b="0">
                <a:solidFill>
                  <a:srgbClr val="FFFFFF"/>
                </a:solidFill>
                <a:latin typeface="Optimistic VF Medium"/>
                <a:ea typeface="Optimistic VF Medium"/>
                <a:cs typeface="Optimistic VF Medium"/>
              </a:defRPr>
            </a:lvl8pPr>
            <a:lvl9pPr>
              <a:defRPr sz="2025" b="0">
                <a:solidFill>
                  <a:srgbClr val="FFFFFF"/>
                </a:solidFill>
                <a:latin typeface="Optimistic VF Medium"/>
                <a:ea typeface="Optimistic VF Medium"/>
                <a:cs typeface="Optimistic VF Medium"/>
              </a:defRPr>
            </a:lvl9pPr>
          </a:lstStyle>
          <a:p xmlns:a="http://schemas.openxmlformats.org/drawingml/2006/main">
            <a:pPr>
              <a:defRPr sz="2025" b="0">
                <a:solidFill>
                  <a:srgbClr val="FFFFFF"/>
                </a:solidFill>
                <a:latin typeface="Optimistic VF Medium"/>
                <a:ea typeface="Optimistic VF Medium"/>
                <a:cs typeface="Optimistic VF Medium"/>
              </a:defRPr>
            </a:pPr>
            <a:r>
              <a:rPr sz="2025" b="0">
                <a:solidFill>
                  <a:srgbClr val="FFFFFF"/>
                </a:solidFill>
                <a:latin typeface="Optimistic VF Medium"/>
                <a:ea typeface="Optimistic VF Medium"/>
                <a:cs typeface="Optimistic VF Medium"/>
              </a:rPr>
              <a:t>What is AI doing today?</a:t>
            </a:r>
          </a:p>
        </p:txBody>
      </p:sp>
      <p:sp>
        <p:nvSpPr>
          <p:cNvPr id="13" name="">
            <a:extLst xmlns:a="http://schemas.openxmlformats.org/drawingml/2006/main">
              <a:ext uri="{FF2B5EF4-FFF2-40B4-BE49-F238E27FC236}">
                <a16:creationId xmlns:a16="http://schemas.microsoft.com/office/drawing/2014/main" id="{2471FA61-A911-43EB-B489-56531C9EF511}"/>
              </a:ext>
            </a:extLst>
          </p:cNvPr>
          <p:cNvSpPr>
            <a:spLocks xmlns:a="http://schemas.openxmlformats.org/drawingml/2006/main" noGrp="1"/>
          </p:cNvSpPr>
          <p:nvPr/>
        </p:nvSpPr>
        <p:spPr>
          <a:xfrm xmlns:a="http://schemas.openxmlformats.org/drawingml/2006/main">
            <a:off x="5724525" y="4800600"/>
            <a:ext cx="58388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A9BFCD"/>
                </a:solidFill>
                <a:latin typeface="Optimistic VF"/>
                <a:ea typeface="Optimistic VF"/>
                <a:cs typeface="Optimistic VF"/>
              </a:defRPr>
            </a:defPPr>
            <a:lvl1pPr>
              <a:defRPr sz="1725" b="0">
                <a:solidFill>
                  <a:srgbClr val="A9BFCD"/>
                </a:solidFill>
                <a:latin typeface="Optimistic VF"/>
                <a:ea typeface="Optimistic VF"/>
                <a:cs typeface="Optimistic VF"/>
              </a:defRPr>
            </a:lvl1pPr>
            <a:lvl2pPr>
              <a:defRPr sz="1725" b="0">
                <a:solidFill>
                  <a:srgbClr val="A9BFCD"/>
                </a:solidFill>
                <a:latin typeface="Optimistic VF"/>
                <a:ea typeface="Optimistic VF"/>
                <a:cs typeface="Optimistic VF"/>
              </a:defRPr>
            </a:lvl2pPr>
            <a:lvl3pPr>
              <a:defRPr sz="1725" b="0">
                <a:solidFill>
                  <a:srgbClr val="A9BFCD"/>
                </a:solidFill>
                <a:latin typeface="Optimistic VF"/>
                <a:ea typeface="Optimistic VF"/>
                <a:cs typeface="Optimistic VF"/>
              </a:defRPr>
            </a:lvl3pPr>
            <a:lvl4pPr>
              <a:defRPr sz="1725" b="0">
                <a:solidFill>
                  <a:srgbClr val="A9BFCD"/>
                </a:solidFill>
                <a:latin typeface="Optimistic VF"/>
                <a:ea typeface="Optimistic VF"/>
                <a:cs typeface="Optimistic VF"/>
              </a:defRPr>
            </a:lvl4pPr>
            <a:lvl5pPr>
              <a:defRPr sz="1725" b="0">
                <a:solidFill>
                  <a:srgbClr val="A9BFCD"/>
                </a:solidFill>
                <a:latin typeface="Optimistic VF"/>
                <a:ea typeface="Optimistic VF"/>
                <a:cs typeface="Optimistic VF"/>
              </a:defRPr>
            </a:lvl5pPr>
            <a:lvl6pPr>
              <a:defRPr sz="1725" b="0">
                <a:solidFill>
                  <a:srgbClr val="A9BFCD"/>
                </a:solidFill>
                <a:latin typeface="Optimistic VF"/>
                <a:ea typeface="Optimistic VF"/>
                <a:cs typeface="Optimistic VF"/>
              </a:defRPr>
            </a:lvl6pPr>
            <a:lvl7pPr>
              <a:defRPr sz="1725" b="0">
                <a:solidFill>
                  <a:srgbClr val="A9BFCD"/>
                </a:solidFill>
                <a:latin typeface="Optimistic VF"/>
                <a:ea typeface="Optimistic VF"/>
                <a:cs typeface="Optimistic VF"/>
              </a:defRPr>
            </a:lvl7pPr>
            <a:lvl8pPr>
              <a:defRPr sz="1725" b="0">
                <a:solidFill>
                  <a:srgbClr val="A9BFCD"/>
                </a:solidFill>
                <a:latin typeface="Optimistic VF"/>
                <a:ea typeface="Optimistic VF"/>
                <a:cs typeface="Optimistic VF"/>
              </a:defRPr>
            </a:lvl8pPr>
            <a:lvl9pPr>
              <a:defRPr sz="1725" b="0">
                <a:solidFill>
                  <a:srgbClr val="A9BFCD"/>
                </a:solidFill>
                <a:latin typeface="Optimistic VF"/>
                <a:ea typeface="Optimistic VF"/>
                <a:cs typeface="Optimistic VF"/>
              </a:defRPr>
            </a:lvl9pPr>
          </a:lstStyle>
          <a:p xmlns:a="http://schemas.openxmlformats.org/drawingml/2006/main">
            <a:pPr>
              <a:defRPr sz="1725" b="0">
                <a:solidFill>
                  <a:srgbClr val="A9BFCD"/>
                </a:solidFill>
                <a:latin typeface="Optimistic VF"/>
                <a:ea typeface="Optimistic VF"/>
                <a:cs typeface="Optimistic VF"/>
              </a:defRPr>
            </a:pPr>
            <a:r>
              <a:rPr sz="1725" b="0">
                <a:solidFill>
                  <a:srgbClr val="A9BFCD"/>
                </a:solidFill>
                <a:latin typeface="Optimistic VF"/>
                <a:ea typeface="Optimistic VF"/>
                <a:cs typeface="Optimistic VF"/>
              </a:rPr>
              <a:t>AI transcribes voice notes today. AI conversations and interest recommendations are planned.</a:t>
            </a:r>
          </a:p>
        </p:txBody>
      </p:sp>
      <p:sp>
        <p:nvSpPr>
          <p:cNvPr id="14" name="">
            <a:extLst xmlns:a="http://schemas.openxmlformats.org/drawingml/2006/main">
              <a:ext uri="{FF2B5EF4-FFF2-40B4-BE49-F238E27FC236}">
                <a16:creationId xmlns:a16="http://schemas.microsoft.com/office/drawing/2014/main" id="{E5DC5ED8-DFD2-45E9-B36E-22732462C50A}"/>
              </a:ext>
            </a:extLst>
          </p:cNvPr>
          <p:cNvSpPr>
            <a:spLocks xmlns:a="http://schemas.openxmlformats.org/drawingml/2006/main" noGrp="1"/>
          </p:cNvSpPr>
          <p:nvPr/>
        </p:nvSpPr>
        <p:spPr>
          <a:xfrm xmlns:a="http://schemas.openxmlformats.org/drawingml/2006/main">
            <a:off x="5724525" y="5486400"/>
            <a:ext cx="5838825" cy="9525"/>
          </a:xfrm>
          <a:prstGeom xmlns:a="http://schemas.openxmlformats.org/drawingml/2006/main" prst="rect">
            <a:avLst/>
          </a:prstGeom>
          <a:solidFill xmlns:a="http://schemas.openxmlformats.org/drawingml/2006/main">
            <a:srgbClr val="3C5665"/>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77722F93-FE95-4D2F-B9A7-CAB69B215C6A}"/>
              </a:ext>
            </a:extLst>
          </p:cNvPr>
          <p:cNvSpPr>
            <a:spLocks xmlns:a="http://schemas.openxmlformats.org/drawingml/2006/main" noGrp="1"/>
          </p:cNvSpPr>
          <p:nvPr/>
        </p:nvSpPr>
        <p:spPr>
          <a:xfrm xmlns:a="http://schemas.openxmlformats.org/drawingml/2006/main">
            <a:off x="5724525" y="5543550"/>
            <a:ext cx="58388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FFFFFF"/>
                </a:solidFill>
                <a:latin typeface="Optimistic VF Medium"/>
                <a:ea typeface="Optimistic VF Medium"/>
                <a:cs typeface="Optimistic VF Medium"/>
              </a:defRPr>
            </a:defPPr>
            <a:lvl1pPr>
              <a:defRPr sz="2025" b="0">
                <a:solidFill>
                  <a:srgbClr val="FFFFFF"/>
                </a:solidFill>
                <a:latin typeface="Optimistic VF Medium"/>
                <a:ea typeface="Optimistic VF Medium"/>
                <a:cs typeface="Optimistic VF Medium"/>
              </a:defRPr>
            </a:lvl1pPr>
            <a:lvl2pPr>
              <a:defRPr sz="2025" b="0">
                <a:solidFill>
                  <a:srgbClr val="FFFFFF"/>
                </a:solidFill>
                <a:latin typeface="Optimistic VF Medium"/>
                <a:ea typeface="Optimistic VF Medium"/>
                <a:cs typeface="Optimistic VF Medium"/>
              </a:defRPr>
            </a:lvl2pPr>
            <a:lvl3pPr>
              <a:defRPr sz="2025" b="0">
                <a:solidFill>
                  <a:srgbClr val="FFFFFF"/>
                </a:solidFill>
                <a:latin typeface="Optimistic VF Medium"/>
                <a:ea typeface="Optimistic VF Medium"/>
                <a:cs typeface="Optimistic VF Medium"/>
              </a:defRPr>
            </a:lvl3pPr>
            <a:lvl4pPr>
              <a:defRPr sz="2025" b="0">
                <a:solidFill>
                  <a:srgbClr val="FFFFFF"/>
                </a:solidFill>
                <a:latin typeface="Optimistic VF Medium"/>
                <a:ea typeface="Optimistic VF Medium"/>
                <a:cs typeface="Optimistic VF Medium"/>
              </a:defRPr>
            </a:lvl4pPr>
            <a:lvl5pPr>
              <a:defRPr sz="2025" b="0">
                <a:solidFill>
                  <a:srgbClr val="FFFFFF"/>
                </a:solidFill>
                <a:latin typeface="Optimistic VF Medium"/>
                <a:ea typeface="Optimistic VF Medium"/>
                <a:cs typeface="Optimistic VF Medium"/>
              </a:defRPr>
            </a:lvl5pPr>
            <a:lvl6pPr>
              <a:defRPr sz="2025" b="0">
                <a:solidFill>
                  <a:srgbClr val="FFFFFF"/>
                </a:solidFill>
                <a:latin typeface="Optimistic VF Medium"/>
                <a:ea typeface="Optimistic VF Medium"/>
                <a:cs typeface="Optimistic VF Medium"/>
              </a:defRPr>
            </a:lvl6pPr>
            <a:lvl7pPr>
              <a:defRPr sz="2025" b="0">
                <a:solidFill>
                  <a:srgbClr val="FFFFFF"/>
                </a:solidFill>
                <a:latin typeface="Optimistic VF Medium"/>
                <a:ea typeface="Optimistic VF Medium"/>
                <a:cs typeface="Optimistic VF Medium"/>
              </a:defRPr>
            </a:lvl7pPr>
            <a:lvl8pPr>
              <a:defRPr sz="2025" b="0">
                <a:solidFill>
                  <a:srgbClr val="FFFFFF"/>
                </a:solidFill>
                <a:latin typeface="Optimistic VF Medium"/>
                <a:ea typeface="Optimistic VF Medium"/>
                <a:cs typeface="Optimistic VF Medium"/>
              </a:defRPr>
            </a:lvl8pPr>
            <a:lvl9pPr>
              <a:defRPr sz="2025" b="0">
                <a:solidFill>
                  <a:srgbClr val="FFFFFF"/>
                </a:solidFill>
                <a:latin typeface="Optimistic VF Medium"/>
                <a:ea typeface="Optimistic VF Medium"/>
                <a:cs typeface="Optimistic VF Medium"/>
              </a:defRPr>
            </a:lvl9pPr>
          </a:lstStyle>
          <a:p xmlns:a="http://schemas.openxmlformats.org/drawingml/2006/main">
            <a:pPr>
              <a:defRPr sz="2025" b="0">
                <a:solidFill>
                  <a:srgbClr val="FFFFFF"/>
                </a:solidFill>
                <a:latin typeface="Optimistic VF Medium"/>
                <a:ea typeface="Optimistic VF Medium"/>
                <a:cs typeface="Optimistic VF Medium"/>
              </a:defRPr>
            </a:pPr>
            <a:r>
              <a:rPr sz="2025" b="0">
                <a:solidFill>
                  <a:srgbClr val="FFFFFF"/>
                </a:solidFill>
                <a:latin typeface="Optimistic VF Medium"/>
                <a:ea typeface="Optimistic VF Medium"/>
                <a:cs typeface="Optimistic VF Medium"/>
              </a:rPr>
              <a:t>Can notes target a person?</a:t>
            </a:r>
          </a:p>
        </p:txBody>
      </p:sp>
      <p:sp>
        <p:nvSpPr>
          <p:cNvPr id="16" name="">
            <a:extLst xmlns:a="http://schemas.openxmlformats.org/drawingml/2006/main">
              <a:ext uri="{FF2B5EF4-FFF2-40B4-BE49-F238E27FC236}">
                <a16:creationId xmlns:a16="http://schemas.microsoft.com/office/drawing/2014/main" id="{BB3E1F1C-42B3-4C20-B66C-B0F502B69CF1}"/>
              </a:ext>
            </a:extLst>
          </p:cNvPr>
          <p:cNvSpPr>
            <a:spLocks xmlns:a="http://schemas.openxmlformats.org/drawingml/2006/main" noGrp="1"/>
          </p:cNvSpPr>
          <p:nvPr/>
        </p:nvSpPr>
        <p:spPr>
          <a:xfrm xmlns:a="http://schemas.openxmlformats.org/drawingml/2006/main">
            <a:off x="5724525" y="6000750"/>
            <a:ext cx="58388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A9BFCD"/>
                </a:solidFill>
                <a:latin typeface="Optimistic VF"/>
                <a:ea typeface="Optimistic VF"/>
                <a:cs typeface="Optimistic VF"/>
              </a:defRPr>
            </a:defPPr>
            <a:lvl1pPr>
              <a:defRPr sz="1725" b="0">
                <a:solidFill>
                  <a:srgbClr val="A9BFCD"/>
                </a:solidFill>
                <a:latin typeface="Optimistic VF"/>
                <a:ea typeface="Optimistic VF"/>
                <a:cs typeface="Optimistic VF"/>
              </a:defRPr>
            </a:lvl1pPr>
            <a:lvl2pPr>
              <a:defRPr sz="1725" b="0">
                <a:solidFill>
                  <a:srgbClr val="A9BFCD"/>
                </a:solidFill>
                <a:latin typeface="Optimistic VF"/>
                <a:ea typeface="Optimistic VF"/>
                <a:cs typeface="Optimistic VF"/>
              </a:defRPr>
            </a:lvl2pPr>
            <a:lvl3pPr>
              <a:defRPr sz="1725" b="0">
                <a:solidFill>
                  <a:srgbClr val="A9BFCD"/>
                </a:solidFill>
                <a:latin typeface="Optimistic VF"/>
                <a:ea typeface="Optimistic VF"/>
                <a:cs typeface="Optimistic VF"/>
              </a:defRPr>
            </a:lvl3pPr>
            <a:lvl4pPr>
              <a:defRPr sz="1725" b="0">
                <a:solidFill>
                  <a:srgbClr val="A9BFCD"/>
                </a:solidFill>
                <a:latin typeface="Optimistic VF"/>
                <a:ea typeface="Optimistic VF"/>
                <a:cs typeface="Optimistic VF"/>
              </a:defRPr>
            </a:lvl4pPr>
            <a:lvl5pPr>
              <a:defRPr sz="1725" b="0">
                <a:solidFill>
                  <a:srgbClr val="A9BFCD"/>
                </a:solidFill>
                <a:latin typeface="Optimistic VF"/>
                <a:ea typeface="Optimistic VF"/>
                <a:cs typeface="Optimistic VF"/>
              </a:defRPr>
            </a:lvl5pPr>
            <a:lvl6pPr>
              <a:defRPr sz="1725" b="0">
                <a:solidFill>
                  <a:srgbClr val="A9BFCD"/>
                </a:solidFill>
                <a:latin typeface="Optimistic VF"/>
                <a:ea typeface="Optimistic VF"/>
                <a:cs typeface="Optimistic VF"/>
              </a:defRPr>
            </a:lvl6pPr>
            <a:lvl7pPr>
              <a:defRPr sz="1725" b="0">
                <a:solidFill>
                  <a:srgbClr val="A9BFCD"/>
                </a:solidFill>
                <a:latin typeface="Optimistic VF"/>
                <a:ea typeface="Optimistic VF"/>
                <a:cs typeface="Optimistic VF"/>
              </a:defRPr>
            </a:lvl7pPr>
            <a:lvl8pPr>
              <a:defRPr sz="1725" b="0">
                <a:solidFill>
                  <a:srgbClr val="A9BFCD"/>
                </a:solidFill>
                <a:latin typeface="Optimistic VF"/>
                <a:ea typeface="Optimistic VF"/>
                <a:cs typeface="Optimistic VF"/>
              </a:defRPr>
            </a:lvl8pPr>
            <a:lvl9pPr>
              <a:defRPr sz="1725" b="0">
                <a:solidFill>
                  <a:srgbClr val="A9BFCD"/>
                </a:solidFill>
                <a:latin typeface="Optimistic VF"/>
                <a:ea typeface="Optimistic VF"/>
                <a:cs typeface="Optimistic VF"/>
              </a:defRPr>
            </a:lvl9pPr>
          </a:lstStyle>
          <a:p xmlns:a="http://schemas.openxmlformats.org/drawingml/2006/main">
            <a:pPr>
              <a:defRPr sz="1725" b="0">
                <a:solidFill>
                  <a:srgbClr val="A9BFCD"/>
                </a:solidFill>
                <a:latin typeface="Optimistic VF"/>
                <a:ea typeface="Optimistic VF"/>
                <a:cs typeface="Optimistic VF"/>
              </a:defRPr>
            </a:pPr>
            <a:r>
              <a:rPr sz="1725" b="0">
                <a:solidFill>
                  <a:srgbClr val="A9BFCD"/>
                </a:solidFill>
                <a:latin typeface="Optimistic VF"/>
                <a:ea typeface="Optimistic VF"/>
                <a:cs typeface="Optimistic VF"/>
              </a:rPr>
              <a:t>We plan to allow notes on registered inanimate objects only. People and faces would not be note targets.</a:t>
            </a:r>
          </a:p>
        </p:txBody>
      </p:sp>
    </p:spTree>
    <p:extLst>
      <p:ext uri="{BB962C8B-B14F-4D97-AF65-F5344CB8AC3E}">
        <p14:creationId xmlns:p14="http://schemas.microsoft.com/office/powerpoint/2010/main" val="93587454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Optimistic VF"/>
        <a:ea typeface=""/>
        <a:cs typeface=""/>
      </a:majorFont>
      <a:minorFont>
        <a:latin typeface="Optimistic VF"/>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2026-10-25T08:02:04.1540000Z</dcterms:created>
  <dcterms:modified xsi:type="dcterms:W3CDTF">2026-10-25T08:02:04.1540000Z</dcterms:modified>
</coreProperties>
</file>